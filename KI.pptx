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524" autoAdjust="0"/>
  </p:normalViewPr>
  <p:slideViewPr>
    <p:cSldViewPr snapToGrid="0">
      <p:cViewPr>
        <p:scale>
          <a:sx n="100" d="100"/>
          <a:sy n="100" d="100"/>
        </p:scale>
        <p:origin x="954"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649499-B5A5-43F8-BAC7-0B4BB199B76F}" type="doc">
      <dgm:prSet loTypeId="urn:microsoft.com/office/officeart/2005/8/layout/matrix2" loCatId="matrix" qsTypeId="urn:microsoft.com/office/officeart/2005/8/quickstyle/simple1" qsCatId="simple" csTypeId="urn:microsoft.com/office/officeart/2005/8/colors/colorful1" csCatId="colorful"/>
      <dgm:spPr/>
      <dgm:t>
        <a:bodyPr/>
        <a:lstStyle/>
        <a:p>
          <a:endParaRPr lang="en-US"/>
        </a:p>
      </dgm:t>
    </dgm:pt>
    <dgm:pt modelId="{0D68753C-6F93-4454-A9CF-540143EE749C}">
      <dgm:prSet/>
      <dgm:spPr/>
      <dgm:t>
        <a:bodyPr/>
        <a:lstStyle/>
        <a:p>
          <a:r>
            <a:rPr lang="de-DE"/>
            <a:t>KI ist teilweise „unberechenbar“ bzw. hat hohe Dynamik</a:t>
          </a:r>
          <a:endParaRPr lang="en-US"/>
        </a:p>
      </dgm:t>
    </dgm:pt>
    <dgm:pt modelId="{7170CA50-C8FA-4F98-A972-D14CB56288B0}" type="parTrans" cxnId="{A4D4EB86-DB27-46EE-956D-653566E47530}">
      <dgm:prSet/>
      <dgm:spPr/>
      <dgm:t>
        <a:bodyPr/>
        <a:lstStyle/>
        <a:p>
          <a:endParaRPr lang="en-US"/>
        </a:p>
      </dgm:t>
    </dgm:pt>
    <dgm:pt modelId="{DAEF1331-E0D3-42F2-B0D7-7C621601CA0F}" type="sibTrans" cxnId="{A4D4EB86-DB27-46EE-956D-653566E47530}">
      <dgm:prSet/>
      <dgm:spPr/>
      <dgm:t>
        <a:bodyPr/>
        <a:lstStyle/>
        <a:p>
          <a:endParaRPr lang="en-US"/>
        </a:p>
      </dgm:t>
    </dgm:pt>
    <dgm:pt modelId="{68064AE2-DDAD-417C-8389-080B75BB37FE}">
      <dgm:prSet/>
      <dgm:spPr/>
      <dgm:t>
        <a:bodyPr/>
        <a:lstStyle/>
        <a:p>
          <a:r>
            <a:rPr lang="de-DE"/>
            <a:t>Komplexität (Black-Box Problem)</a:t>
          </a:r>
          <a:endParaRPr lang="en-US"/>
        </a:p>
      </dgm:t>
    </dgm:pt>
    <dgm:pt modelId="{E4A46AA6-F7B3-469B-8310-C3318BFCCFAD}" type="parTrans" cxnId="{47BE944A-3985-4F49-A5AD-E10A582E665B}">
      <dgm:prSet/>
      <dgm:spPr/>
      <dgm:t>
        <a:bodyPr/>
        <a:lstStyle/>
        <a:p>
          <a:endParaRPr lang="en-US"/>
        </a:p>
      </dgm:t>
    </dgm:pt>
    <dgm:pt modelId="{47294AC1-B853-4F19-A0E4-DBAAA7398AED}" type="sibTrans" cxnId="{47BE944A-3985-4F49-A5AD-E10A582E665B}">
      <dgm:prSet/>
      <dgm:spPr/>
      <dgm:t>
        <a:bodyPr/>
        <a:lstStyle/>
        <a:p>
          <a:endParaRPr lang="en-US"/>
        </a:p>
      </dgm:t>
    </dgm:pt>
    <dgm:pt modelId="{E384336A-1F23-492B-9E28-4E3BC4C74531}">
      <dgm:prSet/>
      <dgm:spPr/>
      <dgm:t>
        <a:bodyPr/>
        <a:lstStyle/>
        <a:p>
          <a:r>
            <a:rPr lang="de-DE"/>
            <a:t>anwendungsbezogene Anforderungen</a:t>
          </a:r>
          <a:endParaRPr lang="en-US"/>
        </a:p>
      </dgm:t>
    </dgm:pt>
    <dgm:pt modelId="{D2F9E754-0889-4BD1-9C24-12215B6BB9D7}" type="parTrans" cxnId="{A51E525F-284C-4227-BEDE-243A18B89D83}">
      <dgm:prSet/>
      <dgm:spPr/>
      <dgm:t>
        <a:bodyPr/>
        <a:lstStyle/>
        <a:p>
          <a:endParaRPr lang="en-US"/>
        </a:p>
      </dgm:t>
    </dgm:pt>
    <dgm:pt modelId="{3C25FB90-9441-4194-917D-9AB17074988C}" type="sibTrans" cxnId="{A51E525F-284C-4227-BEDE-243A18B89D83}">
      <dgm:prSet/>
      <dgm:spPr/>
      <dgm:t>
        <a:bodyPr/>
        <a:lstStyle/>
        <a:p>
          <a:endParaRPr lang="en-US"/>
        </a:p>
      </dgm:t>
    </dgm:pt>
    <dgm:pt modelId="{98F42CA6-0A2D-4EC5-89F7-34D062291F31}">
      <dgm:prSet/>
      <dgm:spPr/>
      <dgm:t>
        <a:bodyPr/>
        <a:lstStyle/>
        <a:p>
          <a:r>
            <a:rPr lang="de-DE"/>
            <a:t>Herkömmliche Zertifizierungsweisen nicht mehr ausreichend</a:t>
          </a:r>
          <a:endParaRPr lang="en-US"/>
        </a:p>
      </dgm:t>
    </dgm:pt>
    <dgm:pt modelId="{D371D928-5412-4539-AA53-D0B684B31E09}" type="parTrans" cxnId="{62EB2F51-39A8-4746-B048-9515A49ABFF8}">
      <dgm:prSet/>
      <dgm:spPr/>
      <dgm:t>
        <a:bodyPr/>
        <a:lstStyle/>
        <a:p>
          <a:endParaRPr lang="en-US"/>
        </a:p>
      </dgm:t>
    </dgm:pt>
    <dgm:pt modelId="{69E7B019-284D-4AEB-87B1-CF3CEC921F4E}" type="sibTrans" cxnId="{62EB2F51-39A8-4746-B048-9515A49ABFF8}">
      <dgm:prSet/>
      <dgm:spPr/>
      <dgm:t>
        <a:bodyPr/>
        <a:lstStyle/>
        <a:p>
          <a:endParaRPr lang="en-US"/>
        </a:p>
      </dgm:t>
    </dgm:pt>
    <dgm:pt modelId="{689E642D-576F-4D9C-B488-C39ABFEC6FBA}" type="pres">
      <dgm:prSet presAssocID="{B7649499-B5A5-43F8-BAC7-0B4BB199B76F}" presName="matrix" presStyleCnt="0">
        <dgm:presLayoutVars>
          <dgm:chMax val="1"/>
          <dgm:dir/>
          <dgm:resizeHandles val="exact"/>
        </dgm:presLayoutVars>
      </dgm:prSet>
      <dgm:spPr/>
    </dgm:pt>
    <dgm:pt modelId="{C6335FD6-06D3-45B4-9A78-9626CD87F0AD}" type="pres">
      <dgm:prSet presAssocID="{B7649499-B5A5-43F8-BAC7-0B4BB199B76F}" presName="axisShape" presStyleLbl="bgShp" presStyleIdx="0" presStyleCnt="1"/>
      <dgm:spPr/>
    </dgm:pt>
    <dgm:pt modelId="{31981C5F-1823-4C2E-AF3D-1FCC25E12B9B}" type="pres">
      <dgm:prSet presAssocID="{B7649499-B5A5-43F8-BAC7-0B4BB199B76F}" presName="rect1" presStyleLbl="node1" presStyleIdx="0" presStyleCnt="4">
        <dgm:presLayoutVars>
          <dgm:chMax val="0"/>
          <dgm:chPref val="0"/>
          <dgm:bulletEnabled val="1"/>
        </dgm:presLayoutVars>
      </dgm:prSet>
      <dgm:spPr/>
    </dgm:pt>
    <dgm:pt modelId="{B304BB44-41D5-4E4E-86C4-15DD8B26B3F4}" type="pres">
      <dgm:prSet presAssocID="{B7649499-B5A5-43F8-BAC7-0B4BB199B76F}" presName="rect2" presStyleLbl="node1" presStyleIdx="1" presStyleCnt="4">
        <dgm:presLayoutVars>
          <dgm:chMax val="0"/>
          <dgm:chPref val="0"/>
          <dgm:bulletEnabled val="1"/>
        </dgm:presLayoutVars>
      </dgm:prSet>
      <dgm:spPr/>
    </dgm:pt>
    <dgm:pt modelId="{1555FC37-3916-4F23-9751-09D0D819E256}" type="pres">
      <dgm:prSet presAssocID="{B7649499-B5A5-43F8-BAC7-0B4BB199B76F}" presName="rect3" presStyleLbl="node1" presStyleIdx="2" presStyleCnt="4">
        <dgm:presLayoutVars>
          <dgm:chMax val="0"/>
          <dgm:chPref val="0"/>
          <dgm:bulletEnabled val="1"/>
        </dgm:presLayoutVars>
      </dgm:prSet>
      <dgm:spPr/>
    </dgm:pt>
    <dgm:pt modelId="{15AAAE9F-CE66-4A41-B1B1-F2502ADB4CA9}" type="pres">
      <dgm:prSet presAssocID="{B7649499-B5A5-43F8-BAC7-0B4BB199B76F}" presName="rect4" presStyleLbl="node1" presStyleIdx="3" presStyleCnt="4">
        <dgm:presLayoutVars>
          <dgm:chMax val="0"/>
          <dgm:chPref val="0"/>
          <dgm:bulletEnabled val="1"/>
        </dgm:presLayoutVars>
      </dgm:prSet>
      <dgm:spPr/>
    </dgm:pt>
  </dgm:ptLst>
  <dgm:cxnLst>
    <dgm:cxn modelId="{298A060C-02EC-44A5-A4E5-EBE9CF4CF4A2}" type="presOf" srcId="{E384336A-1F23-492B-9E28-4E3BC4C74531}" destId="{1555FC37-3916-4F23-9751-09D0D819E256}" srcOrd="0" destOrd="0" presId="urn:microsoft.com/office/officeart/2005/8/layout/matrix2"/>
    <dgm:cxn modelId="{7CC6093A-BE4B-4D42-B856-7C9A2A1179F0}" type="presOf" srcId="{68064AE2-DDAD-417C-8389-080B75BB37FE}" destId="{B304BB44-41D5-4E4E-86C4-15DD8B26B3F4}" srcOrd="0" destOrd="0" presId="urn:microsoft.com/office/officeart/2005/8/layout/matrix2"/>
    <dgm:cxn modelId="{A51E525F-284C-4227-BEDE-243A18B89D83}" srcId="{B7649499-B5A5-43F8-BAC7-0B4BB199B76F}" destId="{E384336A-1F23-492B-9E28-4E3BC4C74531}" srcOrd="2" destOrd="0" parTransId="{D2F9E754-0889-4BD1-9C24-12215B6BB9D7}" sibTransId="{3C25FB90-9441-4194-917D-9AB17074988C}"/>
    <dgm:cxn modelId="{47BE944A-3985-4F49-A5AD-E10A582E665B}" srcId="{B7649499-B5A5-43F8-BAC7-0B4BB199B76F}" destId="{68064AE2-DDAD-417C-8389-080B75BB37FE}" srcOrd="1" destOrd="0" parTransId="{E4A46AA6-F7B3-469B-8310-C3318BFCCFAD}" sibTransId="{47294AC1-B853-4F19-A0E4-DBAAA7398AED}"/>
    <dgm:cxn modelId="{94CF6E6C-D93C-4FEE-A13F-326A5209F91F}" type="presOf" srcId="{0D68753C-6F93-4454-A9CF-540143EE749C}" destId="{31981C5F-1823-4C2E-AF3D-1FCC25E12B9B}" srcOrd="0" destOrd="0" presId="urn:microsoft.com/office/officeart/2005/8/layout/matrix2"/>
    <dgm:cxn modelId="{DF39C850-1F97-40BC-BB6A-D9688EABB09B}" type="presOf" srcId="{98F42CA6-0A2D-4EC5-89F7-34D062291F31}" destId="{15AAAE9F-CE66-4A41-B1B1-F2502ADB4CA9}" srcOrd="0" destOrd="0" presId="urn:microsoft.com/office/officeart/2005/8/layout/matrix2"/>
    <dgm:cxn modelId="{62EB2F51-39A8-4746-B048-9515A49ABFF8}" srcId="{B7649499-B5A5-43F8-BAC7-0B4BB199B76F}" destId="{98F42CA6-0A2D-4EC5-89F7-34D062291F31}" srcOrd="3" destOrd="0" parTransId="{D371D928-5412-4539-AA53-D0B684B31E09}" sibTransId="{69E7B019-284D-4AEB-87B1-CF3CEC921F4E}"/>
    <dgm:cxn modelId="{A4D4EB86-DB27-46EE-956D-653566E47530}" srcId="{B7649499-B5A5-43F8-BAC7-0B4BB199B76F}" destId="{0D68753C-6F93-4454-A9CF-540143EE749C}" srcOrd="0" destOrd="0" parTransId="{7170CA50-C8FA-4F98-A972-D14CB56288B0}" sibTransId="{DAEF1331-E0D3-42F2-B0D7-7C621601CA0F}"/>
    <dgm:cxn modelId="{C7B8B9EE-F7EA-464B-9DD9-A03A63E13F93}" type="presOf" srcId="{B7649499-B5A5-43F8-BAC7-0B4BB199B76F}" destId="{689E642D-576F-4D9C-B488-C39ABFEC6FBA}" srcOrd="0" destOrd="0" presId="urn:microsoft.com/office/officeart/2005/8/layout/matrix2"/>
    <dgm:cxn modelId="{21616D2C-A15D-4C0B-84ED-FA63AA8C4F3A}" type="presParOf" srcId="{689E642D-576F-4D9C-B488-C39ABFEC6FBA}" destId="{C6335FD6-06D3-45B4-9A78-9626CD87F0AD}" srcOrd="0" destOrd="0" presId="urn:microsoft.com/office/officeart/2005/8/layout/matrix2"/>
    <dgm:cxn modelId="{B61A7005-321C-444A-8E7C-01BF71A1B3AF}" type="presParOf" srcId="{689E642D-576F-4D9C-B488-C39ABFEC6FBA}" destId="{31981C5F-1823-4C2E-AF3D-1FCC25E12B9B}" srcOrd="1" destOrd="0" presId="urn:microsoft.com/office/officeart/2005/8/layout/matrix2"/>
    <dgm:cxn modelId="{5854CB4A-3D4F-4ACD-8578-60C7A323F28A}" type="presParOf" srcId="{689E642D-576F-4D9C-B488-C39ABFEC6FBA}" destId="{B304BB44-41D5-4E4E-86C4-15DD8B26B3F4}" srcOrd="2" destOrd="0" presId="urn:microsoft.com/office/officeart/2005/8/layout/matrix2"/>
    <dgm:cxn modelId="{7EBDDF84-93EC-48BC-B1A6-609A4168CDB4}" type="presParOf" srcId="{689E642D-576F-4D9C-B488-C39ABFEC6FBA}" destId="{1555FC37-3916-4F23-9751-09D0D819E256}" srcOrd="3" destOrd="0" presId="urn:microsoft.com/office/officeart/2005/8/layout/matrix2"/>
    <dgm:cxn modelId="{9D52DF48-9018-43FE-AE00-25B8EFAB66D6}" type="presParOf" srcId="{689E642D-576F-4D9C-B488-C39ABFEC6FBA}" destId="{15AAAE9F-CE66-4A41-B1B1-F2502ADB4CA9}"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80F18D-341E-48C7-8E87-C1071D3D7A50}"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045EED9C-119A-4997-881C-909903CEC219}">
      <dgm:prSet/>
      <dgm:spPr/>
      <dgm:t>
        <a:bodyPr/>
        <a:lstStyle/>
        <a:p>
          <a:r>
            <a:rPr lang="de-DE"/>
            <a:t>Risikoanalyse</a:t>
          </a:r>
          <a:endParaRPr lang="en-US"/>
        </a:p>
      </dgm:t>
    </dgm:pt>
    <dgm:pt modelId="{21009335-E4B3-4525-ADF4-F739465DE680}" type="parTrans" cxnId="{6E6AB2A2-3CAA-401F-842E-C3EA837A3519}">
      <dgm:prSet/>
      <dgm:spPr/>
      <dgm:t>
        <a:bodyPr/>
        <a:lstStyle/>
        <a:p>
          <a:endParaRPr lang="en-US"/>
        </a:p>
      </dgm:t>
    </dgm:pt>
    <dgm:pt modelId="{D65B8371-258E-4A66-89C8-423AC2670E9F}" type="sibTrans" cxnId="{6E6AB2A2-3CAA-401F-842E-C3EA837A3519}">
      <dgm:prSet/>
      <dgm:spPr/>
      <dgm:t>
        <a:bodyPr/>
        <a:lstStyle/>
        <a:p>
          <a:endParaRPr lang="en-US"/>
        </a:p>
      </dgm:t>
    </dgm:pt>
    <dgm:pt modelId="{08DA11B5-D150-467A-AC8E-ADFE6335D2F3}">
      <dgm:prSet/>
      <dgm:spPr/>
      <dgm:t>
        <a:bodyPr/>
        <a:lstStyle/>
        <a:p>
          <a:r>
            <a:rPr lang="de-DE"/>
            <a:t>Maßnahmen in Abhängigkeit der Anwendung abstimmen (EU AI-Act)</a:t>
          </a:r>
          <a:endParaRPr lang="en-US"/>
        </a:p>
      </dgm:t>
    </dgm:pt>
    <dgm:pt modelId="{9C9C28FE-C2DD-4C29-A940-D834E380502D}" type="parTrans" cxnId="{6FBF21D8-C190-4333-A87F-71FA7EC9D397}">
      <dgm:prSet/>
      <dgm:spPr/>
      <dgm:t>
        <a:bodyPr/>
        <a:lstStyle/>
        <a:p>
          <a:endParaRPr lang="en-US"/>
        </a:p>
      </dgm:t>
    </dgm:pt>
    <dgm:pt modelId="{D9B88550-A859-494A-9DA4-B43A231CC85F}" type="sibTrans" cxnId="{6FBF21D8-C190-4333-A87F-71FA7EC9D397}">
      <dgm:prSet/>
      <dgm:spPr/>
      <dgm:t>
        <a:bodyPr/>
        <a:lstStyle/>
        <a:p>
          <a:endParaRPr lang="en-US"/>
        </a:p>
      </dgm:t>
    </dgm:pt>
    <dgm:pt modelId="{2FEB0B2C-6624-4D83-888C-108BE95F5FB1}">
      <dgm:prSet/>
      <dgm:spPr/>
      <dgm:t>
        <a:bodyPr/>
        <a:lstStyle/>
        <a:p>
          <a:r>
            <a:rPr lang="de-DE"/>
            <a:t>KI möglichst kapseln </a:t>
          </a:r>
          <a:endParaRPr lang="en-US"/>
        </a:p>
      </dgm:t>
    </dgm:pt>
    <dgm:pt modelId="{8C928DFD-228A-464B-9667-77436186E342}" type="parTrans" cxnId="{00C064F2-1351-4A2B-8CB7-33FCDB774F41}">
      <dgm:prSet/>
      <dgm:spPr/>
      <dgm:t>
        <a:bodyPr/>
        <a:lstStyle/>
        <a:p>
          <a:endParaRPr lang="en-US"/>
        </a:p>
      </dgm:t>
    </dgm:pt>
    <dgm:pt modelId="{A20BAEA5-4AB6-4ABB-ADCC-D62B75157BED}" type="sibTrans" cxnId="{00C064F2-1351-4A2B-8CB7-33FCDB774F41}">
      <dgm:prSet/>
      <dgm:spPr/>
      <dgm:t>
        <a:bodyPr/>
        <a:lstStyle/>
        <a:p>
          <a:endParaRPr lang="en-US"/>
        </a:p>
      </dgm:t>
    </dgm:pt>
    <dgm:pt modelId="{C6335D1E-75A0-4A12-9DE7-06F228E5811C}" type="pres">
      <dgm:prSet presAssocID="{8F80F18D-341E-48C7-8E87-C1071D3D7A50}" presName="linear" presStyleCnt="0">
        <dgm:presLayoutVars>
          <dgm:animLvl val="lvl"/>
          <dgm:resizeHandles val="exact"/>
        </dgm:presLayoutVars>
      </dgm:prSet>
      <dgm:spPr/>
    </dgm:pt>
    <dgm:pt modelId="{B47385F5-59A3-4091-9C54-3D752CF238EB}" type="pres">
      <dgm:prSet presAssocID="{045EED9C-119A-4997-881C-909903CEC219}" presName="parentText" presStyleLbl="node1" presStyleIdx="0" presStyleCnt="3">
        <dgm:presLayoutVars>
          <dgm:chMax val="0"/>
          <dgm:bulletEnabled val="1"/>
        </dgm:presLayoutVars>
      </dgm:prSet>
      <dgm:spPr/>
    </dgm:pt>
    <dgm:pt modelId="{731203D4-0EC9-4564-B8C9-36FADA86822D}" type="pres">
      <dgm:prSet presAssocID="{D65B8371-258E-4A66-89C8-423AC2670E9F}" presName="spacer" presStyleCnt="0"/>
      <dgm:spPr/>
    </dgm:pt>
    <dgm:pt modelId="{F8B27C9A-C589-43D9-855D-A14589AFD520}" type="pres">
      <dgm:prSet presAssocID="{08DA11B5-D150-467A-AC8E-ADFE6335D2F3}" presName="parentText" presStyleLbl="node1" presStyleIdx="1" presStyleCnt="3">
        <dgm:presLayoutVars>
          <dgm:chMax val="0"/>
          <dgm:bulletEnabled val="1"/>
        </dgm:presLayoutVars>
      </dgm:prSet>
      <dgm:spPr/>
    </dgm:pt>
    <dgm:pt modelId="{56DC60E3-2594-4F1E-96C8-D1D0045D21E5}" type="pres">
      <dgm:prSet presAssocID="{D9B88550-A859-494A-9DA4-B43A231CC85F}" presName="spacer" presStyleCnt="0"/>
      <dgm:spPr/>
    </dgm:pt>
    <dgm:pt modelId="{DA255AD0-0CB7-4D48-9429-5702E4391E8E}" type="pres">
      <dgm:prSet presAssocID="{2FEB0B2C-6624-4D83-888C-108BE95F5FB1}" presName="parentText" presStyleLbl="node1" presStyleIdx="2" presStyleCnt="3">
        <dgm:presLayoutVars>
          <dgm:chMax val="0"/>
          <dgm:bulletEnabled val="1"/>
        </dgm:presLayoutVars>
      </dgm:prSet>
      <dgm:spPr/>
    </dgm:pt>
  </dgm:ptLst>
  <dgm:cxnLst>
    <dgm:cxn modelId="{6D859552-6242-4E54-BAC8-13493BB3FB20}" type="presOf" srcId="{8F80F18D-341E-48C7-8E87-C1071D3D7A50}" destId="{C6335D1E-75A0-4A12-9DE7-06F228E5811C}" srcOrd="0" destOrd="0" presId="urn:microsoft.com/office/officeart/2005/8/layout/vList2"/>
    <dgm:cxn modelId="{08F32A76-6BE4-4757-ABD7-D0652EF08782}" type="presOf" srcId="{2FEB0B2C-6624-4D83-888C-108BE95F5FB1}" destId="{DA255AD0-0CB7-4D48-9429-5702E4391E8E}" srcOrd="0" destOrd="0" presId="urn:microsoft.com/office/officeart/2005/8/layout/vList2"/>
    <dgm:cxn modelId="{90CE3C88-D358-4744-BCFB-571613829B1B}" type="presOf" srcId="{045EED9C-119A-4997-881C-909903CEC219}" destId="{B47385F5-59A3-4091-9C54-3D752CF238EB}" srcOrd="0" destOrd="0" presId="urn:microsoft.com/office/officeart/2005/8/layout/vList2"/>
    <dgm:cxn modelId="{6E6AB2A2-3CAA-401F-842E-C3EA837A3519}" srcId="{8F80F18D-341E-48C7-8E87-C1071D3D7A50}" destId="{045EED9C-119A-4997-881C-909903CEC219}" srcOrd="0" destOrd="0" parTransId="{21009335-E4B3-4525-ADF4-F739465DE680}" sibTransId="{D65B8371-258E-4A66-89C8-423AC2670E9F}"/>
    <dgm:cxn modelId="{8D9E08C6-0C98-4F72-B995-6802431FBF6F}" type="presOf" srcId="{08DA11B5-D150-467A-AC8E-ADFE6335D2F3}" destId="{F8B27C9A-C589-43D9-855D-A14589AFD520}" srcOrd="0" destOrd="0" presId="urn:microsoft.com/office/officeart/2005/8/layout/vList2"/>
    <dgm:cxn modelId="{6FBF21D8-C190-4333-A87F-71FA7EC9D397}" srcId="{8F80F18D-341E-48C7-8E87-C1071D3D7A50}" destId="{08DA11B5-D150-467A-AC8E-ADFE6335D2F3}" srcOrd="1" destOrd="0" parTransId="{9C9C28FE-C2DD-4C29-A940-D834E380502D}" sibTransId="{D9B88550-A859-494A-9DA4-B43A231CC85F}"/>
    <dgm:cxn modelId="{00C064F2-1351-4A2B-8CB7-33FCDB774F41}" srcId="{8F80F18D-341E-48C7-8E87-C1071D3D7A50}" destId="{2FEB0B2C-6624-4D83-888C-108BE95F5FB1}" srcOrd="2" destOrd="0" parTransId="{8C928DFD-228A-464B-9667-77436186E342}" sibTransId="{A20BAEA5-4AB6-4ABB-ADCC-D62B75157BED}"/>
    <dgm:cxn modelId="{CC9605DE-63C2-4117-8161-8F83536488D8}" type="presParOf" srcId="{C6335D1E-75A0-4A12-9DE7-06F228E5811C}" destId="{B47385F5-59A3-4091-9C54-3D752CF238EB}" srcOrd="0" destOrd="0" presId="urn:microsoft.com/office/officeart/2005/8/layout/vList2"/>
    <dgm:cxn modelId="{E36B0848-BC10-44D4-9C02-778BD41E90E2}" type="presParOf" srcId="{C6335D1E-75A0-4A12-9DE7-06F228E5811C}" destId="{731203D4-0EC9-4564-B8C9-36FADA86822D}" srcOrd="1" destOrd="0" presId="urn:microsoft.com/office/officeart/2005/8/layout/vList2"/>
    <dgm:cxn modelId="{6CDED026-72A7-4C35-A0DB-6C8A39506EE6}" type="presParOf" srcId="{C6335D1E-75A0-4A12-9DE7-06F228E5811C}" destId="{F8B27C9A-C589-43D9-855D-A14589AFD520}" srcOrd="2" destOrd="0" presId="urn:microsoft.com/office/officeart/2005/8/layout/vList2"/>
    <dgm:cxn modelId="{5F0273B2-9B79-41E4-9AA8-47C72E72F18D}" type="presParOf" srcId="{C6335D1E-75A0-4A12-9DE7-06F228E5811C}" destId="{56DC60E3-2594-4F1E-96C8-D1D0045D21E5}" srcOrd="3" destOrd="0" presId="urn:microsoft.com/office/officeart/2005/8/layout/vList2"/>
    <dgm:cxn modelId="{21F52332-EFD8-4F4E-ACA9-263DCC3D5924}" type="presParOf" srcId="{C6335D1E-75A0-4A12-9DE7-06F228E5811C}" destId="{DA255AD0-0CB7-4D48-9429-5702E4391E8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35FD6-06D3-45B4-9A78-9626CD87F0AD}">
      <dsp:nvSpPr>
        <dsp:cNvPr id="0" name=""/>
        <dsp:cNvSpPr/>
      </dsp:nvSpPr>
      <dsp:spPr>
        <a:xfrm>
          <a:off x="2480953" y="0"/>
          <a:ext cx="4394200" cy="4394200"/>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81C5F-1823-4C2E-AF3D-1FCC25E12B9B}">
      <dsp:nvSpPr>
        <dsp:cNvPr id="0" name=""/>
        <dsp:cNvSpPr/>
      </dsp:nvSpPr>
      <dsp:spPr>
        <a:xfrm>
          <a:off x="2766576" y="285623"/>
          <a:ext cx="1757680" cy="17576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KI ist teilweise „unberechenbar“ bzw. hat hohe Dynamik</a:t>
          </a:r>
          <a:endParaRPr lang="en-US" sz="1200" kern="1200"/>
        </a:p>
      </dsp:txBody>
      <dsp:txXfrm>
        <a:off x="2852379" y="371426"/>
        <a:ext cx="1586074" cy="1586074"/>
      </dsp:txXfrm>
    </dsp:sp>
    <dsp:sp modelId="{B304BB44-41D5-4E4E-86C4-15DD8B26B3F4}">
      <dsp:nvSpPr>
        <dsp:cNvPr id="0" name=""/>
        <dsp:cNvSpPr/>
      </dsp:nvSpPr>
      <dsp:spPr>
        <a:xfrm>
          <a:off x="4831850" y="285623"/>
          <a:ext cx="1757680" cy="17576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Komplexität (Black-Box Problem)</a:t>
          </a:r>
          <a:endParaRPr lang="en-US" sz="1200" kern="1200"/>
        </a:p>
      </dsp:txBody>
      <dsp:txXfrm>
        <a:off x="4917653" y="371426"/>
        <a:ext cx="1586074" cy="1586074"/>
      </dsp:txXfrm>
    </dsp:sp>
    <dsp:sp modelId="{1555FC37-3916-4F23-9751-09D0D819E256}">
      <dsp:nvSpPr>
        <dsp:cNvPr id="0" name=""/>
        <dsp:cNvSpPr/>
      </dsp:nvSpPr>
      <dsp:spPr>
        <a:xfrm>
          <a:off x="2766576" y="2350897"/>
          <a:ext cx="1757680" cy="175768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anwendungsbezogene Anforderungen</a:t>
          </a:r>
          <a:endParaRPr lang="en-US" sz="1200" kern="1200"/>
        </a:p>
      </dsp:txBody>
      <dsp:txXfrm>
        <a:off x="2852379" y="2436700"/>
        <a:ext cx="1586074" cy="1586074"/>
      </dsp:txXfrm>
    </dsp:sp>
    <dsp:sp modelId="{15AAAE9F-CE66-4A41-B1B1-F2502ADB4CA9}">
      <dsp:nvSpPr>
        <dsp:cNvPr id="0" name=""/>
        <dsp:cNvSpPr/>
      </dsp:nvSpPr>
      <dsp:spPr>
        <a:xfrm>
          <a:off x="4831850" y="2350897"/>
          <a:ext cx="1757680" cy="17576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DE" sz="1200" kern="1200"/>
            <a:t>Herkömmliche Zertifizierungsweisen nicht mehr ausreichend</a:t>
          </a:r>
          <a:endParaRPr lang="en-US" sz="1200" kern="1200"/>
        </a:p>
      </dsp:txBody>
      <dsp:txXfrm>
        <a:off x="4917653" y="2436700"/>
        <a:ext cx="1586074" cy="15860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385F5-59A3-4091-9C54-3D752CF238EB}">
      <dsp:nvSpPr>
        <dsp:cNvPr id="0" name=""/>
        <dsp:cNvSpPr/>
      </dsp:nvSpPr>
      <dsp:spPr>
        <a:xfrm>
          <a:off x="0" y="42347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Risikoanalyse</a:t>
          </a:r>
          <a:endParaRPr lang="en-US" sz="2800" kern="1200"/>
        </a:p>
      </dsp:txBody>
      <dsp:txXfrm>
        <a:off x="75563" y="499035"/>
        <a:ext cx="4677046" cy="1396784"/>
      </dsp:txXfrm>
    </dsp:sp>
    <dsp:sp modelId="{F8B27C9A-C589-43D9-855D-A14589AFD520}">
      <dsp:nvSpPr>
        <dsp:cNvPr id="0" name=""/>
        <dsp:cNvSpPr/>
      </dsp:nvSpPr>
      <dsp:spPr>
        <a:xfrm>
          <a:off x="0" y="205202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Maßnahmen in Abhängigkeit der Anwendung abstimmen (EU AI-Act)</a:t>
          </a:r>
          <a:endParaRPr lang="en-US" sz="2800" kern="1200"/>
        </a:p>
      </dsp:txBody>
      <dsp:txXfrm>
        <a:off x="75563" y="2127585"/>
        <a:ext cx="4677046" cy="1396784"/>
      </dsp:txXfrm>
    </dsp:sp>
    <dsp:sp modelId="{DA255AD0-0CB7-4D48-9429-5702E4391E8E}">
      <dsp:nvSpPr>
        <dsp:cNvPr id="0" name=""/>
        <dsp:cNvSpPr/>
      </dsp:nvSpPr>
      <dsp:spPr>
        <a:xfrm>
          <a:off x="0" y="3680572"/>
          <a:ext cx="4828172" cy="154791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DE" sz="2800" kern="1200"/>
            <a:t>KI möglichst kapseln </a:t>
          </a:r>
          <a:endParaRPr lang="en-US" sz="2800" kern="1200"/>
        </a:p>
      </dsp:txBody>
      <dsp:txXfrm>
        <a:off x="75563" y="3756135"/>
        <a:ext cx="4677046" cy="1396784"/>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AE5E8-F1EE-4D23-AC3E-2E18A2B3CE6F}" type="datetimeFigureOut">
              <a:rPr lang="de-DE" smtClean="0"/>
              <a:t>14.10.2025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62AD5C-4C66-4B4A-B971-95AC81D57146}" type="slidenum">
              <a:rPr lang="de-DE" smtClean="0"/>
              <a:t>‹Nr.›</a:t>
            </a:fld>
            <a:endParaRPr lang="de-DE"/>
          </a:p>
        </p:txBody>
      </p:sp>
    </p:spTree>
    <p:extLst>
      <p:ext uri="{BB962C8B-B14F-4D97-AF65-F5344CB8AC3E}">
        <p14:creationId xmlns:p14="http://schemas.microsoft.com/office/powerpoint/2010/main" val="1777483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D562AD5C-4C66-4B4A-B971-95AC81D57146}" type="slidenum">
              <a:rPr lang="de-DE" smtClean="0"/>
              <a:t>1</a:t>
            </a:fld>
            <a:endParaRPr lang="de-DE"/>
          </a:p>
        </p:txBody>
      </p:sp>
    </p:spTree>
    <p:extLst>
      <p:ext uri="{BB962C8B-B14F-4D97-AF65-F5344CB8AC3E}">
        <p14:creationId xmlns:p14="http://schemas.microsoft.com/office/powerpoint/2010/main" val="4209685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Damit Vertrauen in ein KI aufgebaut werden kann, muss durch das KI-System eine sicherere und zuverlässige Anwendung gegeben sein, welche auch ethische sowie rechtliche Ansprüche erfüllt. </a:t>
            </a:r>
          </a:p>
          <a:p>
            <a:r>
              <a:rPr lang="de-DE" dirty="0"/>
              <a:t>Gleichzeitig sind bei der Erstellung der KI auch ökologische und gesellschaftliche Fragestellungen zu klären, um einen akzeptierten Rahmen zu erhalten. </a:t>
            </a:r>
          </a:p>
          <a:p>
            <a:r>
              <a:rPr lang="de-DE" dirty="0"/>
              <a:t>Zur Generierung des Vertrauens ist es wichtig, dass die aufgestellten Kriterien überprüfbar sind. Daher bietet eine Zertifizierung die Möglichkeit die aufgestellten Werte einzufordern</a:t>
            </a:r>
          </a:p>
          <a:p>
            <a:r>
              <a:rPr lang="de-DE" dirty="0"/>
              <a:t>Diese gesamten Grundsatzfragen können in einer überschneidenden Diskussion mehrerer Fachbereiche wie Informatik, Philosophie und Rechtswissenschaften geklärt werden</a:t>
            </a:r>
          </a:p>
          <a:p>
            <a:endParaRPr lang="de-DE" dirty="0"/>
          </a:p>
          <a:p>
            <a:r>
              <a:rPr lang="de-DE" dirty="0"/>
              <a:t>Nutzen von Zertifizierung: Umsetzung dieser Werte einzufordern</a:t>
            </a:r>
          </a:p>
          <a:p>
            <a:r>
              <a:rPr lang="de-DE" dirty="0"/>
              <a:t>Bspw. Rechtssicherheit, Verantwortlichkeit, Sicherheit, Transparenz…</a:t>
            </a:r>
          </a:p>
          <a:p>
            <a:endParaRPr lang="de-DE" dirty="0"/>
          </a:p>
        </p:txBody>
      </p:sp>
      <p:sp>
        <p:nvSpPr>
          <p:cNvPr id="4" name="Foliennummernplatzhalter 3"/>
          <p:cNvSpPr>
            <a:spLocks noGrp="1"/>
          </p:cNvSpPr>
          <p:nvPr>
            <p:ph type="sldNum" sz="quarter" idx="5"/>
          </p:nvPr>
        </p:nvSpPr>
        <p:spPr/>
        <p:txBody>
          <a:bodyPr/>
          <a:lstStyle/>
          <a:p>
            <a:fld id="{D562AD5C-4C66-4B4A-B971-95AC81D57146}" type="slidenum">
              <a:rPr lang="de-DE" smtClean="0"/>
              <a:t>2</a:t>
            </a:fld>
            <a:endParaRPr lang="de-DE"/>
          </a:p>
        </p:txBody>
      </p:sp>
    </p:spTree>
    <p:extLst>
      <p:ext uri="{BB962C8B-B14F-4D97-AF65-F5344CB8AC3E}">
        <p14:creationId xmlns:p14="http://schemas.microsoft.com/office/powerpoint/2010/main" val="2351027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Zertifizierung notwendig um Vertrauen in komplexe Systeme sowie in die Hersteller bzw. Anbieter aufzubauen. Zertifizierung ist vertrauensfördernd, wenn die Qualität durch unabhängige Dritte bestätigt wird</a:t>
            </a:r>
          </a:p>
          <a:p>
            <a:r>
              <a:rPr lang="de-DE" dirty="0"/>
              <a:t>Abbau von Ängsten, da das System anhand von Kriterien von einer unabhängigen akkreditierten Stelle (mit der zugehörigen Reputation) getestet wurde</a:t>
            </a:r>
            <a:br>
              <a:rPr lang="de-DE" dirty="0"/>
            </a:br>
            <a:r>
              <a:rPr lang="de-DE" dirty="0"/>
              <a:t>bspw. Damit sichergestellt ist, dass das Nutzerversprechen erfüllt ist und die KI überhaupt in die Anlage gelangen kann</a:t>
            </a:r>
          </a:p>
          <a:p>
            <a:endParaRPr lang="de-DE" dirty="0"/>
          </a:p>
          <a:p>
            <a:r>
              <a:rPr lang="de-DE" dirty="0"/>
              <a:t>Zertifizierung ermöglicht es, dass System in den definierten Rahmen ausführlich zu testen und bis zu einem gewissen Maß zu gewährleisten, dass keine unerwünschten Konsequenzen auftreten (lässt sich nie zu 100% ausschließen)</a:t>
            </a:r>
          </a:p>
          <a:p>
            <a:r>
              <a:rPr lang="de-DE" dirty="0"/>
              <a:t>Diese Bedingung gilt dabei unter der Voraussetzung eines ordnungsgemäßen Einsatzes</a:t>
            </a:r>
          </a:p>
          <a:p>
            <a:r>
              <a:rPr lang="de-DE" dirty="0"/>
              <a:t>Unter unerwünschte Konsequenzen können auch Konsequenzen im gesellschaftlichen und politischen Bereich fallen bspw. Muss geregelt werden, wie mit dem Problem der potenziellen Diskriminierung durch KI-Systeme umgegangen wird</a:t>
            </a:r>
          </a:p>
          <a:p>
            <a:r>
              <a:rPr lang="de-DE" dirty="0"/>
              <a:t>(Zertifizierung kann korrigierend oder regulierend wirken)</a:t>
            </a:r>
          </a:p>
          <a:p>
            <a:endParaRPr lang="de-DE" dirty="0"/>
          </a:p>
          <a:p>
            <a:r>
              <a:rPr lang="de-DE" dirty="0"/>
              <a:t>Zertifizierung erhöht die Vergleichbarkeit verschiedener KI-Systeme auf dem Markt, was wiederum einen fairen Wettbewerb fördern kann</a:t>
            </a:r>
          </a:p>
          <a:p>
            <a:endParaRPr lang="de-DE" dirty="0"/>
          </a:p>
          <a:p>
            <a:r>
              <a:rPr lang="de-DE" dirty="0"/>
              <a:t>Zertifizierung ist in vielen (häufig sensiblen und kritischen) Bereich eine </a:t>
            </a:r>
            <a:r>
              <a:rPr lang="de-DE" dirty="0" err="1"/>
              <a:t>Zugangsvorraussetzung</a:t>
            </a:r>
            <a:r>
              <a:rPr lang="de-DE" dirty="0"/>
              <a:t>, um überhaupt eingesetzt werden zu dürfen. </a:t>
            </a:r>
          </a:p>
          <a:p>
            <a:endParaRPr lang="de-DE" dirty="0"/>
          </a:p>
          <a:p>
            <a:r>
              <a:rPr lang="de-DE" dirty="0"/>
              <a:t>Contra:</a:t>
            </a:r>
          </a:p>
          <a:p>
            <a:r>
              <a:rPr lang="de-DE" dirty="0"/>
              <a:t>Zertifizierung kann Innovationen einschränken, wenn eine Überregelung der Systeme stattfindet</a:t>
            </a:r>
          </a:p>
          <a:p>
            <a:endParaRPr lang="de-DE" dirty="0"/>
          </a:p>
          <a:p>
            <a:r>
              <a:rPr lang="de-DE" dirty="0"/>
              <a:t>Zertifizierung kann das Potenzial eines KI-Systems blockieren, wenn die Zertifizierung mangelhaft ist</a:t>
            </a:r>
          </a:p>
        </p:txBody>
      </p:sp>
      <p:sp>
        <p:nvSpPr>
          <p:cNvPr id="4" name="Foliennummernplatzhalter 3"/>
          <p:cNvSpPr>
            <a:spLocks noGrp="1"/>
          </p:cNvSpPr>
          <p:nvPr>
            <p:ph type="sldNum" sz="quarter" idx="5"/>
          </p:nvPr>
        </p:nvSpPr>
        <p:spPr/>
        <p:txBody>
          <a:bodyPr/>
          <a:lstStyle/>
          <a:p>
            <a:fld id="{D562AD5C-4C66-4B4A-B971-95AC81D57146}" type="slidenum">
              <a:rPr lang="de-DE" smtClean="0"/>
              <a:t>3</a:t>
            </a:fld>
            <a:endParaRPr lang="de-DE"/>
          </a:p>
        </p:txBody>
      </p:sp>
    </p:spTree>
    <p:extLst>
      <p:ext uri="{BB962C8B-B14F-4D97-AF65-F5344CB8AC3E}">
        <p14:creationId xmlns:p14="http://schemas.microsoft.com/office/powerpoint/2010/main" val="1413247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KI-Systeme sind im Vergleich zu klassischen IT-Systemen dynamischer, was als Folge hat, dass sie sich weiterentwickeln und unter Umständen dabei unvorhersehbar werden.</a:t>
            </a:r>
          </a:p>
          <a:p>
            <a:r>
              <a:rPr lang="de-DE" dirty="0"/>
              <a:t>Selbst, wenn man den Lernvorgang am Ende „einfriert“, kann sich die Betriebsumgebung ändern. Zum anderen basieren die Entscheidungen einer KI auf Wahrscheinlichkeiten, wodurch die KI zu Fehlschlüssen kommen kann und</a:t>
            </a:r>
          </a:p>
          <a:p>
            <a:r>
              <a:rPr lang="de-DE" dirty="0"/>
              <a:t>der Weg dahin nicht unbedingt nachvollziehbar ist (Black-Box Problem)</a:t>
            </a:r>
          </a:p>
          <a:p>
            <a:r>
              <a:rPr lang="de-DE" dirty="0" err="1"/>
              <a:t>Desweiteren</a:t>
            </a:r>
            <a:r>
              <a:rPr lang="de-DE" dirty="0"/>
              <a:t> haben erfordern verschiedene Anwendungen unterschiedlich komplexe Anforderungen an die KI-Systeme und ihre Zuverlässigkeit / Sicherheit bspw. In medizinischen Systemen, möchte man eine höhere Zuverlässigkeit als wenn die KI im Bereich von </a:t>
            </a:r>
            <a:r>
              <a:rPr lang="de-DE" dirty="0" err="1"/>
              <a:t>Predictive</a:t>
            </a:r>
            <a:r>
              <a:rPr lang="de-DE" dirty="0"/>
              <a:t> Maintenance eingesetzt wird</a:t>
            </a:r>
          </a:p>
        </p:txBody>
      </p:sp>
      <p:sp>
        <p:nvSpPr>
          <p:cNvPr id="4" name="Foliennummernplatzhalter 3"/>
          <p:cNvSpPr>
            <a:spLocks noGrp="1"/>
          </p:cNvSpPr>
          <p:nvPr>
            <p:ph type="sldNum" sz="quarter" idx="5"/>
          </p:nvPr>
        </p:nvSpPr>
        <p:spPr/>
        <p:txBody>
          <a:bodyPr/>
          <a:lstStyle/>
          <a:p>
            <a:fld id="{D562AD5C-4C66-4B4A-B971-95AC81D57146}" type="slidenum">
              <a:rPr lang="de-DE" smtClean="0"/>
              <a:t>4</a:t>
            </a:fld>
            <a:endParaRPr lang="de-DE"/>
          </a:p>
        </p:txBody>
      </p:sp>
    </p:spTree>
    <p:extLst>
      <p:ext uri="{BB962C8B-B14F-4D97-AF65-F5344CB8AC3E}">
        <p14:creationId xmlns:p14="http://schemas.microsoft.com/office/powerpoint/2010/main" val="212727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Auseinandersetzung mit dem Gedanken der Zertifizierung lässt schnell darauf schließen, dass die Thematik nicht nur aus einer Sichtweise betrachtet werden kann, sondern viele verschiedene Perspektiven und Handlungsfelder</a:t>
            </a:r>
          </a:p>
          <a:p>
            <a:r>
              <a:rPr lang="de-DE" dirty="0"/>
              <a:t>ineinandergreifen um somit ein gutes KI-System zu definieren. Die folgende Grafik veranschaulicht sechs verschiedene Thematiken, die jeweils unabhängig voneinander durch Experten behandelt und im Anschluss miteinander kombiniert</a:t>
            </a:r>
          </a:p>
          <a:p>
            <a:r>
              <a:rPr lang="de-DE" dirty="0"/>
              <a:t>Werden können. Als übergeordneter Punkt stehen Fragen zu den Bereichen der Ethik und Recht, um sicherzustellen, dass die KI-Anwendung die gesellschaftlichen Werte und Gesetze respektiert. </a:t>
            </a:r>
          </a:p>
          <a:p>
            <a:r>
              <a:rPr lang="de-DE" dirty="0"/>
              <a:t>Die nachfolgenden Bereiche setzen sich mit Fragestellungen wie der Sicherheit bei Angriffen und Fehlern, des Schutzes der Privatsphäre oder einer fairen Behandlung aller Nutzender auseinander. Der Punkt der Transparenz bietet dabei eine weitere Herausforderung, da ein Weg gefunden werden muss, wie die Funktionsweisen und Entscheidungen der KI nachvollziehbar und robust gestaltet werden können.</a:t>
            </a:r>
          </a:p>
        </p:txBody>
      </p:sp>
      <p:sp>
        <p:nvSpPr>
          <p:cNvPr id="4" name="Foliennummernplatzhalter 3"/>
          <p:cNvSpPr>
            <a:spLocks noGrp="1"/>
          </p:cNvSpPr>
          <p:nvPr>
            <p:ph type="sldNum" sz="quarter" idx="5"/>
          </p:nvPr>
        </p:nvSpPr>
        <p:spPr/>
        <p:txBody>
          <a:bodyPr/>
          <a:lstStyle/>
          <a:p>
            <a:fld id="{D562AD5C-4C66-4B4A-B971-95AC81D57146}" type="slidenum">
              <a:rPr lang="de-DE" smtClean="0"/>
              <a:t>5</a:t>
            </a:fld>
            <a:endParaRPr lang="de-DE"/>
          </a:p>
        </p:txBody>
      </p:sp>
    </p:spTree>
    <p:extLst>
      <p:ext uri="{BB962C8B-B14F-4D97-AF65-F5344CB8AC3E}">
        <p14:creationId xmlns:p14="http://schemas.microsoft.com/office/powerpoint/2010/main" val="72625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Als erste Orientierungsgrundlage für Unternehmen gibt es seit Dezember 2023 die internationale Norm ISO 42001, welche Anforderungen und Prozesse für die Umsetzung eines Managementsystems für künstliche Intelligenz festlegt.</a:t>
            </a:r>
          </a:p>
          <a:p>
            <a:r>
              <a:rPr lang="de-DE" dirty="0"/>
              <a:t>Dabei wird auf den gesamten Lebenszyklus der KI eingegangen und bspw. ein Leitfaden geboten, wie mit der Komplexität der KI umzugehen ist. </a:t>
            </a:r>
          </a:p>
          <a:p>
            <a:endParaRPr lang="de-DE" dirty="0"/>
          </a:p>
          <a:p>
            <a:r>
              <a:rPr lang="de-DE" dirty="0"/>
              <a:t>Eine etwas neuere Rahmenregelung ist mit dem EU AI Act im August 2024 in Kraft getreten. Dabei handelt es sich um ein europäisches Gesetz, welches nun schrittweise von den Mitgliedsstaaten in nationales Recht überführt werden muss. Das Gesetz nutzt einen risikobasierten Ansatz, um je nach Risikokategorie, die Anforderungen an eine Anlage mit KI-System zu verschärfen oder zu vereinfachen. Als oberste Klasse sind Anwendungen mit nicht akzeptablen Risiko eingestuft, also jene, die gegen die EU Grundrechte verstoßen und beispielsweise Menschen manipulieren, bewerten oder kategorisieren (Scoring System, </a:t>
            </a:r>
            <a:r>
              <a:rPr lang="de-DE" dirty="0" err="1"/>
              <a:t>predictive</a:t>
            </a:r>
            <a:r>
              <a:rPr lang="de-DE" dirty="0"/>
              <a:t> </a:t>
            </a:r>
            <a:r>
              <a:rPr lang="de-DE" dirty="0" err="1"/>
              <a:t>policing</a:t>
            </a:r>
            <a:r>
              <a:rPr lang="de-DE" dirty="0"/>
              <a:t> </a:t>
            </a:r>
            <a:r>
              <a:rPr lang="de-DE" dirty="0">
                <a:sym typeface="Wingdings" panose="05000000000000000000" pitchFamily="2" charset="2"/>
              </a:rPr>
              <a:t> </a:t>
            </a:r>
            <a:r>
              <a:rPr lang="de-DE" dirty="0" err="1">
                <a:sym typeface="Wingdings" panose="05000000000000000000" pitchFamily="2" charset="2"/>
              </a:rPr>
              <a:t>vorraussagen</a:t>
            </a:r>
            <a:r>
              <a:rPr lang="de-DE" dirty="0">
                <a:sym typeface="Wingdings" panose="05000000000000000000" pitchFamily="2" charset="2"/>
              </a:rPr>
              <a:t>, wie hoch die WK ist, dass eine Person ein Verbrechen begeht…) Diese Anwendungen sind in der EU verboten. Etwas schwieriger hingegen ist die Klasse der hoch-Risiko Anwendungen, da diese grundsätzlich erlaubt sind, jedoch mit hohen Anforderungen und Einschränkungen zu rechnen ist. Anwendungen fallen in diese Kategorie, wenn sie im Falle eines Fehlers oder Missbrauchs signifikant die Sicherheit der Menschen, der Rechte oder der Umwelt gefährden. Ab wann diese Grenze erreicht ist, ist stark umstritten, aber man kann Anwendungen aus den Bereichen der kritischen Infrastruktur, Personalwesen (Recruiting), Migration oder Strafverfolgung etc. in dieser Kategorie betrachten. Als dritte Gruppe sind KI-Systeme mit limitierten Risiko bspw. durch Manipulation oder Betrug zu verstehen. Diese verfügen als grundsätzliche Anforderungen eine Pflicht zur Transparenz, also dass für den Menschen kenntlich wird, wenn er mit einer KI interagiert oder mit einem </a:t>
            </a:r>
            <a:r>
              <a:rPr lang="de-DE" dirty="0" err="1">
                <a:sym typeface="Wingdings" panose="05000000000000000000" pitchFamily="2" charset="2"/>
              </a:rPr>
              <a:t>deep</a:t>
            </a:r>
            <a:r>
              <a:rPr lang="de-DE" dirty="0">
                <a:sym typeface="Wingdings" panose="05000000000000000000" pitchFamily="2" charset="2"/>
              </a:rPr>
              <a:t> fake konfrontiert ist.  Klassische Chatbots fallen in diesem Bereich. Die letzte Kategorie umfasst ein minimales Risiko, wo alle nicht in den oberen Gruppierungen umfasste KI-Systeme wie Spam-Filter fallen. Hierfür gibt es keine vorgeschriebenen Anforderungen oder Einschränkungen. Allerdings wird darauf verwiesen, dass eine Kontrolle durch den Menschen weiterhin stattfinden sollte und auf </a:t>
            </a:r>
            <a:r>
              <a:rPr lang="de-DE" dirty="0" err="1">
                <a:sym typeface="Wingdings" panose="05000000000000000000" pitchFamily="2" charset="2"/>
              </a:rPr>
              <a:t>fairness</a:t>
            </a:r>
            <a:r>
              <a:rPr lang="de-DE" dirty="0">
                <a:sym typeface="Wingdings" panose="05000000000000000000" pitchFamily="2" charset="2"/>
              </a:rPr>
              <a:t> und nicht-</a:t>
            </a:r>
            <a:r>
              <a:rPr lang="de-DE" dirty="0" err="1">
                <a:sym typeface="Wingdings" panose="05000000000000000000" pitchFamily="2" charset="2"/>
              </a:rPr>
              <a:t>discriminierung</a:t>
            </a:r>
            <a:r>
              <a:rPr lang="de-DE" dirty="0">
                <a:sym typeface="Wingdings" panose="05000000000000000000" pitchFamily="2" charset="2"/>
              </a:rPr>
              <a:t> geachtet werden sollte</a:t>
            </a:r>
            <a:br>
              <a:rPr lang="de-DE" dirty="0">
                <a:sym typeface="Wingdings" panose="05000000000000000000" pitchFamily="2" charset="2"/>
              </a:rPr>
            </a:br>
            <a:br>
              <a:rPr lang="de-DE" dirty="0">
                <a:sym typeface="Wingdings" panose="05000000000000000000" pitchFamily="2" charset="2"/>
              </a:rPr>
            </a:br>
            <a:r>
              <a:rPr lang="de-DE" dirty="0">
                <a:sym typeface="Wingdings" panose="05000000000000000000" pitchFamily="2" charset="2"/>
              </a:rPr>
              <a:t>In vielen Fällen hängt die Risikobewertung eines KI-Systems von der Anwendung ab. Generelle bzw. Anwendungsübergreifende Systeme wie den von OpenAI können so nicht kategorisiert werden und werden daher in 2 Klassen unterteilt. (In Abhängigkeit der zum Trainieren benötigten Rechenleistung – nicht systemisches und systemisches Risiko) Grundlegend müssen beide Klassen die Transparenzanforderungen erfüllen, jedoch sind Modelle mit systemischen Risiko deutlich strengeren Verpflichtungen unterlegen</a:t>
            </a:r>
            <a:endParaRPr lang="de-DE" dirty="0"/>
          </a:p>
        </p:txBody>
      </p:sp>
      <p:sp>
        <p:nvSpPr>
          <p:cNvPr id="4" name="Foliennummernplatzhalter 3"/>
          <p:cNvSpPr>
            <a:spLocks noGrp="1"/>
          </p:cNvSpPr>
          <p:nvPr>
            <p:ph type="sldNum" sz="quarter" idx="5"/>
          </p:nvPr>
        </p:nvSpPr>
        <p:spPr/>
        <p:txBody>
          <a:bodyPr/>
          <a:lstStyle/>
          <a:p>
            <a:fld id="{D562AD5C-4C66-4B4A-B971-95AC81D57146}" type="slidenum">
              <a:rPr lang="de-DE" smtClean="0"/>
              <a:t>6</a:t>
            </a:fld>
            <a:endParaRPr lang="de-DE"/>
          </a:p>
        </p:txBody>
      </p:sp>
    </p:spTree>
    <p:extLst>
      <p:ext uri="{BB962C8B-B14F-4D97-AF65-F5344CB8AC3E}">
        <p14:creationId xmlns:p14="http://schemas.microsoft.com/office/powerpoint/2010/main" val="1343649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6996B-3A60-B7F4-67A0-55A2EA2198C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4619854-8600-1C86-86E0-306565A49A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170DF37-1A2B-E83E-1212-3B879941E235}"/>
              </a:ext>
            </a:extLst>
          </p:cNvPr>
          <p:cNvSpPr>
            <a:spLocks noGrp="1"/>
          </p:cNvSpPr>
          <p:nvPr>
            <p:ph type="body" idx="1"/>
          </p:nvPr>
        </p:nvSpPr>
        <p:spPr/>
        <p:txBody>
          <a:bodyPr/>
          <a:lstStyle/>
          <a:p>
            <a:r>
              <a:rPr lang="de-DE" dirty="0"/>
              <a:t>Um nochmal auf die ursprüngliche Fragestellung zurückzukommen: Bei der </a:t>
            </a:r>
            <a:r>
              <a:rPr lang="de-DE" dirty="0" err="1"/>
              <a:t>Intergration</a:t>
            </a:r>
            <a:r>
              <a:rPr lang="de-DE" dirty="0"/>
              <a:t> der KI in die Anlage sollte sich an die vorgestellten Grundsätze wie der Norm und des EU-Ai </a:t>
            </a:r>
            <a:r>
              <a:rPr lang="de-DE" dirty="0" err="1"/>
              <a:t>Actes</a:t>
            </a:r>
            <a:r>
              <a:rPr lang="de-DE" dirty="0"/>
              <a:t> orientiert werden. Eine Risikoanalyse kann dazu beitragen herauszufinden, wie hoch das entstehende Risiko ist, wenn die KI fehlerhafte Ergebnisse liefert. Des Weiteren hängen die benötigten Maßnahmen auch stark von dem Einsatzgebiet der KI ab, bspw. Ob sie aktiv den Prozess der Anlage beeinflussen kann bspw. In dem sie fehlerhafte Teile erkennt und aussortieren lässt oder ob sie nur als zusätzliche Prozessüberwachung bzw. zu Analysezwecken eingesetzt wird (</a:t>
            </a:r>
            <a:r>
              <a:rPr lang="de-DE" dirty="0" err="1"/>
              <a:t>Predictive</a:t>
            </a:r>
            <a:r>
              <a:rPr lang="de-DE" dirty="0"/>
              <a:t> Maintenance), was im Zweifel einer fehlerhaften Meldung keine schwerwiegenden Auswirkungen auf die Umwelt und die Menschen hat. Grundsätzlich ist es jedoch ratsam, die KI auf den benötigten Anwendungsraum einzuschränken und somit zu verhindern, dass die KI durch unnötige Daten oder von einem zu großen Personenfeld beeinflusst werden kann, um die Ergebniskonsistenz zu gewährleisten und ein Missbrauch zu erschweren. </a:t>
            </a:r>
          </a:p>
        </p:txBody>
      </p:sp>
      <p:sp>
        <p:nvSpPr>
          <p:cNvPr id="4" name="Foliennummernplatzhalter 3">
            <a:extLst>
              <a:ext uri="{FF2B5EF4-FFF2-40B4-BE49-F238E27FC236}">
                <a16:creationId xmlns:a16="http://schemas.microsoft.com/office/drawing/2014/main" id="{9707B7C4-7509-9C33-7310-09A6A8B685D2}"/>
              </a:ext>
            </a:extLst>
          </p:cNvPr>
          <p:cNvSpPr>
            <a:spLocks noGrp="1"/>
          </p:cNvSpPr>
          <p:nvPr>
            <p:ph type="sldNum" sz="quarter" idx="5"/>
          </p:nvPr>
        </p:nvSpPr>
        <p:spPr/>
        <p:txBody>
          <a:bodyPr/>
          <a:lstStyle/>
          <a:p>
            <a:fld id="{D562AD5C-4C66-4B4A-B971-95AC81D57146}" type="slidenum">
              <a:rPr lang="de-DE" smtClean="0"/>
              <a:t>7</a:t>
            </a:fld>
            <a:endParaRPr lang="de-DE"/>
          </a:p>
        </p:txBody>
      </p:sp>
    </p:spTree>
    <p:extLst>
      <p:ext uri="{BB962C8B-B14F-4D97-AF65-F5344CB8AC3E}">
        <p14:creationId xmlns:p14="http://schemas.microsoft.com/office/powerpoint/2010/main" val="792401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FCE929-B781-154D-170F-E56CF419078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2EF7E434-1A6D-FD5F-3F63-2C1BE3935A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A189AFC-9552-0EC0-3263-96A1346B99D7}"/>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BA48D1A5-1F8A-55E7-EB15-B93C0608A1C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80E83A7-856C-1CC4-ACB9-DDBDD7ABE8E7}"/>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090605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E32A15-FB39-24B0-95A6-B0A5E1621D5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D854B7D-4718-EB45-8DFC-681B43020B9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D8266C0-A82D-4FE2-F85F-79347CE25458}"/>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DF2125C7-6255-872C-C284-07EC5A26FDC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2FE4EC9-BA6D-2C8A-A334-D00E3758323D}"/>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2777740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8326B1-DE1C-E599-376F-354B46C659D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0E06C35-BA8D-835A-62DA-C37080CD4F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CA1D0B3-1C74-F008-8F91-AB4B5E954522}"/>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8C139201-98F2-7C5E-CB6C-32E51EC6FEB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74CB4C0-543D-B461-0911-B98F5BDEE6C9}"/>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56605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EE939F-85CB-1014-C939-AFB67E9477E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D36341D-48A6-20D2-654D-06261C5A30A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53555899-8B02-0E7A-A30A-3DB087C891C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E272A771-B851-F496-B2FB-29E0645A1CB6}"/>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6" name="Fußzeilenplatzhalter 5">
            <a:extLst>
              <a:ext uri="{FF2B5EF4-FFF2-40B4-BE49-F238E27FC236}">
                <a16:creationId xmlns:a16="http://schemas.microsoft.com/office/drawing/2014/main" id="{0BB0FE2B-9A68-A39D-6DF9-8448CA02527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EB06811-75AB-09BA-F1AE-EE81249AD835}"/>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3005964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EF6E91-1812-49C3-C7BB-9F77DA0A13CB}"/>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94201904-4B81-9FC9-3261-4ACB8139A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8DFD8F95-C6D6-4309-E6F1-BD017260D49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5827B9A0-6EF2-3DC1-BED0-430E5A43A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9BC29FC-8C98-840C-ACB3-B11B385CA6C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4D4FA3C-D8A6-E415-DF20-65F124497587}"/>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8" name="Fußzeilenplatzhalter 7">
            <a:extLst>
              <a:ext uri="{FF2B5EF4-FFF2-40B4-BE49-F238E27FC236}">
                <a16:creationId xmlns:a16="http://schemas.microsoft.com/office/drawing/2014/main" id="{E15E88FF-ECFC-A019-3653-C506FBB851CD}"/>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879FA245-1CE5-0A02-422A-CF48CFACB654}"/>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417898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CC8421-7298-C3AA-6CF8-BDC4B9F80CF8}"/>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C2E69CD-436E-8577-1395-D79C70F9E25D}"/>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4" name="Fußzeilenplatzhalter 3">
            <a:extLst>
              <a:ext uri="{FF2B5EF4-FFF2-40B4-BE49-F238E27FC236}">
                <a16:creationId xmlns:a16="http://schemas.microsoft.com/office/drawing/2014/main" id="{B9C71BDA-4C74-7D78-12EE-F1280B7A5A16}"/>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ABEFC78-C8F9-8A7F-F4FB-5A95A6D94D60}"/>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486036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0E022B4-4308-AE4D-5134-C634D043299D}"/>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3" name="Fußzeilenplatzhalter 2">
            <a:extLst>
              <a:ext uri="{FF2B5EF4-FFF2-40B4-BE49-F238E27FC236}">
                <a16:creationId xmlns:a16="http://schemas.microsoft.com/office/drawing/2014/main" id="{4EF852A8-1D1E-2840-EF7A-C0288EF20929}"/>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7FA6056-AE18-2703-3521-31650E645259}"/>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4133877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8810AF-8136-CE2D-E3B3-8660F7EA204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790333B8-E518-4805-FCF7-336126661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307025EE-13DF-1189-4EDF-DE70B7DD78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5D64DD3-2644-2CEA-0242-8573EF4F7F0B}"/>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6" name="Fußzeilenplatzhalter 5">
            <a:extLst>
              <a:ext uri="{FF2B5EF4-FFF2-40B4-BE49-F238E27FC236}">
                <a16:creationId xmlns:a16="http://schemas.microsoft.com/office/drawing/2014/main" id="{DDACF756-CD74-5CFD-5AF5-706BA363BCE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72B4392-3B39-D49D-CEB6-C88F0509BB78}"/>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790498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392928-DD04-96D0-C0AA-6758987D21F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38A28EC-DFD0-E78A-DB32-87FA109189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99E82073-AFC1-CAB0-DF1B-37A8F5789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112C7C2-B59A-81F3-8F32-7DE168D159C3}"/>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6" name="Fußzeilenplatzhalter 5">
            <a:extLst>
              <a:ext uri="{FF2B5EF4-FFF2-40B4-BE49-F238E27FC236}">
                <a16:creationId xmlns:a16="http://schemas.microsoft.com/office/drawing/2014/main" id="{D0A351A7-4494-C497-4AB7-C9D5B60C6BD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8C9BF55-FE3D-A97E-6977-6E23899F4475}"/>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255027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D44FAC-64CF-7791-E3D5-3F0E7B286C5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18A8105-65DF-AB4E-D34D-028F5A39612F}"/>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DE984C1-9F69-9C32-1BB5-7D86789AC40D}"/>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33781F20-B920-B81D-3CD6-8BCC1BA4549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2390396-5D09-AADB-6C21-5E08C05E1682}"/>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597537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A853F29-2CE6-9547-5ABF-513C7C281F1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3D1F8DE0-F944-D8A0-3964-42C649EBDA3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876608F-520D-3720-9168-0703DD273722}"/>
              </a:ext>
            </a:extLst>
          </p:cNvPr>
          <p:cNvSpPr>
            <a:spLocks noGrp="1"/>
          </p:cNvSpPr>
          <p:nvPr>
            <p:ph type="dt" sz="half" idx="10"/>
          </p:nvPr>
        </p:nvSpPr>
        <p:spPr/>
        <p:txBody>
          <a:body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F27E0FC5-DC66-6BA3-3FD7-3A45B3C8F75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B46FD63-51A9-8FAA-07B9-CF2C8C85DE50}"/>
              </a:ext>
            </a:extLst>
          </p:cNvPr>
          <p:cNvSpPr>
            <a:spLocks noGrp="1"/>
          </p:cNvSpPr>
          <p:nvPr>
            <p:ph type="sldNum" sz="quarter" idx="12"/>
          </p:nvPr>
        </p:nvSpPr>
        <p:spPr/>
        <p:txBody>
          <a:bodyPr/>
          <a:lstStyle/>
          <a:p>
            <a:fld id="{70AC2B67-76B5-43AA-B7E2-981C78FA1907}" type="slidenum">
              <a:rPr lang="de-DE" smtClean="0"/>
              <a:t>‹Nr.›</a:t>
            </a:fld>
            <a:endParaRPr lang="de-DE"/>
          </a:p>
        </p:txBody>
      </p:sp>
    </p:spTree>
    <p:extLst>
      <p:ext uri="{BB962C8B-B14F-4D97-AF65-F5344CB8AC3E}">
        <p14:creationId xmlns:p14="http://schemas.microsoft.com/office/powerpoint/2010/main" val="166156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290E558-2A8B-3AC7-CC31-4E9A1965C8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7297D284-C3F4-6775-EAB4-4C8F27ECB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AB60CAF-104D-4179-B45C-F8427C0DF3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C1782D-7112-4EC7-9DAF-0C19F1061EDD}" type="datetimeFigureOut">
              <a:rPr lang="de-DE" smtClean="0"/>
              <a:t>14.10.2025</a:t>
            </a:fld>
            <a:endParaRPr lang="de-DE"/>
          </a:p>
        </p:txBody>
      </p:sp>
      <p:sp>
        <p:nvSpPr>
          <p:cNvPr id="5" name="Fußzeilenplatzhalter 4">
            <a:extLst>
              <a:ext uri="{FF2B5EF4-FFF2-40B4-BE49-F238E27FC236}">
                <a16:creationId xmlns:a16="http://schemas.microsoft.com/office/drawing/2014/main" id="{E08EDEF4-D202-644E-E6BF-6F5ABF041A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82A4496D-85BC-7E9C-E836-7376768EA9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C2B67-76B5-43AA-B7E2-981C78FA1907}" type="slidenum">
              <a:rPr lang="de-DE" smtClean="0"/>
              <a:t>‹Nr.›</a:t>
            </a:fld>
            <a:endParaRPr lang="de-DE"/>
          </a:p>
        </p:txBody>
      </p:sp>
    </p:spTree>
    <p:extLst>
      <p:ext uri="{BB962C8B-B14F-4D97-AF65-F5344CB8AC3E}">
        <p14:creationId xmlns:p14="http://schemas.microsoft.com/office/powerpoint/2010/main" val="3294014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uvsud.com/de-de/dienstleistungen/auditierung-und-zertifizierung/cyber-security-zertifizierung/iso-42001" TargetMode="External"/><Relationship Id="rId2" Type="http://schemas.openxmlformats.org/officeDocument/2006/relationships/hyperlink" Target="https://www.trail-ml.com/blog/eu-ai-act-how-risk-is-classified" TargetMode="External"/><Relationship Id="rId1" Type="http://schemas.openxmlformats.org/officeDocument/2006/relationships/slideLayout" Target="../slideLayouts/slideLayout2.xml"/><Relationship Id="rId6" Type="http://schemas.openxmlformats.org/officeDocument/2006/relationships/hyperlink" Target="https://www.bundesregierung.de/breg-de/aktuelles/ai-act-2285944" TargetMode="External"/><Relationship Id="rId5" Type="http://schemas.openxmlformats.org/officeDocument/2006/relationships/hyperlink" Target="https://www.plattform-lernende-systeme.de/files/Downloads/Publikationen/AG3_Impulspapier_290420.pdf" TargetMode="External"/><Relationship Id="rId4" Type="http://schemas.openxmlformats.org/officeDocument/2006/relationships/hyperlink" Target="https://www.iais.fraunhofer.de/de/forschung/kuenstliche-intelligenz/ki-zertifizieru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0"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4" name="Freeform: Shape 13">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5" name="Freeform: Shape 14">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el 1">
            <a:extLst>
              <a:ext uri="{FF2B5EF4-FFF2-40B4-BE49-F238E27FC236}">
                <a16:creationId xmlns:a16="http://schemas.microsoft.com/office/drawing/2014/main" id="{71A1AAEE-1CF3-3982-0BE0-7EA2ACB6B211}"/>
              </a:ext>
            </a:extLst>
          </p:cNvPr>
          <p:cNvSpPr>
            <a:spLocks noGrp="1"/>
          </p:cNvSpPr>
          <p:nvPr>
            <p:ph type="ctrTitle"/>
          </p:nvPr>
        </p:nvSpPr>
        <p:spPr>
          <a:xfrm>
            <a:off x="789708" y="666351"/>
            <a:ext cx="10558405" cy="3044335"/>
          </a:xfrm>
        </p:spPr>
        <p:txBody>
          <a:bodyPr anchor="b">
            <a:normAutofit/>
          </a:bodyPr>
          <a:lstStyle/>
          <a:p>
            <a:r>
              <a:rPr lang="de-DE" sz="4800">
                <a:solidFill>
                  <a:schemeClr val="bg1"/>
                </a:solidFill>
              </a:rPr>
              <a:t>Welche Maßnahmen sind erforderlich, um weiterhin einen sicheren Betrieb der Anlage zu ermöglichen?</a:t>
            </a:r>
          </a:p>
        </p:txBody>
      </p:sp>
    </p:spTree>
    <p:extLst>
      <p:ext uri="{BB962C8B-B14F-4D97-AF65-F5344CB8AC3E}">
        <p14:creationId xmlns:p14="http://schemas.microsoft.com/office/powerpoint/2010/main" val="22427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A69ED8-FE4C-9FA0-33E5-A7B57B3E8F02}"/>
              </a:ext>
            </a:extLst>
          </p:cNvPr>
          <p:cNvSpPr>
            <a:spLocks noGrp="1"/>
          </p:cNvSpPr>
          <p:nvPr>
            <p:ph type="title"/>
          </p:nvPr>
        </p:nvSpPr>
        <p:spPr>
          <a:xfrm>
            <a:off x="8079978" y="741391"/>
            <a:ext cx="3369234" cy="1616203"/>
          </a:xfrm>
        </p:spPr>
        <p:txBody>
          <a:bodyPr anchor="b">
            <a:normAutofit/>
          </a:bodyPr>
          <a:lstStyle/>
          <a:p>
            <a:r>
              <a:rPr lang="de-DE" sz="3200"/>
              <a:t>Befürchtungen durch KI </a:t>
            </a:r>
          </a:p>
        </p:txBody>
      </p:sp>
      <p:pic>
        <p:nvPicPr>
          <p:cNvPr id="5" name="Picture 4" descr="Zwei Personen, die einander die Hände halten">
            <a:extLst>
              <a:ext uri="{FF2B5EF4-FFF2-40B4-BE49-F238E27FC236}">
                <a16:creationId xmlns:a16="http://schemas.microsoft.com/office/drawing/2014/main" id="{9CDB6DFD-3CF3-411F-9E91-4F365A597D11}"/>
              </a:ext>
            </a:extLst>
          </p:cNvPr>
          <p:cNvPicPr>
            <a:picLocks noChangeAspect="1"/>
          </p:cNvPicPr>
          <p:nvPr/>
        </p:nvPicPr>
        <p:blipFill>
          <a:blip r:embed="rId3"/>
          <a:srcRect l="10981" r="17088" b="-1"/>
          <a:stretch>
            <a:fillRect/>
          </a:stretch>
        </p:blipFill>
        <p:spPr>
          <a:xfrm>
            <a:off x="20" y="10"/>
            <a:ext cx="7390243"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Inhaltsplatzhalter 2">
            <a:extLst>
              <a:ext uri="{FF2B5EF4-FFF2-40B4-BE49-F238E27FC236}">
                <a16:creationId xmlns:a16="http://schemas.microsoft.com/office/drawing/2014/main" id="{40002687-57A4-AC8C-0234-A3E0E433E618}"/>
              </a:ext>
            </a:extLst>
          </p:cNvPr>
          <p:cNvSpPr>
            <a:spLocks noGrp="1"/>
          </p:cNvSpPr>
          <p:nvPr>
            <p:ph idx="1"/>
          </p:nvPr>
        </p:nvSpPr>
        <p:spPr>
          <a:xfrm>
            <a:off x="8079978" y="2533476"/>
            <a:ext cx="3369234" cy="3447832"/>
          </a:xfrm>
        </p:spPr>
        <p:txBody>
          <a:bodyPr anchor="t">
            <a:normAutofit/>
          </a:bodyPr>
          <a:lstStyle/>
          <a:p>
            <a:r>
              <a:rPr lang="de-DE" sz="2000" dirty="0"/>
              <a:t>Sicherheit</a:t>
            </a:r>
          </a:p>
          <a:p>
            <a:r>
              <a:rPr lang="de-DE" sz="2000" dirty="0"/>
              <a:t>Ethische &amp; rechtliche Ansprüche</a:t>
            </a:r>
          </a:p>
          <a:p>
            <a:r>
              <a:rPr lang="de-DE" sz="2000" dirty="0"/>
              <a:t>Gesellschaftliche  &amp; ökonomische Kriterien</a:t>
            </a:r>
          </a:p>
          <a:p>
            <a:pPr marL="0" indent="0">
              <a:buNone/>
            </a:pPr>
            <a:r>
              <a:rPr lang="de-DE" sz="2000" dirty="0">
                <a:sym typeface="Wingdings" panose="05000000000000000000" pitchFamily="2" charset="2"/>
              </a:rPr>
              <a:t> Rahmenbedingungen definieren, um Vertrauen zu schaffen</a:t>
            </a:r>
            <a:endParaRPr lang="de-DE" sz="2000" dirty="0"/>
          </a:p>
          <a:p>
            <a:endParaRPr lang="de-DE" sz="2000" dirty="0"/>
          </a:p>
        </p:txBody>
      </p:sp>
    </p:spTree>
    <p:extLst>
      <p:ext uri="{BB962C8B-B14F-4D97-AF65-F5344CB8AC3E}">
        <p14:creationId xmlns:p14="http://schemas.microsoft.com/office/powerpoint/2010/main" val="3599402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el 1">
            <a:extLst>
              <a:ext uri="{FF2B5EF4-FFF2-40B4-BE49-F238E27FC236}">
                <a16:creationId xmlns:a16="http://schemas.microsoft.com/office/drawing/2014/main" id="{23D7BF8C-2C28-6642-C8D8-CFF5891A9163}"/>
              </a:ext>
            </a:extLst>
          </p:cNvPr>
          <p:cNvSpPr>
            <a:spLocks noGrp="1"/>
          </p:cNvSpPr>
          <p:nvPr>
            <p:ph type="title"/>
          </p:nvPr>
        </p:nvSpPr>
        <p:spPr>
          <a:xfrm>
            <a:off x="786385" y="841248"/>
            <a:ext cx="5129600" cy="5340097"/>
          </a:xfrm>
        </p:spPr>
        <p:txBody>
          <a:bodyPr anchor="ctr">
            <a:normAutofit/>
          </a:bodyPr>
          <a:lstStyle/>
          <a:p>
            <a:r>
              <a:rPr lang="de-DE" sz="4800">
                <a:solidFill>
                  <a:schemeClr val="bg1"/>
                </a:solidFill>
              </a:rPr>
              <a:t>Warum Zertifizierung</a:t>
            </a:r>
          </a:p>
        </p:txBody>
      </p:sp>
      <p:sp>
        <p:nvSpPr>
          <p:cNvPr id="3" name="Inhaltsplatzhalter 2">
            <a:extLst>
              <a:ext uri="{FF2B5EF4-FFF2-40B4-BE49-F238E27FC236}">
                <a16:creationId xmlns:a16="http://schemas.microsoft.com/office/drawing/2014/main" id="{7AC91F35-49CF-6ECE-B55F-07F45C2C7ABB}"/>
              </a:ext>
            </a:extLst>
          </p:cNvPr>
          <p:cNvSpPr>
            <a:spLocks noGrp="1"/>
          </p:cNvSpPr>
          <p:nvPr>
            <p:ph idx="1"/>
          </p:nvPr>
        </p:nvSpPr>
        <p:spPr>
          <a:xfrm>
            <a:off x="6464410" y="841247"/>
            <a:ext cx="4484536" cy="5340097"/>
          </a:xfrm>
        </p:spPr>
        <p:txBody>
          <a:bodyPr anchor="ctr">
            <a:normAutofit/>
          </a:bodyPr>
          <a:lstStyle/>
          <a:p>
            <a:pPr marL="0" indent="0">
              <a:buNone/>
            </a:pPr>
            <a:r>
              <a:rPr lang="de-DE" sz="1800" dirty="0">
                <a:solidFill>
                  <a:schemeClr val="tx2"/>
                </a:solidFill>
              </a:rPr>
              <a:t>Pro:</a:t>
            </a:r>
          </a:p>
          <a:p>
            <a:pPr lvl="1"/>
            <a:r>
              <a:rPr lang="de-DE" sz="1400" dirty="0">
                <a:solidFill>
                  <a:schemeClr val="tx2"/>
                </a:solidFill>
              </a:rPr>
              <a:t>Orientierungsgrundlage</a:t>
            </a:r>
          </a:p>
          <a:p>
            <a:pPr lvl="1"/>
            <a:r>
              <a:rPr lang="de-DE" sz="1400" dirty="0">
                <a:solidFill>
                  <a:schemeClr val="tx2"/>
                </a:solidFill>
              </a:rPr>
              <a:t>Vertrauensbildend</a:t>
            </a:r>
          </a:p>
          <a:p>
            <a:pPr lvl="1"/>
            <a:r>
              <a:rPr lang="de-DE" sz="1400" dirty="0">
                <a:solidFill>
                  <a:schemeClr val="tx2"/>
                </a:solidFill>
              </a:rPr>
              <a:t>Vermeidung unerwünschter Konsequenzen</a:t>
            </a:r>
          </a:p>
          <a:p>
            <a:pPr lvl="1"/>
            <a:r>
              <a:rPr lang="de-DE" sz="1400" dirty="0">
                <a:solidFill>
                  <a:schemeClr val="tx2"/>
                </a:solidFill>
              </a:rPr>
              <a:t>Fördert fairen Wettbewerb</a:t>
            </a:r>
          </a:p>
          <a:p>
            <a:endParaRPr lang="de-DE" sz="1800" dirty="0">
              <a:solidFill>
                <a:schemeClr val="tx2"/>
              </a:solidFill>
            </a:endParaRPr>
          </a:p>
          <a:p>
            <a:pPr marL="0" indent="0">
              <a:buNone/>
            </a:pPr>
            <a:r>
              <a:rPr lang="de-DE" sz="1800" dirty="0">
                <a:solidFill>
                  <a:schemeClr val="tx2"/>
                </a:solidFill>
              </a:rPr>
              <a:t>Contra:</a:t>
            </a:r>
          </a:p>
          <a:p>
            <a:pPr lvl="1"/>
            <a:r>
              <a:rPr lang="de-DE" sz="1400" dirty="0">
                <a:solidFill>
                  <a:schemeClr val="tx2"/>
                </a:solidFill>
              </a:rPr>
              <a:t>Kann Innovationen / Potenzial einschränken</a:t>
            </a:r>
          </a:p>
        </p:txBody>
      </p:sp>
    </p:spTree>
    <p:extLst>
      <p:ext uri="{BB962C8B-B14F-4D97-AF65-F5344CB8AC3E}">
        <p14:creationId xmlns:p14="http://schemas.microsoft.com/office/powerpoint/2010/main" val="2768844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782A9BE-FEF9-CED1-5566-5812EC386B6B}"/>
              </a:ext>
            </a:extLst>
          </p:cNvPr>
          <p:cNvSpPr>
            <a:spLocks noGrp="1"/>
          </p:cNvSpPr>
          <p:nvPr>
            <p:ph type="title"/>
          </p:nvPr>
        </p:nvSpPr>
        <p:spPr>
          <a:xfrm>
            <a:off x="1188069" y="381935"/>
            <a:ext cx="9356106" cy="1200329"/>
          </a:xfrm>
        </p:spPr>
        <p:txBody>
          <a:bodyPr anchor="t">
            <a:normAutofit/>
          </a:bodyPr>
          <a:lstStyle/>
          <a:p>
            <a:r>
              <a:rPr lang="de-DE" dirty="0"/>
              <a:t>Herausforderungen bei der Zertifizierung</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Inhaltsplatzhalter 2">
            <a:extLst>
              <a:ext uri="{FF2B5EF4-FFF2-40B4-BE49-F238E27FC236}">
                <a16:creationId xmlns:a16="http://schemas.microsoft.com/office/drawing/2014/main" id="{D193221C-13AF-E22A-D3D8-31AD6DD37915}"/>
              </a:ext>
            </a:extLst>
          </p:cNvPr>
          <p:cNvGraphicFramePr>
            <a:graphicFrameLocks noGrp="1"/>
          </p:cNvGraphicFramePr>
          <p:nvPr>
            <p:ph idx="1"/>
            <p:extLst>
              <p:ext uri="{D42A27DB-BD31-4B8C-83A1-F6EECF244321}">
                <p14:modId xmlns:p14="http://schemas.microsoft.com/office/powerpoint/2010/main" val="1687221320"/>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014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5" name="Group 1034">
            <a:extLst>
              <a:ext uri="{FF2B5EF4-FFF2-40B4-BE49-F238E27FC236}">
                <a16:creationId xmlns:a16="http://schemas.microsoft.com/office/drawing/2014/main" id="{E56E71F1-5A87-4A96-B42F-2DFA1B766B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036" name="Color Cover">
              <a:extLst>
                <a:ext uri="{FF2B5EF4-FFF2-40B4-BE49-F238E27FC236}">
                  <a16:creationId xmlns:a16="http://schemas.microsoft.com/office/drawing/2014/main" id="{CF5215DD-02E8-49F2-8F73-D509B6A02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Color Cover">
              <a:extLst>
                <a:ext uri="{FF2B5EF4-FFF2-40B4-BE49-F238E27FC236}">
                  <a16:creationId xmlns:a16="http://schemas.microsoft.com/office/drawing/2014/main" id="{8E743EB7-3A15-4D51-A603-1F3C290AA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39" name="Group 1038">
            <a:extLst>
              <a:ext uri="{FF2B5EF4-FFF2-40B4-BE49-F238E27FC236}">
                <a16:creationId xmlns:a16="http://schemas.microsoft.com/office/drawing/2014/main" id="{C733FE3C-12C4-4FA2-A795-87D2F6776A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040" name="Color">
              <a:extLst>
                <a:ext uri="{FF2B5EF4-FFF2-40B4-BE49-F238E27FC236}">
                  <a16:creationId xmlns:a16="http://schemas.microsoft.com/office/drawing/2014/main" id="{66F1E4BF-D491-4254-81A6-5119D1672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5" name="Color">
              <a:extLst>
                <a:ext uri="{FF2B5EF4-FFF2-40B4-BE49-F238E27FC236}">
                  <a16:creationId xmlns:a16="http://schemas.microsoft.com/office/drawing/2014/main" id="{98C6C0CF-E3BD-4627-9DDF-246EAF2D4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6" name="Picture 2">
            <a:extLst>
              <a:ext uri="{FF2B5EF4-FFF2-40B4-BE49-F238E27FC236}">
                <a16:creationId xmlns:a16="http://schemas.microsoft.com/office/drawing/2014/main" id="{CFEB4A58-DE5E-8EA0-E71F-E86AA78031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59" r="62589" b="2"/>
          <a:stretch>
            <a:fillRect/>
          </a:stretch>
        </p:blipFill>
        <p:spPr bwMode="auto">
          <a:xfrm>
            <a:off x="7082810" y="841663"/>
            <a:ext cx="4166151" cy="5185923"/>
          </a:xfrm>
          <a:prstGeom prst="rect">
            <a:avLst/>
          </a:prstGeom>
          <a:noFill/>
          <a:extLst>
            <a:ext uri="{909E8E84-426E-40DD-AFC4-6F175D3DCCD1}">
              <a14:hiddenFill xmlns:a14="http://schemas.microsoft.com/office/drawing/2010/main">
                <a:solidFill>
                  <a:srgbClr val="FFFFFF"/>
                </a:solidFill>
              </a14:hiddenFill>
            </a:ext>
          </a:extLst>
        </p:spPr>
      </p:pic>
      <p:grpSp>
        <p:nvGrpSpPr>
          <p:cNvPr id="1056" name="Group 1042">
            <a:extLst>
              <a:ext uri="{FF2B5EF4-FFF2-40B4-BE49-F238E27FC236}">
                <a16:creationId xmlns:a16="http://schemas.microsoft.com/office/drawing/2014/main" id="{0C2B5F12-8A82-4A59-9400-3164CBF47F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52" cy="6858000"/>
            <a:chOff x="0" y="0"/>
            <a:chExt cx="12188952" cy="6858000"/>
          </a:xfrm>
        </p:grpSpPr>
        <p:sp>
          <p:nvSpPr>
            <p:cNvPr id="1057" name="Freeform: Shape 1043">
              <a:extLst>
                <a:ext uri="{FF2B5EF4-FFF2-40B4-BE49-F238E27FC236}">
                  <a16:creationId xmlns:a16="http://schemas.microsoft.com/office/drawing/2014/main" id="{574BC7CB-EC69-421D-B286-57CAFE86D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44">
              <a:extLst>
                <a:ext uri="{FF2B5EF4-FFF2-40B4-BE49-F238E27FC236}">
                  <a16:creationId xmlns:a16="http://schemas.microsoft.com/office/drawing/2014/main" id="{82D86EA2-D090-4E0C-B153-3ECE91311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Freeform: Shape 1045">
              <a:extLst>
                <a:ext uri="{FF2B5EF4-FFF2-40B4-BE49-F238E27FC236}">
                  <a16:creationId xmlns:a16="http://schemas.microsoft.com/office/drawing/2014/main" id="{4AC29764-D054-4F76-9FE5-49811EDB6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Freeform: Shape 1046">
              <a:extLst>
                <a:ext uri="{FF2B5EF4-FFF2-40B4-BE49-F238E27FC236}">
                  <a16:creationId xmlns:a16="http://schemas.microsoft.com/office/drawing/2014/main" id="{4D9BB18B-7B57-4D1E-B87E-D2A7214F7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47">
              <a:extLst>
                <a:ext uri="{FF2B5EF4-FFF2-40B4-BE49-F238E27FC236}">
                  <a16:creationId xmlns:a16="http://schemas.microsoft.com/office/drawing/2014/main" id="{C0A98EF1-1185-4EFF-A3C0-25DEBE8CD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Freeform: Shape 1048">
              <a:extLst>
                <a:ext uri="{FF2B5EF4-FFF2-40B4-BE49-F238E27FC236}">
                  <a16:creationId xmlns:a16="http://schemas.microsoft.com/office/drawing/2014/main" id="{ACDA8723-DE3F-48D0-8822-0269EE207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49">
              <a:extLst>
                <a:ext uri="{FF2B5EF4-FFF2-40B4-BE49-F238E27FC236}">
                  <a16:creationId xmlns:a16="http://schemas.microsoft.com/office/drawing/2014/main" id="{22B072E5-03AC-4D0A-A767-43EFB55BE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el 1">
            <a:extLst>
              <a:ext uri="{FF2B5EF4-FFF2-40B4-BE49-F238E27FC236}">
                <a16:creationId xmlns:a16="http://schemas.microsoft.com/office/drawing/2014/main" id="{FAB151E6-E90F-BCBD-C5EA-354FB00084A2}"/>
              </a:ext>
            </a:extLst>
          </p:cNvPr>
          <p:cNvSpPr>
            <a:spLocks noGrp="1"/>
          </p:cNvSpPr>
          <p:nvPr>
            <p:ph type="title"/>
          </p:nvPr>
        </p:nvSpPr>
        <p:spPr>
          <a:xfrm>
            <a:off x="1014984" y="819015"/>
            <a:ext cx="5821537" cy="2353362"/>
          </a:xfrm>
        </p:spPr>
        <p:txBody>
          <a:bodyPr anchor="b">
            <a:normAutofit/>
          </a:bodyPr>
          <a:lstStyle/>
          <a:p>
            <a:r>
              <a:rPr lang="de-DE" sz="4800">
                <a:solidFill>
                  <a:schemeClr val="bg1"/>
                </a:solidFill>
              </a:rPr>
              <a:t>Handlungsfelder der Zertifizierung</a:t>
            </a:r>
          </a:p>
        </p:txBody>
      </p:sp>
      <p:sp>
        <p:nvSpPr>
          <p:cNvPr id="1030" name="Content Placeholder 1029">
            <a:extLst>
              <a:ext uri="{FF2B5EF4-FFF2-40B4-BE49-F238E27FC236}">
                <a16:creationId xmlns:a16="http://schemas.microsoft.com/office/drawing/2014/main" id="{D6B67101-32B5-5B39-14AC-D8299E0B442B}"/>
              </a:ext>
            </a:extLst>
          </p:cNvPr>
          <p:cNvSpPr>
            <a:spLocks noGrp="1"/>
          </p:cNvSpPr>
          <p:nvPr>
            <p:ph idx="1"/>
          </p:nvPr>
        </p:nvSpPr>
        <p:spPr>
          <a:xfrm>
            <a:off x="1014984" y="3442089"/>
            <a:ext cx="5821537" cy="2596896"/>
          </a:xfrm>
        </p:spPr>
        <p:txBody>
          <a:bodyPr anchor="t">
            <a:normAutofit/>
          </a:bodyPr>
          <a:lstStyle/>
          <a:p>
            <a:endParaRPr lang="en-US" sz="1800">
              <a:solidFill>
                <a:schemeClr val="bg1"/>
              </a:solidFill>
            </a:endParaRPr>
          </a:p>
        </p:txBody>
      </p:sp>
    </p:spTree>
    <p:extLst>
      <p:ext uri="{BB962C8B-B14F-4D97-AF65-F5344CB8AC3E}">
        <p14:creationId xmlns:p14="http://schemas.microsoft.com/office/powerpoint/2010/main" val="135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5" name="Group 1034">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036"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6" name="Picture 2" descr="There are four risk classes in the EU AI Act: Unacceptable, high, limited and minimal risk. Each level is obliged to different rules.">
            <a:extLst>
              <a:ext uri="{FF2B5EF4-FFF2-40B4-BE49-F238E27FC236}">
                <a16:creationId xmlns:a16="http://schemas.microsoft.com/office/drawing/2014/main" id="{021D0EBD-DBC5-7AAD-6D7F-C46BDAFA8D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349" t="8623" r="29261" b="16785"/>
          <a:stretch>
            <a:fillRect/>
          </a:stretch>
        </p:blipFill>
        <p:spPr bwMode="auto">
          <a:xfrm>
            <a:off x="6257549" y="3685328"/>
            <a:ext cx="2792164" cy="2751506"/>
          </a:xfrm>
          <a:prstGeom prst="rect">
            <a:avLst/>
          </a:prstGeom>
          <a:noFill/>
          <a:extLst>
            <a:ext uri="{909E8E84-426E-40DD-AFC4-6F175D3DCCD1}">
              <a14:hiddenFill xmlns:a14="http://schemas.microsoft.com/office/drawing/2010/main">
                <a:solidFill>
                  <a:srgbClr val="FFFFFF"/>
                </a:solidFill>
              </a14:hiddenFill>
            </a:ext>
          </a:extLst>
        </p:spPr>
      </p:pic>
      <p:grpSp>
        <p:nvGrpSpPr>
          <p:cNvPr id="1039" name="Group 1038">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040" name="Freeform: Shape 1039">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1" name="Freeform: Shape 1040">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2" name="Freeform: Shape 1041">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3" name="Freeform: Shape 1042">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4" name="Freeform: Shape 1043">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5" name="Freeform: Shape 1044">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46" name="Freeform: Shape 1045">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el 1">
            <a:extLst>
              <a:ext uri="{FF2B5EF4-FFF2-40B4-BE49-F238E27FC236}">
                <a16:creationId xmlns:a16="http://schemas.microsoft.com/office/drawing/2014/main" id="{865893E1-6756-B671-901A-6DA987EECFF9}"/>
              </a:ext>
            </a:extLst>
          </p:cNvPr>
          <p:cNvSpPr>
            <a:spLocks noGrp="1"/>
          </p:cNvSpPr>
          <p:nvPr>
            <p:ph type="title"/>
          </p:nvPr>
        </p:nvSpPr>
        <p:spPr>
          <a:xfrm>
            <a:off x="786384" y="841249"/>
            <a:ext cx="5692953" cy="2587131"/>
          </a:xfrm>
        </p:spPr>
        <p:txBody>
          <a:bodyPr anchor="b">
            <a:normAutofit/>
          </a:bodyPr>
          <a:lstStyle/>
          <a:p>
            <a:r>
              <a:rPr lang="de-DE" sz="4800">
                <a:solidFill>
                  <a:schemeClr val="bg1"/>
                </a:solidFill>
              </a:rPr>
              <a:t>Was gibt es heute für Möglichkeiten</a:t>
            </a:r>
          </a:p>
        </p:txBody>
      </p:sp>
      <p:sp>
        <p:nvSpPr>
          <p:cNvPr id="3" name="Inhaltsplatzhalter 2">
            <a:extLst>
              <a:ext uri="{FF2B5EF4-FFF2-40B4-BE49-F238E27FC236}">
                <a16:creationId xmlns:a16="http://schemas.microsoft.com/office/drawing/2014/main" id="{E6CDB4EB-AB49-0810-5880-D1B06C738B29}"/>
              </a:ext>
            </a:extLst>
          </p:cNvPr>
          <p:cNvSpPr>
            <a:spLocks noGrp="1"/>
          </p:cNvSpPr>
          <p:nvPr>
            <p:ph idx="1"/>
          </p:nvPr>
        </p:nvSpPr>
        <p:spPr>
          <a:xfrm>
            <a:off x="786383" y="3566810"/>
            <a:ext cx="5692953" cy="2651110"/>
          </a:xfrm>
        </p:spPr>
        <p:txBody>
          <a:bodyPr anchor="ctr">
            <a:normAutofit/>
          </a:bodyPr>
          <a:lstStyle/>
          <a:p>
            <a:r>
              <a:rPr lang="de-DE" sz="1800">
                <a:solidFill>
                  <a:schemeClr val="tx2"/>
                </a:solidFill>
              </a:rPr>
              <a:t>ISO 42001-Zertifizierung</a:t>
            </a:r>
          </a:p>
          <a:p>
            <a:r>
              <a:rPr lang="de-DE" sz="1800">
                <a:solidFill>
                  <a:schemeClr val="tx2"/>
                </a:solidFill>
              </a:rPr>
              <a:t>EU AI Act</a:t>
            </a:r>
          </a:p>
        </p:txBody>
      </p:sp>
      <p:sp>
        <p:nvSpPr>
          <p:cNvPr id="4" name="Textfeld 3">
            <a:extLst>
              <a:ext uri="{FF2B5EF4-FFF2-40B4-BE49-F238E27FC236}">
                <a16:creationId xmlns:a16="http://schemas.microsoft.com/office/drawing/2014/main" id="{8CAB4243-C801-AE1A-E881-E9A20F9E1C95}"/>
              </a:ext>
            </a:extLst>
          </p:cNvPr>
          <p:cNvSpPr txBox="1"/>
          <p:nvPr/>
        </p:nvSpPr>
        <p:spPr>
          <a:xfrm>
            <a:off x="9210674" y="4096945"/>
            <a:ext cx="2466975" cy="369332"/>
          </a:xfrm>
          <a:prstGeom prst="rect">
            <a:avLst/>
          </a:prstGeom>
          <a:noFill/>
        </p:spPr>
        <p:txBody>
          <a:bodyPr wrap="square" rtlCol="0">
            <a:spAutoFit/>
          </a:bodyPr>
          <a:lstStyle/>
          <a:p>
            <a:r>
              <a:rPr lang="de-DE" dirty="0" err="1"/>
              <a:t>Unacceptable</a:t>
            </a:r>
            <a:r>
              <a:rPr lang="de-DE" dirty="0"/>
              <a:t> Risk</a:t>
            </a:r>
          </a:p>
        </p:txBody>
      </p:sp>
      <p:sp>
        <p:nvSpPr>
          <p:cNvPr id="5" name="Textfeld 4">
            <a:extLst>
              <a:ext uri="{FF2B5EF4-FFF2-40B4-BE49-F238E27FC236}">
                <a16:creationId xmlns:a16="http://schemas.microsoft.com/office/drawing/2014/main" id="{2C5141F0-C2FC-0452-CF59-DD1BF58B8F33}"/>
              </a:ext>
            </a:extLst>
          </p:cNvPr>
          <p:cNvSpPr txBox="1"/>
          <p:nvPr/>
        </p:nvSpPr>
        <p:spPr>
          <a:xfrm>
            <a:off x="5106363" y="4575111"/>
            <a:ext cx="2466975" cy="369332"/>
          </a:xfrm>
          <a:prstGeom prst="rect">
            <a:avLst/>
          </a:prstGeom>
          <a:noFill/>
        </p:spPr>
        <p:txBody>
          <a:bodyPr wrap="square" rtlCol="0">
            <a:spAutoFit/>
          </a:bodyPr>
          <a:lstStyle/>
          <a:p>
            <a:r>
              <a:rPr lang="de-DE" dirty="0"/>
              <a:t>High Risk</a:t>
            </a:r>
          </a:p>
        </p:txBody>
      </p:sp>
      <p:sp>
        <p:nvSpPr>
          <p:cNvPr id="6" name="Textfeld 5">
            <a:extLst>
              <a:ext uri="{FF2B5EF4-FFF2-40B4-BE49-F238E27FC236}">
                <a16:creationId xmlns:a16="http://schemas.microsoft.com/office/drawing/2014/main" id="{4F2A81C0-5A3C-2ACA-E6F1-C06F29324E17}"/>
              </a:ext>
            </a:extLst>
          </p:cNvPr>
          <p:cNvSpPr txBox="1"/>
          <p:nvPr/>
        </p:nvSpPr>
        <p:spPr>
          <a:xfrm>
            <a:off x="4763608" y="5505972"/>
            <a:ext cx="2466975" cy="369332"/>
          </a:xfrm>
          <a:prstGeom prst="rect">
            <a:avLst/>
          </a:prstGeom>
          <a:noFill/>
        </p:spPr>
        <p:txBody>
          <a:bodyPr wrap="square" rtlCol="0">
            <a:spAutoFit/>
          </a:bodyPr>
          <a:lstStyle/>
          <a:p>
            <a:r>
              <a:rPr lang="de-DE" dirty="0"/>
              <a:t>Minimal Risk</a:t>
            </a:r>
          </a:p>
        </p:txBody>
      </p:sp>
      <p:sp>
        <p:nvSpPr>
          <p:cNvPr id="7" name="Textfeld 6">
            <a:extLst>
              <a:ext uri="{FF2B5EF4-FFF2-40B4-BE49-F238E27FC236}">
                <a16:creationId xmlns:a16="http://schemas.microsoft.com/office/drawing/2014/main" id="{83630149-1F35-AAC7-E2F1-76A84DBDF6D1}"/>
              </a:ext>
            </a:extLst>
          </p:cNvPr>
          <p:cNvSpPr txBox="1"/>
          <p:nvPr/>
        </p:nvSpPr>
        <p:spPr>
          <a:xfrm>
            <a:off x="9210674" y="4996276"/>
            <a:ext cx="2466975" cy="369332"/>
          </a:xfrm>
          <a:prstGeom prst="rect">
            <a:avLst/>
          </a:prstGeom>
          <a:noFill/>
        </p:spPr>
        <p:txBody>
          <a:bodyPr wrap="square" rtlCol="0">
            <a:spAutoFit/>
          </a:bodyPr>
          <a:lstStyle/>
          <a:p>
            <a:r>
              <a:rPr lang="de-DE" dirty="0"/>
              <a:t>Limited Risk</a:t>
            </a:r>
          </a:p>
        </p:txBody>
      </p:sp>
    </p:spTree>
    <p:extLst>
      <p:ext uri="{BB962C8B-B14F-4D97-AF65-F5344CB8AC3E}">
        <p14:creationId xmlns:p14="http://schemas.microsoft.com/office/powerpoint/2010/main" val="3133963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DDC260-DE99-7C68-532F-9579B10114B2}"/>
            </a:ext>
          </a:extLst>
        </p:cNvPr>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4"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el 1">
            <a:extLst>
              <a:ext uri="{FF2B5EF4-FFF2-40B4-BE49-F238E27FC236}">
                <a16:creationId xmlns:a16="http://schemas.microsoft.com/office/drawing/2014/main" id="{493F47BE-BD1A-B95E-A7A8-457E6E7ED5F9}"/>
              </a:ext>
            </a:extLst>
          </p:cNvPr>
          <p:cNvSpPr>
            <a:spLocks noGrp="1"/>
          </p:cNvSpPr>
          <p:nvPr>
            <p:ph type="ctrTitle"/>
          </p:nvPr>
        </p:nvSpPr>
        <p:spPr>
          <a:xfrm>
            <a:off x="786385" y="841248"/>
            <a:ext cx="5129600" cy="5340097"/>
          </a:xfrm>
        </p:spPr>
        <p:txBody>
          <a:bodyPr vert="horz" lIns="91440" tIns="45720" rIns="91440" bIns="45720" rtlCol="0" anchor="ctr">
            <a:normAutofit/>
          </a:bodyPr>
          <a:lstStyle/>
          <a:p>
            <a:pPr algn="l"/>
            <a:r>
              <a:rPr lang="en-US" sz="4800" kern="1200">
                <a:solidFill>
                  <a:schemeClr val="bg1"/>
                </a:solidFill>
                <a:latin typeface="+mj-lt"/>
                <a:ea typeface="+mj-ea"/>
                <a:cs typeface="+mj-cs"/>
              </a:rPr>
              <a:t>Welche Maßnahmen sind erforderlich, um weiterhin einen sicheren Betrieb der Anlage zu ermöglichen?</a:t>
            </a:r>
          </a:p>
        </p:txBody>
      </p:sp>
      <p:graphicFrame>
        <p:nvGraphicFramePr>
          <p:cNvPr id="5" name="Textfeld 2">
            <a:extLst>
              <a:ext uri="{FF2B5EF4-FFF2-40B4-BE49-F238E27FC236}">
                <a16:creationId xmlns:a16="http://schemas.microsoft.com/office/drawing/2014/main" id="{9791D538-E834-7875-4E00-1E9DB71CBD56}"/>
              </a:ext>
            </a:extLst>
          </p:cNvPr>
          <p:cNvGraphicFramePr/>
          <p:nvPr>
            <p:extLst>
              <p:ext uri="{D42A27DB-BD31-4B8C-83A1-F6EECF244321}">
                <p14:modId xmlns:p14="http://schemas.microsoft.com/office/powerpoint/2010/main" val="3390789452"/>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1886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D0905D-F3C1-12D8-DBDF-626EDBCDC278}"/>
              </a:ext>
            </a:extLst>
          </p:cNvPr>
          <p:cNvSpPr>
            <a:spLocks noGrp="1"/>
          </p:cNvSpPr>
          <p:nvPr>
            <p:ph type="title"/>
          </p:nvPr>
        </p:nvSpPr>
        <p:spPr/>
        <p:txBody>
          <a:bodyPr/>
          <a:lstStyle/>
          <a:p>
            <a:r>
              <a:rPr lang="de-DE" dirty="0"/>
              <a:t>Quellen</a:t>
            </a:r>
          </a:p>
        </p:txBody>
      </p:sp>
      <p:sp>
        <p:nvSpPr>
          <p:cNvPr id="3" name="Inhaltsplatzhalter 2">
            <a:extLst>
              <a:ext uri="{FF2B5EF4-FFF2-40B4-BE49-F238E27FC236}">
                <a16:creationId xmlns:a16="http://schemas.microsoft.com/office/drawing/2014/main" id="{FFD758CA-047F-DE97-B63F-86B873273CCF}"/>
              </a:ext>
            </a:extLst>
          </p:cNvPr>
          <p:cNvSpPr>
            <a:spLocks noGrp="1"/>
          </p:cNvSpPr>
          <p:nvPr>
            <p:ph idx="1"/>
          </p:nvPr>
        </p:nvSpPr>
        <p:spPr/>
        <p:txBody>
          <a:bodyPr/>
          <a:lstStyle/>
          <a:p>
            <a:r>
              <a:rPr lang="de-DE" dirty="0">
                <a:hlinkClick r:id="rId2"/>
              </a:rPr>
              <a:t>https://www.trail-ml.com/blog/eu-ai-act-how-risk-is-classified</a:t>
            </a:r>
            <a:endParaRPr lang="de-DE" dirty="0"/>
          </a:p>
          <a:p>
            <a:r>
              <a:rPr lang="de-DE" dirty="0">
                <a:hlinkClick r:id="rId3"/>
              </a:rPr>
              <a:t>https://www.tuvsud.com/de-de/dienstleistungen/auditierung-und-zertifizierung/cyber-security-zertifizierung/iso-42001</a:t>
            </a:r>
            <a:r>
              <a:rPr lang="de-DE" dirty="0"/>
              <a:t> </a:t>
            </a:r>
          </a:p>
          <a:p>
            <a:r>
              <a:rPr lang="de-DE" dirty="0">
                <a:hlinkClick r:id="rId4"/>
              </a:rPr>
              <a:t>https://www.iais.fraunhofer.de/de/forschung/kuenstliche-intelligenz/ki-zertifizierung.html</a:t>
            </a:r>
            <a:r>
              <a:rPr lang="de-DE" dirty="0"/>
              <a:t> (+Whitepaper)</a:t>
            </a:r>
          </a:p>
          <a:p>
            <a:r>
              <a:rPr lang="de-DE" dirty="0">
                <a:hlinkClick r:id="rId5"/>
              </a:rPr>
              <a:t>AG3_Impulspapier_290420.pdf</a:t>
            </a:r>
            <a:endParaRPr lang="de-DE" dirty="0"/>
          </a:p>
          <a:p>
            <a:r>
              <a:rPr lang="de-DE" dirty="0">
                <a:hlinkClick r:id="rId6"/>
              </a:rPr>
              <a:t>EU verabschiedet erstes KI-Gesetz weltweit | Bundesregierung</a:t>
            </a:r>
            <a:endParaRPr lang="de-DE" dirty="0"/>
          </a:p>
        </p:txBody>
      </p:sp>
    </p:spTree>
    <p:extLst>
      <p:ext uri="{BB962C8B-B14F-4D97-AF65-F5344CB8AC3E}">
        <p14:creationId xmlns:p14="http://schemas.microsoft.com/office/powerpoint/2010/main" val="47181493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1403</Words>
  <Application>Microsoft Office PowerPoint</Application>
  <PresentationFormat>Breitbild</PresentationFormat>
  <Paragraphs>81</Paragraphs>
  <Slides>8</Slides>
  <Notes>7</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Aptos</vt:lpstr>
      <vt:lpstr>Aptos Display</vt:lpstr>
      <vt:lpstr>Arial</vt:lpstr>
      <vt:lpstr>Wingdings</vt:lpstr>
      <vt:lpstr>Office</vt:lpstr>
      <vt:lpstr>Welche Maßnahmen sind erforderlich, um weiterhin einen sicheren Betrieb der Anlage zu ermöglichen?</vt:lpstr>
      <vt:lpstr>Befürchtungen durch KI </vt:lpstr>
      <vt:lpstr>Warum Zertifizierung</vt:lpstr>
      <vt:lpstr>Herausforderungen bei der Zertifizierung</vt:lpstr>
      <vt:lpstr>Handlungsfelder der Zertifizierung</vt:lpstr>
      <vt:lpstr>Was gibt es heute für Möglichkeiten</vt:lpstr>
      <vt:lpstr>Welche Maßnahmen sind erforderlich, um weiterhin einen sicheren Betrieb der Anlage zu ermöglichen?</vt:lpstr>
      <vt:lpstr>Quellen</vt:lpstr>
    </vt:vector>
  </TitlesOfParts>
  <Company>Beckhoff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Celina Timmer</dc:creator>
  <cp:lastModifiedBy>Celina Timmer</cp:lastModifiedBy>
  <cp:revision>4</cp:revision>
  <dcterms:created xsi:type="dcterms:W3CDTF">2025-10-13T12:37:40Z</dcterms:created>
  <dcterms:modified xsi:type="dcterms:W3CDTF">2025-10-14T13:20:50Z</dcterms:modified>
</cp:coreProperties>
</file>
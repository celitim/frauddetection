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93" r:id="rId2"/>
    <p:sldId id="294" r:id="rId3"/>
    <p:sldId id="295" r:id="rId4"/>
    <p:sldId id="284" r:id="rId5"/>
    <p:sldId id="285" r:id="rId6"/>
    <p:sldId id="286" r:id="rId7"/>
    <p:sldId id="287" r:id="rId8"/>
    <p:sldId id="288" r:id="rId9"/>
    <p:sldId id="289" r:id="rId10"/>
    <p:sldId id="290" r:id="rId11"/>
    <p:sldId id="291" r:id="rId12"/>
    <p:sldId id="292" r:id="rId13"/>
    <p:sldId id="296" r:id="rId14"/>
    <p:sldId id="262" r:id="rId15"/>
    <p:sldId id="258" r:id="rId16"/>
    <p:sldId id="272" r:id="rId17"/>
    <p:sldId id="259" r:id="rId18"/>
    <p:sldId id="269" r:id="rId19"/>
    <p:sldId id="270" r:id="rId20"/>
    <p:sldId id="260" r:id="rId21"/>
    <p:sldId id="271" r:id="rId22"/>
    <p:sldId id="261" r:id="rId23"/>
    <p:sldId id="273" r:id="rId24"/>
    <p:sldId id="263" r:id="rId25"/>
    <p:sldId id="264" r:id="rId26"/>
    <p:sldId id="267" r:id="rId27"/>
    <p:sldId id="265" r:id="rId28"/>
    <p:sldId id="274" r:id="rId29"/>
    <p:sldId id="266" r:id="rId30"/>
    <p:sldId id="297" r:id="rId31"/>
    <p:sldId id="275" r:id="rId32"/>
    <p:sldId id="276" r:id="rId33"/>
    <p:sldId id="277" r:id="rId34"/>
    <p:sldId id="278" r:id="rId35"/>
    <p:sldId id="279" r:id="rId36"/>
    <p:sldId id="280" r:id="rId37"/>
    <p:sldId id="281" r:id="rId38"/>
    <p:sldId id="282" r:id="rId3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78D6F4-1611-4473-A32A-0C24B94E2771}" v="441" dt="2025-10-15T15:51:31.855"/>
    <p1510:client id="{8D4C125A-6A07-F3C2-C935-7501FA9FC09C}" v="68" dt="2025-10-15T15:39:24.603"/>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52810" autoAdjust="0"/>
  </p:normalViewPr>
  <p:slideViewPr>
    <p:cSldViewPr snapToGrid="0">
      <p:cViewPr varScale="1">
        <p:scale>
          <a:sx n="43" d="100"/>
          <a:sy n="43" d="100"/>
        </p:scale>
        <p:origin x="2131" y="53"/>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649499-B5A5-43F8-BAC7-0B4BB199B76F}" type="doc">
      <dgm:prSet loTypeId="urn:microsoft.com/office/officeart/2005/8/layout/matrix2" loCatId="matrix" qsTypeId="urn:microsoft.com/office/officeart/2005/8/quickstyle/simple1" qsCatId="simple" csTypeId="urn:microsoft.com/office/officeart/2005/8/colors/colorful1" csCatId="colorful"/>
      <dgm:spPr/>
      <dgm:t>
        <a:bodyPr/>
        <a:lstStyle/>
        <a:p>
          <a:endParaRPr lang="en-US"/>
        </a:p>
      </dgm:t>
    </dgm:pt>
    <dgm:pt modelId="{0D68753C-6F93-4454-A9CF-540143EE749C}">
      <dgm:prSet/>
      <dgm:spPr/>
      <dgm:t>
        <a:bodyPr/>
        <a:lstStyle/>
        <a:p>
          <a:r>
            <a:rPr lang="de-DE"/>
            <a:t>KI ist teilweise „unberechenbar“ bzw. hat hohe Dynamik</a:t>
          </a:r>
          <a:endParaRPr lang="en-US"/>
        </a:p>
      </dgm:t>
    </dgm:pt>
    <dgm:pt modelId="{7170CA50-C8FA-4F98-A972-D14CB56288B0}" type="parTrans" cxnId="{A4D4EB86-DB27-46EE-956D-653566E47530}">
      <dgm:prSet/>
      <dgm:spPr/>
      <dgm:t>
        <a:bodyPr/>
        <a:lstStyle/>
        <a:p>
          <a:endParaRPr lang="en-US"/>
        </a:p>
      </dgm:t>
    </dgm:pt>
    <dgm:pt modelId="{DAEF1331-E0D3-42F2-B0D7-7C621601CA0F}" type="sibTrans" cxnId="{A4D4EB86-DB27-46EE-956D-653566E47530}">
      <dgm:prSet/>
      <dgm:spPr/>
      <dgm:t>
        <a:bodyPr/>
        <a:lstStyle/>
        <a:p>
          <a:endParaRPr lang="en-US"/>
        </a:p>
      </dgm:t>
    </dgm:pt>
    <dgm:pt modelId="{68064AE2-DDAD-417C-8389-080B75BB37FE}">
      <dgm:prSet/>
      <dgm:spPr/>
      <dgm:t>
        <a:bodyPr/>
        <a:lstStyle/>
        <a:p>
          <a:r>
            <a:rPr lang="de-DE"/>
            <a:t>Komplexität (Black-Box Problem)</a:t>
          </a:r>
          <a:endParaRPr lang="en-US"/>
        </a:p>
      </dgm:t>
    </dgm:pt>
    <dgm:pt modelId="{E4A46AA6-F7B3-469B-8310-C3318BFCCFAD}" type="parTrans" cxnId="{47BE944A-3985-4F49-A5AD-E10A582E665B}">
      <dgm:prSet/>
      <dgm:spPr/>
      <dgm:t>
        <a:bodyPr/>
        <a:lstStyle/>
        <a:p>
          <a:endParaRPr lang="en-US"/>
        </a:p>
      </dgm:t>
    </dgm:pt>
    <dgm:pt modelId="{47294AC1-B853-4F19-A0E4-DBAAA7398AED}" type="sibTrans" cxnId="{47BE944A-3985-4F49-A5AD-E10A582E665B}">
      <dgm:prSet/>
      <dgm:spPr/>
      <dgm:t>
        <a:bodyPr/>
        <a:lstStyle/>
        <a:p>
          <a:endParaRPr lang="en-US"/>
        </a:p>
      </dgm:t>
    </dgm:pt>
    <dgm:pt modelId="{E384336A-1F23-492B-9E28-4E3BC4C74531}">
      <dgm:prSet/>
      <dgm:spPr/>
      <dgm:t>
        <a:bodyPr/>
        <a:lstStyle/>
        <a:p>
          <a:r>
            <a:rPr lang="de-DE"/>
            <a:t>anwendungsbezogene Anforderungen</a:t>
          </a:r>
          <a:endParaRPr lang="en-US"/>
        </a:p>
      </dgm:t>
    </dgm:pt>
    <dgm:pt modelId="{D2F9E754-0889-4BD1-9C24-12215B6BB9D7}" type="parTrans" cxnId="{A51E525F-284C-4227-BEDE-243A18B89D83}">
      <dgm:prSet/>
      <dgm:spPr/>
      <dgm:t>
        <a:bodyPr/>
        <a:lstStyle/>
        <a:p>
          <a:endParaRPr lang="en-US"/>
        </a:p>
      </dgm:t>
    </dgm:pt>
    <dgm:pt modelId="{3C25FB90-9441-4194-917D-9AB17074988C}" type="sibTrans" cxnId="{A51E525F-284C-4227-BEDE-243A18B89D83}">
      <dgm:prSet/>
      <dgm:spPr/>
      <dgm:t>
        <a:bodyPr/>
        <a:lstStyle/>
        <a:p>
          <a:endParaRPr lang="en-US"/>
        </a:p>
      </dgm:t>
    </dgm:pt>
    <dgm:pt modelId="{98F42CA6-0A2D-4EC5-89F7-34D062291F31}">
      <dgm:prSet/>
      <dgm:spPr/>
      <dgm:t>
        <a:bodyPr/>
        <a:lstStyle/>
        <a:p>
          <a:r>
            <a:rPr lang="de-DE"/>
            <a:t>Herkömmliche Zertifizierungsweisen nicht mehr ausreichend</a:t>
          </a:r>
          <a:endParaRPr lang="en-US"/>
        </a:p>
      </dgm:t>
    </dgm:pt>
    <dgm:pt modelId="{D371D928-5412-4539-AA53-D0B684B31E09}" type="parTrans" cxnId="{62EB2F51-39A8-4746-B048-9515A49ABFF8}">
      <dgm:prSet/>
      <dgm:spPr/>
      <dgm:t>
        <a:bodyPr/>
        <a:lstStyle/>
        <a:p>
          <a:endParaRPr lang="en-US"/>
        </a:p>
      </dgm:t>
    </dgm:pt>
    <dgm:pt modelId="{69E7B019-284D-4AEB-87B1-CF3CEC921F4E}" type="sibTrans" cxnId="{62EB2F51-39A8-4746-B048-9515A49ABFF8}">
      <dgm:prSet/>
      <dgm:spPr/>
      <dgm:t>
        <a:bodyPr/>
        <a:lstStyle/>
        <a:p>
          <a:endParaRPr lang="en-US"/>
        </a:p>
      </dgm:t>
    </dgm:pt>
    <dgm:pt modelId="{689E642D-576F-4D9C-B488-C39ABFEC6FBA}" type="pres">
      <dgm:prSet presAssocID="{B7649499-B5A5-43F8-BAC7-0B4BB199B76F}" presName="matrix" presStyleCnt="0">
        <dgm:presLayoutVars>
          <dgm:chMax val="1"/>
          <dgm:dir/>
          <dgm:resizeHandles val="exact"/>
        </dgm:presLayoutVars>
      </dgm:prSet>
      <dgm:spPr/>
    </dgm:pt>
    <dgm:pt modelId="{C6335FD6-06D3-45B4-9A78-9626CD87F0AD}" type="pres">
      <dgm:prSet presAssocID="{B7649499-B5A5-43F8-BAC7-0B4BB199B76F}" presName="axisShape" presStyleLbl="bgShp" presStyleIdx="0" presStyleCnt="1"/>
      <dgm:spPr/>
    </dgm:pt>
    <dgm:pt modelId="{31981C5F-1823-4C2E-AF3D-1FCC25E12B9B}" type="pres">
      <dgm:prSet presAssocID="{B7649499-B5A5-43F8-BAC7-0B4BB199B76F}" presName="rect1" presStyleLbl="node1" presStyleIdx="0" presStyleCnt="4">
        <dgm:presLayoutVars>
          <dgm:chMax val="0"/>
          <dgm:chPref val="0"/>
          <dgm:bulletEnabled val="1"/>
        </dgm:presLayoutVars>
      </dgm:prSet>
      <dgm:spPr/>
    </dgm:pt>
    <dgm:pt modelId="{B304BB44-41D5-4E4E-86C4-15DD8B26B3F4}" type="pres">
      <dgm:prSet presAssocID="{B7649499-B5A5-43F8-BAC7-0B4BB199B76F}" presName="rect2" presStyleLbl="node1" presStyleIdx="1" presStyleCnt="4">
        <dgm:presLayoutVars>
          <dgm:chMax val="0"/>
          <dgm:chPref val="0"/>
          <dgm:bulletEnabled val="1"/>
        </dgm:presLayoutVars>
      </dgm:prSet>
      <dgm:spPr/>
    </dgm:pt>
    <dgm:pt modelId="{1555FC37-3916-4F23-9751-09D0D819E256}" type="pres">
      <dgm:prSet presAssocID="{B7649499-B5A5-43F8-BAC7-0B4BB199B76F}" presName="rect3" presStyleLbl="node1" presStyleIdx="2" presStyleCnt="4">
        <dgm:presLayoutVars>
          <dgm:chMax val="0"/>
          <dgm:chPref val="0"/>
          <dgm:bulletEnabled val="1"/>
        </dgm:presLayoutVars>
      </dgm:prSet>
      <dgm:spPr/>
    </dgm:pt>
    <dgm:pt modelId="{15AAAE9F-CE66-4A41-B1B1-F2502ADB4CA9}" type="pres">
      <dgm:prSet presAssocID="{B7649499-B5A5-43F8-BAC7-0B4BB199B76F}" presName="rect4" presStyleLbl="node1" presStyleIdx="3" presStyleCnt="4">
        <dgm:presLayoutVars>
          <dgm:chMax val="0"/>
          <dgm:chPref val="0"/>
          <dgm:bulletEnabled val="1"/>
        </dgm:presLayoutVars>
      </dgm:prSet>
      <dgm:spPr/>
    </dgm:pt>
  </dgm:ptLst>
  <dgm:cxnLst>
    <dgm:cxn modelId="{298A060C-02EC-44A5-A4E5-EBE9CF4CF4A2}" type="presOf" srcId="{E384336A-1F23-492B-9E28-4E3BC4C74531}" destId="{1555FC37-3916-4F23-9751-09D0D819E256}" srcOrd="0" destOrd="0" presId="urn:microsoft.com/office/officeart/2005/8/layout/matrix2"/>
    <dgm:cxn modelId="{7CC6093A-BE4B-4D42-B856-7C9A2A1179F0}" type="presOf" srcId="{68064AE2-DDAD-417C-8389-080B75BB37FE}" destId="{B304BB44-41D5-4E4E-86C4-15DD8B26B3F4}" srcOrd="0" destOrd="0" presId="urn:microsoft.com/office/officeart/2005/8/layout/matrix2"/>
    <dgm:cxn modelId="{A51E525F-284C-4227-BEDE-243A18B89D83}" srcId="{B7649499-B5A5-43F8-BAC7-0B4BB199B76F}" destId="{E384336A-1F23-492B-9E28-4E3BC4C74531}" srcOrd="2" destOrd="0" parTransId="{D2F9E754-0889-4BD1-9C24-12215B6BB9D7}" sibTransId="{3C25FB90-9441-4194-917D-9AB17074988C}"/>
    <dgm:cxn modelId="{47BE944A-3985-4F49-A5AD-E10A582E665B}" srcId="{B7649499-B5A5-43F8-BAC7-0B4BB199B76F}" destId="{68064AE2-DDAD-417C-8389-080B75BB37FE}" srcOrd="1" destOrd="0" parTransId="{E4A46AA6-F7B3-469B-8310-C3318BFCCFAD}" sibTransId="{47294AC1-B853-4F19-A0E4-DBAAA7398AED}"/>
    <dgm:cxn modelId="{94CF6E6C-D93C-4FEE-A13F-326A5209F91F}" type="presOf" srcId="{0D68753C-6F93-4454-A9CF-540143EE749C}" destId="{31981C5F-1823-4C2E-AF3D-1FCC25E12B9B}" srcOrd="0" destOrd="0" presId="urn:microsoft.com/office/officeart/2005/8/layout/matrix2"/>
    <dgm:cxn modelId="{DF39C850-1F97-40BC-BB6A-D9688EABB09B}" type="presOf" srcId="{98F42CA6-0A2D-4EC5-89F7-34D062291F31}" destId="{15AAAE9F-CE66-4A41-B1B1-F2502ADB4CA9}" srcOrd="0" destOrd="0" presId="urn:microsoft.com/office/officeart/2005/8/layout/matrix2"/>
    <dgm:cxn modelId="{62EB2F51-39A8-4746-B048-9515A49ABFF8}" srcId="{B7649499-B5A5-43F8-BAC7-0B4BB199B76F}" destId="{98F42CA6-0A2D-4EC5-89F7-34D062291F31}" srcOrd="3" destOrd="0" parTransId="{D371D928-5412-4539-AA53-D0B684B31E09}" sibTransId="{69E7B019-284D-4AEB-87B1-CF3CEC921F4E}"/>
    <dgm:cxn modelId="{A4D4EB86-DB27-46EE-956D-653566E47530}" srcId="{B7649499-B5A5-43F8-BAC7-0B4BB199B76F}" destId="{0D68753C-6F93-4454-A9CF-540143EE749C}" srcOrd="0" destOrd="0" parTransId="{7170CA50-C8FA-4F98-A972-D14CB56288B0}" sibTransId="{DAEF1331-E0D3-42F2-B0D7-7C621601CA0F}"/>
    <dgm:cxn modelId="{C7B8B9EE-F7EA-464B-9DD9-A03A63E13F93}" type="presOf" srcId="{B7649499-B5A5-43F8-BAC7-0B4BB199B76F}" destId="{689E642D-576F-4D9C-B488-C39ABFEC6FBA}" srcOrd="0" destOrd="0" presId="urn:microsoft.com/office/officeart/2005/8/layout/matrix2"/>
    <dgm:cxn modelId="{21616D2C-A15D-4C0B-84ED-FA63AA8C4F3A}" type="presParOf" srcId="{689E642D-576F-4D9C-B488-C39ABFEC6FBA}" destId="{C6335FD6-06D3-45B4-9A78-9626CD87F0AD}" srcOrd="0" destOrd="0" presId="urn:microsoft.com/office/officeart/2005/8/layout/matrix2"/>
    <dgm:cxn modelId="{B61A7005-321C-444A-8E7C-01BF71A1B3AF}" type="presParOf" srcId="{689E642D-576F-4D9C-B488-C39ABFEC6FBA}" destId="{31981C5F-1823-4C2E-AF3D-1FCC25E12B9B}" srcOrd="1" destOrd="0" presId="urn:microsoft.com/office/officeart/2005/8/layout/matrix2"/>
    <dgm:cxn modelId="{5854CB4A-3D4F-4ACD-8578-60C7A323F28A}" type="presParOf" srcId="{689E642D-576F-4D9C-B488-C39ABFEC6FBA}" destId="{B304BB44-41D5-4E4E-86C4-15DD8B26B3F4}" srcOrd="2" destOrd="0" presId="urn:microsoft.com/office/officeart/2005/8/layout/matrix2"/>
    <dgm:cxn modelId="{7EBDDF84-93EC-48BC-B1A6-609A4168CDB4}" type="presParOf" srcId="{689E642D-576F-4D9C-B488-C39ABFEC6FBA}" destId="{1555FC37-3916-4F23-9751-09D0D819E256}" srcOrd="3" destOrd="0" presId="urn:microsoft.com/office/officeart/2005/8/layout/matrix2"/>
    <dgm:cxn modelId="{9D52DF48-9018-43FE-AE00-25B8EFAB66D6}" type="presParOf" srcId="{689E642D-576F-4D9C-B488-C39ABFEC6FBA}" destId="{15AAAE9F-CE66-4A41-B1B1-F2502ADB4CA9}" srcOrd="4" destOrd="0" presId="urn:microsoft.com/office/officeart/2005/8/layout/matrix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F80F18D-341E-48C7-8E87-C1071D3D7A50}" type="doc">
      <dgm:prSet loTypeId="urn:microsoft.com/office/officeart/2005/8/layout/vList2" loCatId="list" qsTypeId="urn:microsoft.com/office/officeart/2005/8/quickstyle/simple1" qsCatId="simple" csTypeId="urn:microsoft.com/office/officeart/2005/8/colors/accent4_2" csCatId="accent4"/>
      <dgm:spPr/>
      <dgm:t>
        <a:bodyPr/>
        <a:lstStyle/>
        <a:p>
          <a:endParaRPr lang="en-US"/>
        </a:p>
      </dgm:t>
    </dgm:pt>
    <dgm:pt modelId="{045EED9C-119A-4997-881C-909903CEC219}">
      <dgm:prSet/>
      <dgm:spPr/>
      <dgm:t>
        <a:bodyPr/>
        <a:lstStyle/>
        <a:p>
          <a:r>
            <a:rPr lang="de-DE"/>
            <a:t>Risikoanalyse</a:t>
          </a:r>
          <a:endParaRPr lang="en-US"/>
        </a:p>
      </dgm:t>
    </dgm:pt>
    <dgm:pt modelId="{21009335-E4B3-4525-ADF4-F739465DE680}" type="parTrans" cxnId="{6E6AB2A2-3CAA-401F-842E-C3EA837A3519}">
      <dgm:prSet/>
      <dgm:spPr/>
      <dgm:t>
        <a:bodyPr/>
        <a:lstStyle/>
        <a:p>
          <a:endParaRPr lang="en-US"/>
        </a:p>
      </dgm:t>
    </dgm:pt>
    <dgm:pt modelId="{D65B8371-258E-4A66-89C8-423AC2670E9F}" type="sibTrans" cxnId="{6E6AB2A2-3CAA-401F-842E-C3EA837A3519}">
      <dgm:prSet/>
      <dgm:spPr/>
      <dgm:t>
        <a:bodyPr/>
        <a:lstStyle/>
        <a:p>
          <a:endParaRPr lang="en-US"/>
        </a:p>
      </dgm:t>
    </dgm:pt>
    <dgm:pt modelId="{08DA11B5-D150-467A-AC8E-ADFE6335D2F3}">
      <dgm:prSet/>
      <dgm:spPr/>
      <dgm:t>
        <a:bodyPr/>
        <a:lstStyle/>
        <a:p>
          <a:r>
            <a:rPr lang="de-DE"/>
            <a:t>Maßnahmen in Abhängigkeit der Anwendung abstimmen (EU AI-Act)</a:t>
          </a:r>
          <a:endParaRPr lang="en-US"/>
        </a:p>
      </dgm:t>
    </dgm:pt>
    <dgm:pt modelId="{9C9C28FE-C2DD-4C29-A940-D834E380502D}" type="parTrans" cxnId="{6FBF21D8-C190-4333-A87F-71FA7EC9D397}">
      <dgm:prSet/>
      <dgm:spPr/>
      <dgm:t>
        <a:bodyPr/>
        <a:lstStyle/>
        <a:p>
          <a:endParaRPr lang="en-US"/>
        </a:p>
      </dgm:t>
    </dgm:pt>
    <dgm:pt modelId="{D9B88550-A859-494A-9DA4-B43A231CC85F}" type="sibTrans" cxnId="{6FBF21D8-C190-4333-A87F-71FA7EC9D397}">
      <dgm:prSet/>
      <dgm:spPr/>
      <dgm:t>
        <a:bodyPr/>
        <a:lstStyle/>
        <a:p>
          <a:endParaRPr lang="en-US"/>
        </a:p>
      </dgm:t>
    </dgm:pt>
    <dgm:pt modelId="{2FEB0B2C-6624-4D83-888C-108BE95F5FB1}">
      <dgm:prSet/>
      <dgm:spPr/>
      <dgm:t>
        <a:bodyPr/>
        <a:lstStyle/>
        <a:p>
          <a:r>
            <a:rPr lang="de-DE"/>
            <a:t>KI möglichst kapseln </a:t>
          </a:r>
          <a:endParaRPr lang="en-US"/>
        </a:p>
      </dgm:t>
    </dgm:pt>
    <dgm:pt modelId="{8C928DFD-228A-464B-9667-77436186E342}" type="parTrans" cxnId="{00C064F2-1351-4A2B-8CB7-33FCDB774F41}">
      <dgm:prSet/>
      <dgm:spPr/>
      <dgm:t>
        <a:bodyPr/>
        <a:lstStyle/>
        <a:p>
          <a:endParaRPr lang="en-US"/>
        </a:p>
      </dgm:t>
    </dgm:pt>
    <dgm:pt modelId="{A20BAEA5-4AB6-4ABB-ADCC-D62B75157BED}" type="sibTrans" cxnId="{00C064F2-1351-4A2B-8CB7-33FCDB774F41}">
      <dgm:prSet/>
      <dgm:spPr/>
      <dgm:t>
        <a:bodyPr/>
        <a:lstStyle/>
        <a:p>
          <a:endParaRPr lang="en-US"/>
        </a:p>
      </dgm:t>
    </dgm:pt>
    <dgm:pt modelId="{C6335D1E-75A0-4A12-9DE7-06F228E5811C}" type="pres">
      <dgm:prSet presAssocID="{8F80F18D-341E-48C7-8E87-C1071D3D7A50}" presName="linear" presStyleCnt="0">
        <dgm:presLayoutVars>
          <dgm:animLvl val="lvl"/>
          <dgm:resizeHandles val="exact"/>
        </dgm:presLayoutVars>
      </dgm:prSet>
      <dgm:spPr/>
    </dgm:pt>
    <dgm:pt modelId="{B47385F5-59A3-4091-9C54-3D752CF238EB}" type="pres">
      <dgm:prSet presAssocID="{045EED9C-119A-4997-881C-909903CEC219}" presName="parentText" presStyleLbl="node1" presStyleIdx="0" presStyleCnt="3">
        <dgm:presLayoutVars>
          <dgm:chMax val="0"/>
          <dgm:bulletEnabled val="1"/>
        </dgm:presLayoutVars>
      </dgm:prSet>
      <dgm:spPr/>
    </dgm:pt>
    <dgm:pt modelId="{731203D4-0EC9-4564-B8C9-36FADA86822D}" type="pres">
      <dgm:prSet presAssocID="{D65B8371-258E-4A66-89C8-423AC2670E9F}" presName="spacer" presStyleCnt="0"/>
      <dgm:spPr/>
    </dgm:pt>
    <dgm:pt modelId="{F8B27C9A-C589-43D9-855D-A14589AFD520}" type="pres">
      <dgm:prSet presAssocID="{08DA11B5-D150-467A-AC8E-ADFE6335D2F3}" presName="parentText" presStyleLbl="node1" presStyleIdx="1" presStyleCnt="3">
        <dgm:presLayoutVars>
          <dgm:chMax val="0"/>
          <dgm:bulletEnabled val="1"/>
        </dgm:presLayoutVars>
      </dgm:prSet>
      <dgm:spPr/>
    </dgm:pt>
    <dgm:pt modelId="{56DC60E3-2594-4F1E-96C8-D1D0045D21E5}" type="pres">
      <dgm:prSet presAssocID="{D9B88550-A859-494A-9DA4-B43A231CC85F}" presName="spacer" presStyleCnt="0"/>
      <dgm:spPr/>
    </dgm:pt>
    <dgm:pt modelId="{DA255AD0-0CB7-4D48-9429-5702E4391E8E}" type="pres">
      <dgm:prSet presAssocID="{2FEB0B2C-6624-4D83-888C-108BE95F5FB1}" presName="parentText" presStyleLbl="node1" presStyleIdx="2" presStyleCnt="3">
        <dgm:presLayoutVars>
          <dgm:chMax val="0"/>
          <dgm:bulletEnabled val="1"/>
        </dgm:presLayoutVars>
      </dgm:prSet>
      <dgm:spPr/>
    </dgm:pt>
  </dgm:ptLst>
  <dgm:cxnLst>
    <dgm:cxn modelId="{6D859552-6242-4E54-BAC8-13493BB3FB20}" type="presOf" srcId="{8F80F18D-341E-48C7-8E87-C1071D3D7A50}" destId="{C6335D1E-75A0-4A12-9DE7-06F228E5811C}" srcOrd="0" destOrd="0" presId="urn:microsoft.com/office/officeart/2005/8/layout/vList2"/>
    <dgm:cxn modelId="{08F32A76-6BE4-4757-ABD7-D0652EF08782}" type="presOf" srcId="{2FEB0B2C-6624-4D83-888C-108BE95F5FB1}" destId="{DA255AD0-0CB7-4D48-9429-5702E4391E8E}" srcOrd="0" destOrd="0" presId="urn:microsoft.com/office/officeart/2005/8/layout/vList2"/>
    <dgm:cxn modelId="{90CE3C88-D358-4744-BCFB-571613829B1B}" type="presOf" srcId="{045EED9C-119A-4997-881C-909903CEC219}" destId="{B47385F5-59A3-4091-9C54-3D752CF238EB}" srcOrd="0" destOrd="0" presId="urn:microsoft.com/office/officeart/2005/8/layout/vList2"/>
    <dgm:cxn modelId="{6E6AB2A2-3CAA-401F-842E-C3EA837A3519}" srcId="{8F80F18D-341E-48C7-8E87-C1071D3D7A50}" destId="{045EED9C-119A-4997-881C-909903CEC219}" srcOrd="0" destOrd="0" parTransId="{21009335-E4B3-4525-ADF4-F739465DE680}" sibTransId="{D65B8371-258E-4A66-89C8-423AC2670E9F}"/>
    <dgm:cxn modelId="{8D9E08C6-0C98-4F72-B995-6802431FBF6F}" type="presOf" srcId="{08DA11B5-D150-467A-AC8E-ADFE6335D2F3}" destId="{F8B27C9A-C589-43D9-855D-A14589AFD520}" srcOrd="0" destOrd="0" presId="urn:microsoft.com/office/officeart/2005/8/layout/vList2"/>
    <dgm:cxn modelId="{6FBF21D8-C190-4333-A87F-71FA7EC9D397}" srcId="{8F80F18D-341E-48C7-8E87-C1071D3D7A50}" destId="{08DA11B5-D150-467A-AC8E-ADFE6335D2F3}" srcOrd="1" destOrd="0" parTransId="{9C9C28FE-C2DD-4C29-A940-D834E380502D}" sibTransId="{D9B88550-A859-494A-9DA4-B43A231CC85F}"/>
    <dgm:cxn modelId="{00C064F2-1351-4A2B-8CB7-33FCDB774F41}" srcId="{8F80F18D-341E-48C7-8E87-C1071D3D7A50}" destId="{2FEB0B2C-6624-4D83-888C-108BE95F5FB1}" srcOrd="2" destOrd="0" parTransId="{8C928DFD-228A-464B-9667-77436186E342}" sibTransId="{A20BAEA5-4AB6-4ABB-ADCC-D62B75157BED}"/>
    <dgm:cxn modelId="{CC9605DE-63C2-4117-8161-8F83536488D8}" type="presParOf" srcId="{C6335D1E-75A0-4A12-9DE7-06F228E5811C}" destId="{B47385F5-59A3-4091-9C54-3D752CF238EB}" srcOrd="0" destOrd="0" presId="urn:microsoft.com/office/officeart/2005/8/layout/vList2"/>
    <dgm:cxn modelId="{E36B0848-BC10-44D4-9C02-778BD41E90E2}" type="presParOf" srcId="{C6335D1E-75A0-4A12-9DE7-06F228E5811C}" destId="{731203D4-0EC9-4564-B8C9-36FADA86822D}" srcOrd="1" destOrd="0" presId="urn:microsoft.com/office/officeart/2005/8/layout/vList2"/>
    <dgm:cxn modelId="{6CDED026-72A7-4C35-A0DB-6C8A39506EE6}" type="presParOf" srcId="{C6335D1E-75A0-4A12-9DE7-06F228E5811C}" destId="{F8B27C9A-C589-43D9-855D-A14589AFD520}" srcOrd="2" destOrd="0" presId="urn:microsoft.com/office/officeart/2005/8/layout/vList2"/>
    <dgm:cxn modelId="{5F0273B2-9B79-41E4-9AA8-47C72E72F18D}" type="presParOf" srcId="{C6335D1E-75A0-4A12-9DE7-06F228E5811C}" destId="{56DC60E3-2594-4F1E-96C8-D1D0045D21E5}" srcOrd="3" destOrd="0" presId="urn:microsoft.com/office/officeart/2005/8/layout/vList2"/>
    <dgm:cxn modelId="{21F52332-EFD8-4F4E-ACA9-263DCC3D5924}" type="presParOf" srcId="{C6335D1E-75A0-4A12-9DE7-06F228E5811C}" destId="{DA255AD0-0CB7-4D48-9429-5702E4391E8E}"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335FD6-06D3-45B4-9A78-9626CD87F0AD}">
      <dsp:nvSpPr>
        <dsp:cNvPr id="0" name=""/>
        <dsp:cNvSpPr/>
      </dsp:nvSpPr>
      <dsp:spPr>
        <a:xfrm>
          <a:off x="2480953" y="0"/>
          <a:ext cx="4394200" cy="4394200"/>
        </a:xfrm>
        <a:prstGeom prst="quadArrow">
          <a:avLst>
            <a:gd name="adj1" fmla="val 2000"/>
            <a:gd name="adj2" fmla="val 4000"/>
            <a:gd name="adj3" fmla="val 5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981C5F-1823-4C2E-AF3D-1FCC25E12B9B}">
      <dsp:nvSpPr>
        <dsp:cNvPr id="0" name=""/>
        <dsp:cNvSpPr/>
      </dsp:nvSpPr>
      <dsp:spPr>
        <a:xfrm>
          <a:off x="2766576" y="285623"/>
          <a:ext cx="1757680" cy="175768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de-DE" sz="1200" kern="1200"/>
            <a:t>KI ist teilweise „unberechenbar“ bzw. hat hohe Dynamik</a:t>
          </a:r>
          <a:endParaRPr lang="en-US" sz="1200" kern="1200"/>
        </a:p>
      </dsp:txBody>
      <dsp:txXfrm>
        <a:off x="2852379" y="371426"/>
        <a:ext cx="1586074" cy="1586074"/>
      </dsp:txXfrm>
    </dsp:sp>
    <dsp:sp modelId="{B304BB44-41D5-4E4E-86C4-15DD8B26B3F4}">
      <dsp:nvSpPr>
        <dsp:cNvPr id="0" name=""/>
        <dsp:cNvSpPr/>
      </dsp:nvSpPr>
      <dsp:spPr>
        <a:xfrm>
          <a:off x="4831850" y="285623"/>
          <a:ext cx="1757680" cy="175768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de-DE" sz="1200" kern="1200"/>
            <a:t>Komplexität (Black-Box Problem)</a:t>
          </a:r>
          <a:endParaRPr lang="en-US" sz="1200" kern="1200"/>
        </a:p>
      </dsp:txBody>
      <dsp:txXfrm>
        <a:off x="4917653" y="371426"/>
        <a:ext cx="1586074" cy="1586074"/>
      </dsp:txXfrm>
    </dsp:sp>
    <dsp:sp modelId="{1555FC37-3916-4F23-9751-09D0D819E256}">
      <dsp:nvSpPr>
        <dsp:cNvPr id="0" name=""/>
        <dsp:cNvSpPr/>
      </dsp:nvSpPr>
      <dsp:spPr>
        <a:xfrm>
          <a:off x="2766576" y="2350897"/>
          <a:ext cx="1757680" cy="175768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de-DE" sz="1200" kern="1200"/>
            <a:t>anwendungsbezogene Anforderungen</a:t>
          </a:r>
          <a:endParaRPr lang="en-US" sz="1200" kern="1200"/>
        </a:p>
      </dsp:txBody>
      <dsp:txXfrm>
        <a:off x="2852379" y="2436700"/>
        <a:ext cx="1586074" cy="1586074"/>
      </dsp:txXfrm>
    </dsp:sp>
    <dsp:sp modelId="{15AAAE9F-CE66-4A41-B1B1-F2502ADB4CA9}">
      <dsp:nvSpPr>
        <dsp:cNvPr id="0" name=""/>
        <dsp:cNvSpPr/>
      </dsp:nvSpPr>
      <dsp:spPr>
        <a:xfrm>
          <a:off x="4831850" y="2350897"/>
          <a:ext cx="1757680" cy="175768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de-DE" sz="1200" kern="1200"/>
            <a:t>Herkömmliche Zertifizierungsweisen nicht mehr ausreichend</a:t>
          </a:r>
          <a:endParaRPr lang="en-US" sz="1200" kern="1200"/>
        </a:p>
      </dsp:txBody>
      <dsp:txXfrm>
        <a:off x="4917653" y="2436700"/>
        <a:ext cx="1586074" cy="158607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7385F5-59A3-4091-9C54-3D752CF238EB}">
      <dsp:nvSpPr>
        <dsp:cNvPr id="0" name=""/>
        <dsp:cNvSpPr/>
      </dsp:nvSpPr>
      <dsp:spPr>
        <a:xfrm>
          <a:off x="0" y="423472"/>
          <a:ext cx="4828172" cy="154791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de-DE" sz="2800" kern="1200"/>
            <a:t>Risikoanalyse</a:t>
          </a:r>
          <a:endParaRPr lang="en-US" sz="2800" kern="1200"/>
        </a:p>
      </dsp:txBody>
      <dsp:txXfrm>
        <a:off x="75563" y="499035"/>
        <a:ext cx="4677046" cy="1396784"/>
      </dsp:txXfrm>
    </dsp:sp>
    <dsp:sp modelId="{F8B27C9A-C589-43D9-855D-A14589AFD520}">
      <dsp:nvSpPr>
        <dsp:cNvPr id="0" name=""/>
        <dsp:cNvSpPr/>
      </dsp:nvSpPr>
      <dsp:spPr>
        <a:xfrm>
          <a:off x="0" y="2052022"/>
          <a:ext cx="4828172" cy="154791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de-DE" sz="2800" kern="1200"/>
            <a:t>Maßnahmen in Abhängigkeit der Anwendung abstimmen (EU AI-Act)</a:t>
          </a:r>
          <a:endParaRPr lang="en-US" sz="2800" kern="1200"/>
        </a:p>
      </dsp:txBody>
      <dsp:txXfrm>
        <a:off x="75563" y="2127585"/>
        <a:ext cx="4677046" cy="1396784"/>
      </dsp:txXfrm>
    </dsp:sp>
    <dsp:sp modelId="{DA255AD0-0CB7-4D48-9429-5702E4391E8E}">
      <dsp:nvSpPr>
        <dsp:cNvPr id="0" name=""/>
        <dsp:cNvSpPr/>
      </dsp:nvSpPr>
      <dsp:spPr>
        <a:xfrm>
          <a:off x="0" y="3680572"/>
          <a:ext cx="4828172" cy="154791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de-DE" sz="2800" kern="1200"/>
            <a:t>KI möglichst kapseln </a:t>
          </a:r>
          <a:endParaRPr lang="en-US" sz="2800" kern="1200"/>
        </a:p>
      </dsp:txBody>
      <dsp:txXfrm>
        <a:off x="75563" y="3756135"/>
        <a:ext cx="4677046" cy="1396784"/>
      </dsp:txXfrm>
    </dsp:sp>
  </dsp:spTree>
</dsp:drawing>
</file>

<file path=ppt/diagrams/layout1.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F3D311-3ECC-4358-B8DC-E59D17825063}" type="datetimeFigureOut">
              <a:rPr lang="de-DE" smtClean="0"/>
              <a:t>20.10.2025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4275E9-69A1-4EE9-97A1-16A17FC52D7D}" type="slidenum">
              <a:rPr lang="de-DE" smtClean="0"/>
              <a:t>‹Nr.›</a:t>
            </a:fld>
            <a:endParaRPr lang="de-DE"/>
          </a:p>
        </p:txBody>
      </p:sp>
    </p:spTree>
    <p:extLst>
      <p:ext uri="{BB962C8B-B14F-4D97-AF65-F5344CB8AC3E}">
        <p14:creationId xmlns:p14="http://schemas.microsoft.com/office/powerpoint/2010/main" val="761099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0A4275E9-69A1-4EE9-97A1-16A17FC52D7D}" type="slidenum">
              <a:rPr lang="de-DE" smtClean="0"/>
              <a:t>15</a:t>
            </a:fld>
            <a:endParaRPr lang="de-DE"/>
          </a:p>
        </p:txBody>
      </p:sp>
    </p:spTree>
    <p:extLst>
      <p:ext uri="{BB962C8B-B14F-4D97-AF65-F5344CB8AC3E}">
        <p14:creationId xmlns:p14="http://schemas.microsoft.com/office/powerpoint/2010/main" val="24708391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C9052-30C1-7CD6-2F41-8DB5A3790F1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C63ABAF-1E3C-919E-17E1-3D6DA8AB0975}"/>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045F6DF4-CD09-0FFE-0C2D-8C2E129492A5}"/>
              </a:ext>
            </a:extLst>
          </p:cNvPr>
          <p:cNvSpPr>
            <a:spLocks noGrp="1"/>
          </p:cNvSpPr>
          <p:nvPr>
            <p:ph type="body" idx="1"/>
          </p:nvPr>
        </p:nvSpPr>
        <p:spPr/>
        <p:txBody>
          <a:bodyPr/>
          <a:lstStyle/>
          <a:p>
            <a:r>
              <a:rPr lang="de-DE" b="1"/>
              <a:t>Der linke Ast</a:t>
            </a:r>
            <a:r>
              <a:rPr lang="de-DE"/>
              <a:t> bedeutet immer: </a:t>
            </a:r>
            <a:r>
              <a:rPr lang="de-DE" b="1"/>
              <a:t>Merkmal ≤ Schwellenwert</a:t>
            </a:r>
            <a:endParaRPr lang="de-DE"/>
          </a:p>
          <a:p>
            <a:r>
              <a:rPr lang="de-DE" b="1"/>
              <a:t>Der rechte Ast</a:t>
            </a:r>
            <a:r>
              <a:rPr lang="de-DE"/>
              <a:t> bedeutet immer: </a:t>
            </a:r>
            <a:r>
              <a:rPr lang="de-DE" b="1"/>
              <a:t>Merkmal &gt; Schwellenwert</a:t>
            </a:r>
            <a:endParaRPr lang="de-DE"/>
          </a:p>
          <a:p>
            <a:endParaRPr lang="de-DE"/>
          </a:p>
          <a:p>
            <a:pPr marL="171450" indent="-171450">
              <a:buFont typeface="Arial" panose="020B0604020202020204" pitchFamily="34" charset="0"/>
              <a:buChar char="•"/>
            </a:pPr>
            <a:r>
              <a:rPr lang="de-DE"/>
              <a:t>Das Modell erkennt den Ausfall von Komponente 3, wenn hoher Druck und mittlere Spannung gleichzeitig auftreten.</a:t>
            </a:r>
          </a:p>
          <a:p>
            <a:pPr marL="171450" indent="-171450">
              <a:buFont typeface="Arial" panose="020B0604020202020204" pitchFamily="34" charset="0"/>
              <a:buChar char="•"/>
            </a:pPr>
            <a:r>
              <a:rPr lang="de-DE"/>
              <a:t>In Kombination mit hoher Drehzahl deutet dies auf Überlast oder thermische Instabilität im Systemteil hin, das mit comp3 verknüpft ist.</a:t>
            </a:r>
          </a:p>
          <a:p>
            <a:pPr marL="171450" indent="-171450">
              <a:buFont typeface="Arial" panose="020B0604020202020204" pitchFamily="34" charset="0"/>
              <a:buChar char="•"/>
            </a:pPr>
            <a:r>
              <a:rPr lang="de-DE"/>
              <a:t>Der Pfad zeigt also klar nachvollziehbar, welche Schwellenwerte das Modell für eine Fehlentscheidung heranzieht.</a:t>
            </a:r>
          </a:p>
        </p:txBody>
      </p:sp>
      <p:sp>
        <p:nvSpPr>
          <p:cNvPr id="4" name="Foliennummernplatzhalter 3">
            <a:extLst>
              <a:ext uri="{FF2B5EF4-FFF2-40B4-BE49-F238E27FC236}">
                <a16:creationId xmlns:a16="http://schemas.microsoft.com/office/drawing/2014/main" id="{36DBA0BD-17FF-FAC7-F11F-F2C89E079B45}"/>
              </a:ext>
            </a:extLst>
          </p:cNvPr>
          <p:cNvSpPr>
            <a:spLocks noGrp="1"/>
          </p:cNvSpPr>
          <p:nvPr>
            <p:ph type="sldNum" sz="quarter" idx="5"/>
          </p:nvPr>
        </p:nvSpPr>
        <p:spPr/>
        <p:txBody>
          <a:bodyPr/>
          <a:lstStyle/>
          <a:p>
            <a:fld id="{0A4275E9-69A1-4EE9-97A1-16A17FC52D7D}" type="slidenum">
              <a:rPr lang="de-DE" smtClean="0"/>
              <a:t>16</a:t>
            </a:fld>
            <a:endParaRPr lang="de-DE"/>
          </a:p>
        </p:txBody>
      </p:sp>
    </p:spTree>
    <p:extLst>
      <p:ext uri="{BB962C8B-B14F-4D97-AF65-F5344CB8AC3E}">
        <p14:creationId xmlns:p14="http://schemas.microsoft.com/office/powerpoint/2010/main" val="2495304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a:t>Der linke Ast</a:t>
            </a:r>
            <a:r>
              <a:rPr lang="de-DE"/>
              <a:t> bedeutet immer: </a:t>
            </a:r>
            <a:r>
              <a:rPr lang="de-DE" b="1"/>
              <a:t>Merkmal ≤ Schwellenwert</a:t>
            </a:r>
            <a:endParaRPr lang="de-DE"/>
          </a:p>
          <a:p>
            <a:r>
              <a:rPr lang="de-DE" b="1"/>
              <a:t>Der rechte Ast</a:t>
            </a:r>
            <a:r>
              <a:rPr lang="de-DE"/>
              <a:t> bedeutet immer: </a:t>
            </a:r>
            <a:r>
              <a:rPr lang="de-DE" b="1"/>
              <a:t>Merkmal &gt; Schwellenwert</a:t>
            </a:r>
            <a:endParaRPr lang="de-DE"/>
          </a:p>
          <a:p>
            <a:endParaRPr lang="de-DE"/>
          </a:p>
          <a:p>
            <a:pPr marL="171450" indent="-171450">
              <a:buFont typeface="Arial" panose="020B0604020202020204" pitchFamily="34" charset="0"/>
              <a:buChar char="•"/>
            </a:pPr>
            <a:r>
              <a:rPr lang="de-DE"/>
              <a:t>Das Modell erkennt den Ausfall von Komponente 3, wenn hoher Druck und mittlere Spannung gleichzeitig auftreten.</a:t>
            </a:r>
          </a:p>
          <a:p>
            <a:pPr marL="171450" indent="-171450">
              <a:buFont typeface="Arial" panose="020B0604020202020204" pitchFamily="34" charset="0"/>
              <a:buChar char="•"/>
            </a:pPr>
            <a:r>
              <a:rPr lang="de-DE"/>
              <a:t>In Kombination mit hoher Drehzahl deutet dies auf Überlast oder thermische Instabilität im Systemteil hin, das mit comp3 verknüpft ist.</a:t>
            </a:r>
          </a:p>
          <a:p>
            <a:pPr marL="171450" indent="-171450">
              <a:buFont typeface="Arial" panose="020B0604020202020204" pitchFamily="34" charset="0"/>
              <a:buChar char="•"/>
            </a:pPr>
            <a:r>
              <a:rPr lang="de-DE"/>
              <a:t>Der Pfad zeigt also klar nachvollziehbar, welche Schwellenwerte das Modell für eine Fehlentscheidung heranzieht.</a:t>
            </a:r>
          </a:p>
        </p:txBody>
      </p:sp>
      <p:sp>
        <p:nvSpPr>
          <p:cNvPr id="4" name="Foliennummernplatzhalter 3"/>
          <p:cNvSpPr>
            <a:spLocks noGrp="1"/>
          </p:cNvSpPr>
          <p:nvPr>
            <p:ph type="sldNum" sz="quarter" idx="5"/>
          </p:nvPr>
        </p:nvSpPr>
        <p:spPr/>
        <p:txBody>
          <a:bodyPr/>
          <a:lstStyle/>
          <a:p>
            <a:fld id="{0A4275E9-69A1-4EE9-97A1-16A17FC52D7D}" type="slidenum">
              <a:rPr lang="de-DE" smtClean="0"/>
              <a:t>17</a:t>
            </a:fld>
            <a:endParaRPr lang="de-DE"/>
          </a:p>
        </p:txBody>
      </p:sp>
    </p:spTree>
    <p:extLst>
      <p:ext uri="{BB962C8B-B14F-4D97-AF65-F5344CB8AC3E}">
        <p14:creationId xmlns:p14="http://schemas.microsoft.com/office/powerpoint/2010/main" val="127572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15575-10E8-3998-3F23-D438278870D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B9AA004-1D11-2E13-88E6-C7FAF853F02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D8536DE-03FE-88B9-7EEB-E615976FEF63}"/>
              </a:ext>
            </a:extLst>
          </p:cNvPr>
          <p:cNvSpPr>
            <a:spLocks noGrp="1"/>
          </p:cNvSpPr>
          <p:nvPr>
            <p:ph type="body" idx="1"/>
          </p:nvPr>
        </p:nvSpPr>
        <p:spPr/>
        <p:txBody>
          <a:bodyPr/>
          <a:lstStyle/>
          <a:p>
            <a:r>
              <a:rPr lang="de-DE" b="1"/>
              <a:t>Der linke Ast</a:t>
            </a:r>
            <a:r>
              <a:rPr lang="de-DE"/>
              <a:t> bedeutet immer: </a:t>
            </a:r>
            <a:r>
              <a:rPr lang="de-DE" b="1"/>
              <a:t>Merkmal ≤ Schwellenwert</a:t>
            </a:r>
            <a:endParaRPr lang="de-DE"/>
          </a:p>
          <a:p>
            <a:r>
              <a:rPr lang="de-DE" b="1"/>
              <a:t>Der rechte Ast</a:t>
            </a:r>
            <a:r>
              <a:rPr lang="de-DE"/>
              <a:t> bedeutet immer: </a:t>
            </a:r>
            <a:r>
              <a:rPr lang="de-DE" b="1"/>
              <a:t>Merkmal &gt; Schwellenwert</a:t>
            </a:r>
            <a:endParaRPr lang="de-DE"/>
          </a:p>
          <a:p>
            <a:endParaRPr lang="de-DE"/>
          </a:p>
          <a:p>
            <a:pPr marL="171450" indent="-171450">
              <a:buFont typeface="Arial" panose="020B0604020202020204" pitchFamily="34" charset="0"/>
              <a:buChar char="•"/>
            </a:pPr>
            <a:r>
              <a:rPr lang="de-DE"/>
              <a:t>Das Modell erkennt den Ausfall von Komponente 3, wenn hoher Druck und mittlere Spannung gleichzeitig auftreten.</a:t>
            </a:r>
          </a:p>
          <a:p>
            <a:pPr marL="171450" indent="-171450">
              <a:buFont typeface="Arial" panose="020B0604020202020204" pitchFamily="34" charset="0"/>
              <a:buChar char="•"/>
            </a:pPr>
            <a:r>
              <a:rPr lang="de-DE"/>
              <a:t>In Kombination mit hoher Drehzahl deutet dies auf Überlast oder thermische Instabilität im Systemteil hin, das mit comp3 verknüpft ist.</a:t>
            </a:r>
          </a:p>
          <a:p>
            <a:pPr marL="171450" indent="-171450">
              <a:buFont typeface="Arial" panose="020B0604020202020204" pitchFamily="34" charset="0"/>
              <a:buChar char="•"/>
            </a:pPr>
            <a:r>
              <a:rPr lang="de-DE"/>
              <a:t>Der Pfad zeigt also klar nachvollziehbar, welche Schwellenwerte das Modell für eine Fehlentscheidung heranzieht.</a:t>
            </a:r>
          </a:p>
        </p:txBody>
      </p:sp>
      <p:sp>
        <p:nvSpPr>
          <p:cNvPr id="4" name="Foliennummernplatzhalter 3">
            <a:extLst>
              <a:ext uri="{FF2B5EF4-FFF2-40B4-BE49-F238E27FC236}">
                <a16:creationId xmlns:a16="http://schemas.microsoft.com/office/drawing/2014/main" id="{9B385C0F-F02D-419F-DEC5-592D41B79EFD}"/>
              </a:ext>
            </a:extLst>
          </p:cNvPr>
          <p:cNvSpPr>
            <a:spLocks noGrp="1"/>
          </p:cNvSpPr>
          <p:nvPr>
            <p:ph type="sldNum" sz="quarter" idx="5"/>
          </p:nvPr>
        </p:nvSpPr>
        <p:spPr/>
        <p:txBody>
          <a:bodyPr/>
          <a:lstStyle/>
          <a:p>
            <a:fld id="{0A4275E9-69A1-4EE9-97A1-16A17FC52D7D}" type="slidenum">
              <a:rPr lang="de-DE" smtClean="0"/>
              <a:t>18</a:t>
            </a:fld>
            <a:endParaRPr lang="de-DE"/>
          </a:p>
        </p:txBody>
      </p:sp>
    </p:spTree>
    <p:extLst>
      <p:ext uri="{BB962C8B-B14F-4D97-AF65-F5344CB8AC3E}">
        <p14:creationId xmlns:p14="http://schemas.microsoft.com/office/powerpoint/2010/main" val="32937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B1F0C-F031-8DC7-A1CE-D030A93A9E5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FB825B4-A35E-C1D5-320F-4827509400E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A5C3C85-E23A-FEDD-F127-F1732B55FC7B}"/>
              </a:ext>
            </a:extLst>
          </p:cNvPr>
          <p:cNvSpPr>
            <a:spLocks noGrp="1"/>
          </p:cNvSpPr>
          <p:nvPr>
            <p:ph type="body" idx="1"/>
          </p:nvPr>
        </p:nvSpPr>
        <p:spPr/>
        <p:txBody>
          <a:bodyPr/>
          <a:lstStyle/>
          <a:p>
            <a:r>
              <a:rPr lang="de-DE" b="1"/>
              <a:t>Der linke Ast</a:t>
            </a:r>
            <a:r>
              <a:rPr lang="de-DE"/>
              <a:t> bedeutet immer: </a:t>
            </a:r>
            <a:r>
              <a:rPr lang="de-DE" b="1"/>
              <a:t>Merkmal ≤ Schwellenwert</a:t>
            </a:r>
            <a:endParaRPr lang="de-DE"/>
          </a:p>
          <a:p>
            <a:r>
              <a:rPr lang="de-DE" b="1"/>
              <a:t>Der rechte Ast</a:t>
            </a:r>
            <a:r>
              <a:rPr lang="de-DE"/>
              <a:t> bedeutet immer: </a:t>
            </a:r>
            <a:r>
              <a:rPr lang="de-DE" b="1"/>
              <a:t>Merkmal &gt; Schwellenwert</a:t>
            </a:r>
            <a:endParaRPr lang="de-DE"/>
          </a:p>
          <a:p>
            <a:endParaRPr lang="de-DE"/>
          </a:p>
          <a:p>
            <a:pPr marL="171450" indent="-171450">
              <a:buFont typeface="Arial" panose="020B0604020202020204" pitchFamily="34" charset="0"/>
              <a:buChar char="•"/>
            </a:pPr>
            <a:r>
              <a:rPr lang="de-DE"/>
              <a:t>Das Modell erkennt den Ausfall von Komponente 3, wenn hoher Druck und mittlere Spannung gleichzeitig auftreten.</a:t>
            </a:r>
          </a:p>
          <a:p>
            <a:pPr marL="171450" indent="-171450">
              <a:buFont typeface="Arial" panose="020B0604020202020204" pitchFamily="34" charset="0"/>
              <a:buChar char="•"/>
            </a:pPr>
            <a:r>
              <a:rPr lang="de-DE"/>
              <a:t>In Kombination mit hoher Drehzahl deutet dies auf Überlast oder thermische Instabilität im Systemteil hin, das mit comp3 verknüpft ist.</a:t>
            </a:r>
          </a:p>
          <a:p>
            <a:pPr marL="171450" indent="-171450">
              <a:buFont typeface="Arial" panose="020B0604020202020204" pitchFamily="34" charset="0"/>
              <a:buChar char="•"/>
            </a:pPr>
            <a:r>
              <a:rPr lang="de-DE"/>
              <a:t>Der Pfad zeigt also klar nachvollziehbar, welche Schwellenwerte das Modell für eine Fehlentscheidung heranzieht.</a:t>
            </a:r>
          </a:p>
        </p:txBody>
      </p:sp>
      <p:sp>
        <p:nvSpPr>
          <p:cNvPr id="4" name="Foliennummernplatzhalter 3">
            <a:extLst>
              <a:ext uri="{FF2B5EF4-FFF2-40B4-BE49-F238E27FC236}">
                <a16:creationId xmlns:a16="http://schemas.microsoft.com/office/drawing/2014/main" id="{948E9EAC-8276-8F8B-7EE0-57D4D4175BE0}"/>
              </a:ext>
            </a:extLst>
          </p:cNvPr>
          <p:cNvSpPr>
            <a:spLocks noGrp="1"/>
          </p:cNvSpPr>
          <p:nvPr>
            <p:ph type="sldNum" sz="quarter" idx="5"/>
          </p:nvPr>
        </p:nvSpPr>
        <p:spPr/>
        <p:txBody>
          <a:bodyPr/>
          <a:lstStyle/>
          <a:p>
            <a:fld id="{0A4275E9-69A1-4EE9-97A1-16A17FC52D7D}" type="slidenum">
              <a:rPr lang="de-DE" smtClean="0"/>
              <a:t>19</a:t>
            </a:fld>
            <a:endParaRPr lang="de-DE"/>
          </a:p>
        </p:txBody>
      </p:sp>
    </p:spTree>
    <p:extLst>
      <p:ext uri="{BB962C8B-B14F-4D97-AF65-F5344CB8AC3E}">
        <p14:creationId xmlns:p14="http://schemas.microsoft.com/office/powerpoint/2010/main" val="36137216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0A4275E9-69A1-4EE9-97A1-16A17FC52D7D}" type="slidenum">
              <a:rPr lang="de-DE" smtClean="0"/>
              <a:t>20</a:t>
            </a:fld>
            <a:endParaRPr lang="de-DE"/>
          </a:p>
        </p:txBody>
      </p:sp>
    </p:spTree>
    <p:extLst>
      <p:ext uri="{BB962C8B-B14F-4D97-AF65-F5344CB8AC3E}">
        <p14:creationId xmlns:p14="http://schemas.microsoft.com/office/powerpoint/2010/main" val="28695594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F34F5-6784-F519-7BC7-4D5E76A1144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43D2192-8691-446D-D30F-879DD36F2FE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CE6AD61-16E0-D5AA-98F9-356CB9A05F94}"/>
              </a:ext>
            </a:extLst>
          </p:cNvPr>
          <p:cNvSpPr>
            <a:spLocks noGrp="1"/>
          </p:cNvSpPr>
          <p:nvPr>
            <p:ph type="body" idx="1"/>
          </p:nvPr>
        </p:nvSpPr>
        <p:spPr/>
        <p:txBody>
          <a:bodyPr/>
          <a:lstStyle/>
          <a:p>
            <a:r>
              <a:rPr lang="de-DE" b="1"/>
              <a:t>Was der Plot konkret zeigt:</a:t>
            </a:r>
          </a:p>
          <a:p>
            <a:r>
              <a:rPr lang="de-DE" b="1"/>
              <a:t>Rotate (Drehzahl) </a:t>
            </a:r>
            <a:r>
              <a:rPr lang="de-DE" b="1">
                <a:sym typeface="Wingdings" panose="05000000000000000000" pitchFamily="2" charset="2"/>
              </a:rPr>
              <a:t> </a:t>
            </a:r>
            <a:r>
              <a:rPr lang="de-DE"/>
              <a:t>Hat den </a:t>
            </a:r>
            <a:r>
              <a:rPr lang="de-DE" b="1"/>
              <a:t>größten Einfluss</a:t>
            </a:r>
            <a:r>
              <a:rPr lang="de-DE"/>
              <a:t> auf das Modell.</a:t>
            </a:r>
          </a:p>
          <a:p>
            <a:pPr marL="171450" lvl="0" indent="-171450">
              <a:buFont typeface="Arial" panose="020B0604020202020204" pitchFamily="34" charset="0"/>
              <a:buChar char="•"/>
            </a:pPr>
            <a:r>
              <a:rPr lang="de-DE" b="1"/>
              <a:t>Niedrige Drehzahlen (blau)</a:t>
            </a:r>
            <a:r>
              <a:rPr lang="de-DE"/>
              <a:t> führen zu </a:t>
            </a:r>
            <a:r>
              <a:rPr lang="de-DE" b="1"/>
              <a:t>positiven SHAP-Werten</a:t>
            </a:r>
            <a:r>
              <a:rPr lang="de-DE"/>
              <a:t>, also höherer Ausfallwahrscheinlichkeit.</a:t>
            </a:r>
          </a:p>
          <a:p>
            <a:pPr marL="171450" lvl="0" indent="-171450">
              <a:buFont typeface="Arial" panose="020B0604020202020204" pitchFamily="34" charset="0"/>
              <a:buChar char="•"/>
            </a:pPr>
            <a:r>
              <a:rPr lang="de-DE" b="1"/>
              <a:t>Hohe Drehzahlen (rot)</a:t>
            </a:r>
            <a:r>
              <a:rPr lang="de-DE"/>
              <a:t> senken das Risiko (negative SHAP-Werte).</a:t>
            </a:r>
          </a:p>
          <a:p>
            <a:pPr marL="171450" lvl="0" indent="-171450">
              <a:buFont typeface="Arial" panose="020B0604020202020204" pitchFamily="34" charset="0"/>
              <a:buChar char="•"/>
            </a:pPr>
            <a:endParaRPr lang="de-DE"/>
          </a:p>
          <a:p>
            <a:pPr marL="0" lvl="0" indent="0">
              <a:buFont typeface="Arial" panose="020B0604020202020204" pitchFamily="34" charset="0"/>
              <a:buNone/>
            </a:pPr>
            <a:r>
              <a:rPr lang="de-DE">
                <a:sym typeface="Wingdings" panose="05000000000000000000" pitchFamily="2" charset="2"/>
              </a:rPr>
              <a:t> </a:t>
            </a:r>
            <a:r>
              <a:rPr lang="de-DE"/>
              <a:t>Das Modell interpretiert niedrige Drehzahlen als potenziell kritischen Zustand (ggf. Defekt).</a:t>
            </a:r>
          </a:p>
        </p:txBody>
      </p:sp>
      <p:sp>
        <p:nvSpPr>
          <p:cNvPr id="4" name="Foliennummernplatzhalter 3">
            <a:extLst>
              <a:ext uri="{FF2B5EF4-FFF2-40B4-BE49-F238E27FC236}">
                <a16:creationId xmlns:a16="http://schemas.microsoft.com/office/drawing/2014/main" id="{6F338A36-C35B-A0DE-95BB-B1CB4C344016}"/>
              </a:ext>
            </a:extLst>
          </p:cNvPr>
          <p:cNvSpPr>
            <a:spLocks noGrp="1"/>
          </p:cNvSpPr>
          <p:nvPr>
            <p:ph type="sldNum" sz="quarter" idx="5"/>
          </p:nvPr>
        </p:nvSpPr>
        <p:spPr/>
        <p:txBody>
          <a:bodyPr/>
          <a:lstStyle/>
          <a:p>
            <a:fld id="{0A4275E9-69A1-4EE9-97A1-16A17FC52D7D}" type="slidenum">
              <a:rPr lang="de-DE" smtClean="0"/>
              <a:t>21</a:t>
            </a:fld>
            <a:endParaRPr lang="de-DE"/>
          </a:p>
        </p:txBody>
      </p:sp>
    </p:spTree>
    <p:extLst>
      <p:ext uri="{BB962C8B-B14F-4D97-AF65-F5344CB8AC3E}">
        <p14:creationId xmlns:p14="http://schemas.microsoft.com/office/powerpoint/2010/main" val="37776820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t>All</a:t>
            </a:r>
            <a:endParaRPr lang="de-DE"/>
          </a:p>
        </p:txBody>
      </p:sp>
      <p:sp>
        <p:nvSpPr>
          <p:cNvPr id="4" name="Foliennummernplatzhalter 3"/>
          <p:cNvSpPr>
            <a:spLocks noGrp="1"/>
          </p:cNvSpPr>
          <p:nvPr>
            <p:ph type="sldNum" sz="quarter" idx="5"/>
          </p:nvPr>
        </p:nvSpPr>
        <p:spPr/>
        <p:txBody>
          <a:bodyPr/>
          <a:lstStyle/>
          <a:p>
            <a:fld id="{0A4275E9-69A1-4EE9-97A1-16A17FC52D7D}" type="slidenum">
              <a:rPr lang="de-DE" smtClean="0"/>
              <a:t>22</a:t>
            </a:fld>
            <a:endParaRPr lang="de-DE"/>
          </a:p>
        </p:txBody>
      </p:sp>
    </p:spTree>
    <p:extLst>
      <p:ext uri="{BB962C8B-B14F-4D97-AF65-F5344CB8AC3E}">
        <p14:creationId xmlns:p14="http://schemas.microsoft.com/office/powerpoint/2010/main" val="32933744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BE656-9A72-4FD9-7EBD-73E01CCBC9D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38F7603-AE16-3578-E26F-7A0F442BAC5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C67BADA-0BD9-4804-15D6-D60287E7BE39}"/>
              </a:ext>
            </a:extLst>
          </p:cNvPr>
          <p:cNvSpPr>
            <a:spLocks noGrp="1"/>
          </p:cNvSpPr>
          <p:nvPr>
            <p:ph type="body" idx="1"/>
          </p:nvPr>
        </p:nvSpPr>
        <p:spPr/>
        <p:txBody>
          <a:bodyPr/>
          <a:lstStyle/>
          <a:p>
            <a:r>
              <a:rPr lang="de-DE" b="1"/>
              <a:t>Interpretation der vier Diagramme:</a:t>
            </a:r>
          </a:p>
          <a:p>
            <a:endParaRPr lang="de-DE" b="1"/>
          </a:p>
          <a:p>
            <a:r>
              <a:rPr lang="de-DE" b="1"/>
              <a:t>Ausfallart: comp1 (oben links)</a:t>
            </a:r>
          </a:p>
          <a:p>
            <a:pPr marL="171450" indent="-171450">
              <a:buFont typeface="Arial" panose="020B0604020202020204" pitchFamily="34" charset="0"/>
              <a:buChar char="•"/>
            </a:pPr>
            <a:r>
              <a:rPr lang="de-DE"/>
              <a:t>Bei </a:t>
            </a:r>
            <a:r>
              <a:rPr lang="de-DE" b="1"/>
              <a:t>niedrigem Druck (&lt;110 bar)</a:t>
            </a:r>
            <a:r>
              <a:rPr lang="de-DE"/>
              <a:t> liegt die Ausfallwahrscheinlichkeit relativ hoch (~0.32).</a:t>
            </a:r>
          </a:p>
          <a:p>
            <a:pPr marL="171450" indent="-171450">
              <a:buFont typeface="Arial" panose="020B0604020202020204" pitchFamily="34" charset="0"/>
              <a:buChar char="•"/>
            </a:pPr>
            <a:r>
              <a:rPr lang="de-DE"/>
              <a:t>Ab </a:t>
            </a:r>
            <a:r>
              <a:rPr lang="de-DE" b="1"/>
              <a:t>~115 bar</a:t>
            </a:r>
            <a:r>
              <a:rPr lang="de-DE"/>
              <a:t> fällt die Wahrscheinlichkeit stark ab → Maschine läuft stabiler.</a:t>
            </a:r>
          </a:p>
          <a:p>
            <a:pPr marL="171450" indent="-171450">
              <a:buFont typeface="Arial" panose="020B0604020202020204" pitchFamily="34" charset="0"/>
              <a:buChar char="•"/>
            </a:pPr>
            <a:endParaRPr lang="de-DE">
              <a:sym typeface="Wingdings" panose="05000000000000000000" pitchFamily="2" charset="2"/>
            </a:endParaRPr>
          </a:p>
          <a:p>
            <a:pPr marL="0" indent="0">
              <a:buFont typeface="Arial" panose="020B0604020202020204" pitchFamily="34" charset="0"/>
              <a:buNone/>
            </a:pPr>
            <a:r>
              <a:rPr lang="de-DE">
                <a:sym typeface="Wingdings" panose="05000000000000000000" pitchFamily="2" charset="2"/>
              </a:rPr>
              <a:t> </a:t>
            </a:r>
            <a:r>
              <a:rPr lang="de-DE"/>
              <a:t>Das Modell interpretiert </a:t>
            </a:r>
            <a:r>
              <a:rPr lang="de-DE" b="1"/>
              <a:t>niedrigen Druck</a:t>
            </a:r>
            <a:r>
              <a:rPr lang="de-DE"/>
              <a:t> als Hinweis auf einen </a:t>
            </a:r>
            <a:r>
              <a:rPr lang="de-DE" b="1"/>
              <a:t>Ausfall von Komponente 1</a:t>
            </a:r>
            <a:r>
              <a:rPr lang="de-DE"/>
              <a:t>, möglicherweise durch unzureichende Belastung oder Undichtigkeit.</a:t>
            </a:r>
          </a:p>
          <a:p>
            <a:endParaRPr lang="de-DE"/>
          </a:p>
          <a:p>
            <a:r>
              <a:rPr lang="de-DE" b="1"/>
              <a:t>Ausfallart: comp2 (oben rechts)</a:t>
            </a:r>
          </a:p>
          <a:p>
            <a:pPr marL="171450" indent="-171450">
              <a:buFont typeface="Arial" panose="020B0604020202020204" pitchFamily="34" charset="0"/>
              <a:buChar char="•"/>
            </a:pPr>
            <a:r>
              <a:rPr lang="de-DE"/>
              <a:t>Gleicher Trend wie bei comp1:</a:t>
            </a:r>
            <a:br>
              <a:rPr lang="de-DE"/>
            </a:br>
            <a:r>
              <a:rPr lang="de-DE"/>
              <a:t>Bis etwa </a:t>
            </a:r>
            <a:r>
              <a:rPr lang="de-DE" b="1"/>
              <a:t>110 bar</a:t>
            </a:r>
            <a:r>
              <a:rPr lang="de-DE"/>
              <a:t> bleibt die Wahrscheinlichkeit stabil, danach </a:t>
            </a:r>
            <a:r>
              <a:rPr lang="de-DE" b="1"/>
              <a:t>starker Abfall</a:t>
            </a:r>
            <a:r>
              <a:rPr lang="de-DE"/>
              <a:t>.</a:t>
            </a:r>
          </a:p>
          <a:p>
            <a:pPr marL="171450" indent="-171450">
              <a:buFont typeface="Arial" panose="020B0604020202020204" pitchFamily="34" charset="0"/>
              <a:buChar char="•"/>
            </a:pPr>
            <a:r>
              <a:rPr lang="de-DE"/>
              <a:t>Bei </a:t>
            </a:r>
            <a:r>
              <a:rPr lang="de-DE" b="1"/>
              <a:t>&gt;125 bar</a:t>
            </a:r>
            <a:r>
              <a:rPr lang="de-DE"/>
              <a:t> ist die Fehlerwahrscheinlichkeit sehr niedrig.</a:t>
            </a:r>
          </a:p>
          <a:p>
            <a:pPr marL="171450" indent="-171450">
              <a:buFont typeface="Arial" panose="020B0604020202020204" pitchFamily="34" charset="0"/>
              <a:buChar char="•"/>
            </a:pPr>
            <a:endParaRPr lang="de-DE"/>
          </a:p>
          <a:p>
            <a:pPr marL="0" indent="0">
              <a:buFont typeface="Arial" panose="020B0604020202020204" pitchFamily="34" charset="0"/>
              <a:buNone/>
            </a:pPr>
            <a:r>
              <a:rPr lang="de-DE">
                <a:sym typeface="Wingdings" panose="05000000000000000000" pitchFamily="2" charset="2"/>
              </a:rPr>
              <a:t> </a:t>
            </a:r>
            <a:r>
              <a:rPr lang="de-DE"/>
              <a:t>Auch hier ist </a:t>
            </a:r>
            <a:r>
              <a:rPr lang="de-DE" b="1"/>
              <a:t>niedriger Druck kritisch</a:t>
            </a:r>
            <a:r>
              <a:rPr lang="de-DE"/>
              <a:t>, </a:t>
            </a:r>
            <a:r>
              <a:rPr lang="de-DE" b="1"/>
              <a:t>hoher Druck unkritisch</a:t>
            </a:r>
            <a:r>
              <a:rPr lang="de-DE"/>
              <a:t>.</a:t>
            </a:r>
          </a:p>
          <a:p>
            <a:br>
              <a:rPr lang="de-DE"/>
            </a:br>
            <a:endParaRPr lang="de-DE"/>
          </a:p>
          <a:p>
            <a:r>
              <a:rPr lang="de-DE" b="1"/>
              <a:t>Ausfallart: comp3 (unten links)</a:t>
            </a:r>
          </a:p>
          <a:p>
            <a:pPr marL="171450" indent="-171450">
              <a:buFont typeface="Arial" panose="020B0604020202020204" pitchFamily="34" charset="0"/>
              <a:buChar char="•"/>
            </a:pPr>
            <a:r>
              <a:rPr lang="de-DE"/>
              <a:t>Umgekehrtes Verhalten:</a:t>
            </a:r>
          </a:p>
          <a:p>
            <a:pPr marL="171450" indent="-171450">
              <a:buFont typeface="Arial" panose="020B0604020202020204" pitchFamily="34" charset="0"/>
              <a:buChar char="•"/>
            </a:pPr>
            <a:r>
              <a:rPr lang="de-DE"/>
              <a:t>Unter </a:t>
            </a:r>
            <a:r>
              <a:rPr lang="de-DE" b="1"/>
              <a:t>110 bar</a:t>
            </a:r>
            <a:r>
              <a:rPr lang="de-DE"/>
              <a:t> ist die Fehlerwahrscheinlichkeit sehr gering.</a:t>
            </a:r>
          </a:p>
          <a:p>
            <a:pPr marL="171450" indent="-171450">
              <a:buFont typeface="Arial" panose="020B0604020202020204" pitchFamily="34" charset="0"/>
              <a:buChar char="•"/>
            </a:pPr>
            <a:r>
              <a:rPr lang="de-DE"/>
              <a:t>Ab </a:t>
            </a:r>
            <a:r>
              <a:rPr lang="de-DE" b="1"/>
              <a:t>~115 bar</a:t>
            </a:r>
            <a:r>
              <a:rPr lang="de-DE"/>
              <a:t> steigt sie stark an und erreicht bei </a:t>
            </a:r>
            <a:r>
              <a:rPr lang="de-DE" b="1"/>
              <a:t>&gt;130 bar</a:t>
            </a:r>
            <a:r>
              <a:rPr lang="de-DE"/>
              <a:t> ein Maximum (~0.6).</a:t>
            </a:r>
          </a:p>
          <a:p>
            <a:pPr marL="171450" indent="-171450">
              <a:buFont typeface="Arial" panose="020B0604020202020204" pitchFamily="34" charset="0"/>
              <a:buChar char="•"/>
            </a:pPr>
            <a:endParaRPr lang="de-DE" b="1"/>
          </a:p>
          <a:p>
            <a:pPr marL="0" indent="0">
              <a:buFont typeface="Arial" panose="020B0604020202020204" pitchFamily="34" charset="0"/>
              <a:buNone/>
            </a:pPr>
            <a:r>
              <a:rPr lang="de-DE" b="1">
                <a:sym typeface="Wingdings" panose="05000000000000000000" pitchFamily="2" charset="2"/>
              </a:rPr>
              <a:t> </a:t>
            </a:r>
            <a:r>
              <a:rPr lang="de-DE" b="1"/>
              <a:t>Hoher Druck</a:t>
            </a:r>
            <a:r>
              <a:rPr lang="de-DE"/>
              <a:t> deutet auf </a:t>
            </a:r>
            <a:r>
              <a:rPr lang="de-DE" b="1"/>
              <a:t>Überlast oder mechanische Beanspruchung</a:t>
            </a:r>
            <a:r>
              <a:rPr lang="de-DE"/>
              <a:t> dieser Komponente hin.</a:t>
            </a:r>
          </a:p>
          <a:p>
            <a:br>
              <a:rPr lang="de-DE"/>
            </a:br>
            <a:endParaRPr lang="de-DE"/>
          </a:p>
          <a:p>
            <a:r>
              <a:rPr lang="de-DE" b="1"/>
              <a:t>Ausfallart: comp4 (unten rechts)</a:t>
            </a:r>
          </a:p>
          <a:p>
            <a:pPr marL="171450" indent="-171450">
              <a:buFont typeface="Arial" panose="020B0604020202020204" pitchFamily="34" charset="0"/>
              <a:buChar char="•"/>
            </a:pPr>
            <a:r>
              <a:rPr lang="de-DE"/>
              <a:t>Relativ konstanter Bereich bis etwa </a:t>
            </a:r>
            <a:r>
              <a:rPr lang="de-DE" b="1"/>
              <a:t>110 bar</a:t>
            </a:r>
            <a:r>
              <a:rPr lang="de-DE"/>
              <a:t>, danach leichter Abfall.</a:t>
            </a:r>
          </a:p>
          <a:p>
            <a:pPr marL="171450" indent="-171450">
              <a:buFont typeface="Arial" panose="020B0604020202020204" pitchFamily="34" charset="0"/>
              <a:buChar char="•"/>
            </a:pPr>
            <a:endParaRPr lang="de-DE"/>
          </a:p>
          <a:p>
            <a:pPr marL="0" indent="0">
              <a:buFont typeface="Arial" panose="020B0604020202020204" pitchFamily="34" charset="0"/>
              <a:buNone/>
            </a:pPr>
            <a:r>
              <a:rPr lang="de-DE">
                <a:sym typeface="Wingdings" panose="05000000000000000000" pitchFamily="2" charset="2"/>
              </a:rPr>
              <a:t> </a:t>
            </a:r>
            <a:r>
              <a:rPr lang="de-DE"/>
              <a:t>Druck hat bei dieser Komponente </a:t>
            </a:r>
            <a:r>
              <a:rPr lang="de-DE" b="1"/>
              <a:t>geringeren Einfluss</a:t>
            </a:r>
            <a:r>
              <a:rPr lang="de-DE"/>
              <a:t>, aber </a:t>
            </a:r>
            <a:r>
              <a:rPr lang="de-DE" b="1"/>
              <a:t>hoher Druck (&gt;125 bar)</a:t>
            </a:r>
            <a:r>
              <a:rPr lang="de-DE"/>
              <a:t> senkt leicht die Fehlerwahrscheinlichkeit.</a:t>
            </a:r>
          </a:p>
        </p:txBody>
      </p:sp>
      <p:sp>
        <p:nvSpPr>
          <p:cNvPr id="4" name="Foliennummernplatzhalter 3">
            <a:extLst>
              <a:ext uri="{FF2B5EF4-FFF2-40B4-BE49-F238E27FC236}">
                <a16:creationId xmlns:a16="http://schemas.microsoft.com/office/drawing/2014/main" id="{1B041ABC-FA32-C832-1165-A8B031F0CD84}"/>
              </a:ext>
            </a:extLst>
          </p:cNvPr>
          <p:cNvSpPr>
            <a:spLocks noGrp="1"/>
          </p:cNvSpPr>
          <p:nvPr>
            <p:ph type="sldNum" sz="quarter" idx="5"/>
          </p:nvPr>
        </p:nvSpPr>
        <p:spPr/>
        <p:txBody>
          <a:bodyPr/>
          <a:lstStyle/>
          <a:p>
            <a:fld id="{0A4275E9-69A1-4EE9-97A1-16A17FC52D7D}" type="slidenum">
              <a:rPr lang="de-DE" smtClean="0"/>
              <a:t>23</a:t>
            </a:fld>
            <a:endParaRPr lang="de-DE"/>
          </a:p>
        </p:txBody>
      </p:sp>
    </p:spTree>
    <p:extLst>
      <p:ext uri="{BB962C8B-B14F-4D97-AF65-F5344CB8AC3E}">
        <p14:creationId xmlns:p14="http://schemas.microsoft.com/office/powerpoint/2010/main" val="13682885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 typeface="Arial" panose="020B0604020202020204" pitchFamily="34" charset="0"/>
              <a:buChar char="•"/>
            </a:pPr>
            <a:r>
              <a:rPr lang="en-US"/>
              <a:t>Feature Importance auch bei </a:t>
            </a:r>
            <a:endParaRPr lang="de-DE"/>
          </a:p>
        </p:txBody>
      </p:sp>
      <p:sp>
        <p:nvSpPr>
          <p:cNvPr id="4" name="Foliennummernplatzhalter 3"/>
          <p:cNvSpPr>
            <a:spLocks noGrp="1"/>
          </p:cNvSpPr>
          <p:nvPr>
            <p:ph type="sldNum" sz="quarter" idx="5"/>
          </p:nvPr>
        </p:nvSpPr>
        <p:spPr/>
        <p:txBody>
          <a:bodyPr/>
          <a:lstStyle/>
          <a:p>
            <a:fld id="{0A4275E9-69A1-4EE9-97A1-16A17FC52D7D}" type="slidenum">
              <a:rPr lang="de-DE" smtClean="0"/>
              <a:t>25</a:t>
            </a:fld>
            <a:endParaRPr lang="de-DE"/>
          </a:p>
        </p:txBody>
      </p:sp>
    </p:spTree>
    <p:extLst>
      <p:ext uri="{BB962C8B-B14F-4D97-AF65-F5344CB8AC3E}">
        <p14:creationId xmlns:p14="http://schemas.microsoft.com/office/powerpoint/2010/main" val="40489692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t>Interpretation:</a:t>
            </a:r>
          </a:p>
          <a:p>
            <a:endParaRPr lang="en-US"/>
          </a:p>
          <a:p>
            <a:r>
              <a:rPr lang="de-DE" b="1"/>
              <a:t>Sample 0 – Pred: 0 (comp1)</a:t>
            </a:r>
          </a:p>
          <a:p>
            <a:pPr marL="171450" indent="-171450">
              <a:buFont typeface="Arial" panose="020B0604020202020204" pitchFamily="34" charset="0"/>
              <a:buChar char="•"/>
            </a:pPr>
            <a:r>
              <a:rPr lang="de-DE" b="1"/>
              <a:t>Pressure</a:t>
            </a:r>
            <a:r>
              <a:rPr lang="de-DE"/>
              <a:t> hat den höchsten Einfluss → das Netz erkennt den Ausfall vorrangig über Druckänderungen.</a:t>
            </a:r>
          </a:p>
          <a:p>
            <a:pPr marL="171450" indent="-171450">
              <a:buFont typeface="Arial" panose="020B0604020202020204" pitchFamily="34" charset="0"/>
              <a:buChar char="•"/>
            </a:pPr>
            <a:r>
              <a:rPr lang="de-DE" b="1"/>
              <a:t>Volt</a:t>
            </a:r>
            <a:r>
              <a:rPr lang="de-DE"/>
              <a:t> und </a:t>
            </a:r>
            <a:r>
              <a:rPr lang="de-DE" b="1"/>
              <a:t>Rotate</a:t>
            </a:r>
            <a:r>
              <a:rPr lang="de-DE"/>
              <a:t> tragen nur gering bei.</a:t>
            </a:r>
          </a:p>
          <a:p>
            <a:pPr marL="171450" indent="-171450">
              <a:buFont typeface="Arial" panose="020B0604020202020204" pitchFamily="34" charset="0"/>
              <a:buChar char="•"/>
            </a:pPr>
            <a:r>
              <a:rPr lang="de-DE" b="1"/>
              <a:t>Interpretation:</a:t>
            </a:r>
            <a:r>
              <a:rPr lang="de-DE"/>
              <a:t> Druck spielt bei Fehlerklasse 1 die zentrale Rolle → evtl. instabile Druckverhältnisse.</a:t>
            </a:r>
          </a:p>
          <a:p>
            <a:pPr marL="0" indent="0">
              <a:buFont typeface="Arial" panose="020B0604020202020204" pitchFamily="34" charset="0"/>
              <a:buNone/>
            </a:pPr>
            <a:endParaRPr lang="de-DE"/>
          </a:p>
          <a:p>
            <a:r>
              <a:rPr lang="de-DE" b="1"/>
              <a:t>Sample 2 – Pred: 3 (comp4)</a:t>
            </a:r>
          </a:p>
          <a:p>
            <a:pPr marL="171450" indent="-171450">
              <a:buFont typeface="Arial" panose="020B0604020202020204" pitchFamily="34" charset="0"/>
              <a:buChar char="•"/>
            </a:pPr>
            <a:r>
              <a:rPr lang="de-DE" b="1"/>
              <a:t>Vibration</a:t>
            </a:r>
            <a:r>
              <a:rPr lang="de-DE"/>
              <a:t> und </a:t>
            </a:r>
            <a:r>
              <a:rPr lang="de-DE" b="1"/>
              <a:t>Volt</a:t>
            </a:r>
            <a:r>
              <a:rPr lang="de-DE"/>
              <a:t> haben den höchsten Einfluss.</a:t>
            </a:r>
          </a:p>
          <a:p>
            <a:pPr marL="171450" indent="-171450">
              <a:buFont typeface="Arial" panose="020B0604020202020204" pitchFamily="34" charset="0"/>
              <a:buChar char="•"/>
            </a:pPr>
            <a:r>
              <a:rPr lang="de-DE" b="1"/>
              <a:t>Pressure</a:t>
            </a:r>
            <a:r>
              <a:rPr lang="de-DE"/>
              <a:t> und </a:t>
            </a:r>
            <a:r>
              <a:rPr lang="de-DE" b="1"/>
              <a:t>Rotate</a:t>
            </a:r>
            <a:r>
              <a:rPr lang="de-DE"/>
              <a:t> fast bedeutungslos.</a:t>
            </a:r>
          </a:p>
          <a:p>
            <a:pPr marL="171450" indent="-171450">
              <a:buFont typeface="Arial" panose="020B0604020202020204" pitchFamily="34" charset="0"/>
              <a:buChar char="•"/>
            </a:pPr>
            <a:r>
              <a:rPr lang="de-DE" b="1"/>
              <a:t>Interpretation:</a:t>
            </a:r>
            <a:r>
              <a:rPr lang="de-DE"/>
              <a:t> Fehlerklasse 4 wird hauptsächlich über Schwingungen (mechanische Unruhe) erkannt – typisch für Lager- oder Antriebsfehler.</a:t>
            </a:r>
          </a:p>
          <a:p>
            <a:pPr marL="0" indent="0">
              <a:buFont typeface="Arial" panose="020B0604020202020204" pitchFamily="34" charset="0"/>
              <a:buNone/>
            </a:pPr>
            <a:endParaRPr lang="de-DE"/>
          </a:p>
          <a:p>
            <a:r>
              <a:rPr lang="de-DE" b="1"/>
              <a:t>Sample 3 – Pred: 3 (comp4)</a:t>
            </a:r>
          </a:p>
          <a:p>
            <a:pPr marL="171450" indent="-171450">
              <a:buFont typeface="Arial" panose="020B0604020202020204" pitchFamily="34" charset="0"/>
              <a:buChar char="•"/>
            </a:pPr>
            <a:r>
              <a:rPr lang="de-DE"/>
              <a:t>Bestätigt das Muster von Sample 2: </a:t>
            </a:r>
            <a:r>
              <a:rPr lang="de-DE" b="1"/>
              <a:t>Vibration</a:t>
            </a:r>
            <a:r>
              <a:rPr lang="de-DE"/>
              <a:t> dominiert erneut stark.</a:t>
            </a:r>
          </a:p>
          <a:p>
            <a:pPr marL="171450" indent="-171450">
              <a:buFont typeface="Arial" panose="020B0604020202020204" pitchFamily="34" charset="0"/>
              <a:buChar char="•"/>
            </a:pPr>
            <a:r>
              <a:rPr lang="de-DE"/>
              <a:t>Das zeigt, dass das Modell intern konsistent arbeitet – ähnliche Fehler führen zu ähnlichen Merkmalaktivierungen.</a:t>
            </a:r>
          </a:p>
          <a:p>
            <a:pPr marL="0" indent="0">
              <a:buFont typeface="Arial" panose="020B0604020202020204" pitchFamily="34" charset="0"/>
              <a:buNone/>
            </a:pPr>
            <a:endParaRPr lang="de-DE"/>
          </a:p>
          <a:p>
            <a:pPr marL="0" indent="0">
              <a:buFont typeface="Arial" panose="020B0604020202020204" pitchFamily="34" charset="0"/>
              <a:buNone/>
            </a:pPr>
            <a:r>
              <a:rPr lang="de-DE">
                <a:sym typeface="Wingdings" panose="05000000000000000000" pitchFamily="2" charset="2"/>
              </a:rPr>
              <a:t> </a:t>
            </a:r>
            <a:r>
              <a:rPr lang="de-DE"/>
              <a:t>Die Saliency Maps zeigen, welche Eingangswerte das neuronale Netz bei einzelnen Beispielen am stärksten für die Entscheidung genutzt hat</a:t>
            </a:r>
          </a:p>
          <a:p>
            <a:pPr marL="171450" indent="-171450">
              <a:buFont typeface="Arial" panose="020B0604020202020204" pitchFamily="34" charset="0"/>
              <a:buChar char="•"/>
            </a:pPr>
            <a:endParaRPr lang="de-DE"/>
          </a:p>
        </p:txBody>
      </p:sp>
      <p:sp>
        <p:nvSpPr>
          <p:cNvPr id="4" name="Foliennummernplatzhalter 3"/>
          <p:cNvSpPr>
            <a:spLocks noGrp="1"/>
          </p:cNvSpPr>
          <p:nvPr>
            <p:ph type="sldNum" sz="quarter" idx="5"/>
          </p:nvPr>
        </p:nvSpPr>
        <p:spPr/>
        <p:txBody>
          <a:bodyPr/>
          <a:lstStyle/>
          <a:p>
            <a:fld id="{0A4275E9-69A1-4EE9-97A1-16A17FC52D7D}" type="slidenum">
              <a:rPr lang="de-DE" smtClean="0"/>
              <a:t>26</a:t>
            </a:fld>
            <a:endParaRPr lang="de-DE"/>
          </a:p>
        </p:txBody>
      </p:sp>
    </p:spTree>
    <p:extLst>
      <p:ext uri="{BB962C8B-B14F-4D97-AF65-F5344CB8AC3E}">
        <p14:creationId xmlns:p14="http://schemas.microsoft.com/office/powerpoint/2010/main" val="42786454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0A4275E9-69A1-4EE9-97A1-16A17FC52D7D}" type="slidenum">
              <a:rPr lang="de-DE" smtClean="0"/>
              <a:t>27</a:t>
            </a:fld>
            <a:endParaRPr lang="de-DE"/>
          </a:p>
        </p:txBody>
      </p:sp>
    </p:spTree>
    <p:extLst>
      <p:ext uri="{BB962C8B-B14F-4D97-AF65-F5344CB8AC3E}">
        <p14:creationId xmlns:p14="http://schemas.microsoft.com/office/powerpoint/2010/main" val="16910484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50788-0CCD-8AEC-B8DE-82F194B1B9F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E40ADE0-B88C-A33A-7A82-D5E607D52F7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8E00E26-1D02-36D5-795F-F7DE4FB08B9A}"/>
              </a:ext>
            </a:extLst>
          </p:cNvPr>
          <p:cNvSpPr>
            <a:spLocks noGrp="1"/>
          </p:cNvSpPr>
          <p:nvPr>
            <p:ph type="body" idx="1"/>
          </p:nvPr>
        </p:nvSpPr>
        <p:spPr/>
        <p:txBody>
          <a:bodyPr/>
          <a:lstStyle/>
          <a:p>
            <a:r>
              <a:rPr lang="en-US"/>
              <a:t>Interpretation:</a:t>
            </a:r>
            <a:endParaRPr lang="de-DE"/>
          </a:p>
          <a:p>
            <a:pPr marL="171450" indent="-171450">
              <a:buFont typeface="Arial" panose="020B0604020202020204" pitchFamily="34" charset="0"/>
              <a:buChar char="•"/>
            </a:pPr>
            <a:r>
              <a:rPr lang="de-DE"/>
              <a:t>Allgemein: Abwechslungsreiche Farbmuster </a:t>
            </a:r>
            <a:r>
              <a:rPr lang="de-DE">
                <a:sym typeface="Wingdings" panose="05000000000000000000" pitchFamily="2" charset="2"/>
              </a:rPr>
              <a:t> Neuronen haben unterschiedliche Spezialisierungen gelernt</a:t>
            </a:r>
          </a:p>
          <a:p>
            <a:pPr marL="171450" indent="-171450">
              <a:buFont typeface="Arial" panose="020B0604020202020204" pitchFamily="34" charset="0"/>
              <a:buChar char="•"/>
            </a:pPr>
            <a:r>
              <a:rPr lang="de-DE">
                <a:sym typeface="Wingdings" panose="05000000000000000000" pitchFamily="2" charset="2"/>
              </a:rPr>
              <a:t>Druck:</a:t>
            </a:r>
          </a:p>
          <a:p>
            <a:pPr marL="628650" lvl="1" indent="-171450">
              <a:buFont typeface="Arial" panose="020B0604020202020204" pitchFamily="34" charset="0"/>
              <a:buChar char="•"/>
            </a:pPr>
            <a:r>
              <a:rPr lang="de-DE">
                <a:sym typeface="Wingdings" panose="05000000000000000000" pitchFamily="2" charset="2"/>
              </a:rPr>
              <a:t>Einige Neuronen reagieren stark auf Druck  stark Rot eingefärbt (aktvierender Einflus bei hohem Druck)</a:t>
            </a:r>
          </a:p>
          <a:p>
            <a:pPr marL="628650" lvl="1" indent="-171450">
              <a:buFont typeface="Arial" panose="020B0604020202020204" pitchFamily="34" charset="0"/>
              <a:buChar char="•"/>
            </a:pPr>
            <a:r>
              <a:rPr lang="de-DE">
                <a:sym typeface="Wingdings" panose="05000000000000000000" pitchFamily="2" charset="2"/>
              </a:rPr>
              <a:t>Andere Neuronen reagieren entgegengesetzt</a:t>
            </a:r>
          </a:p>
          <a:p>
            <a:pPr marL="628650" lvl="1" indent="-171450">
              <a:buFont typeface="Arial" panose="020B0604020202020204" pitchFamily="34" charset="0"/>
              <a:buChar char="•"/>
            </a:pPr>
            <a:r>
              <a:rPr lang="de-DE">
                <a:sym typeface="Wingdings" panose="05000000000000000000" pitchFamily="2" charset="2"/>
              </a:rPr>
              <a:t>Erklärt und zeigt, dass das neuronale Netz beide Richtungen </a:t>
            </a:r>
          </a:p>
          <a:p>
            <a:pPr marL="171450" lvl="0" indent="-171450">
              <a:buFont typeface="Arial" panose="020B0604020202020204" pitchFamily="34" charset="0"/>
              <a:buChar char="•"/>
            </a:pPr>
            <a:r>
              <a:rPr lang="de-DE">
                <a:sym typeface="Wingdings" panose="05000000000000000000" pitchFamily="2" charset="2"/>
              </a:rPr>
              <a:t>Vibration</a:t>
            </a:r>
          </a:p>
          <a:p>
            <a:pPr marL="628650" lvl="1" indent="-171450">
              <a:buFont typeface="Arial" panose="020B0604020202020204" pitchFamily="34" charset="0"/>
              <a:buChar char="•"/>
            </a:pPr>
            <a:r>
              <a:rPr lang="de-DE">
                <a:sym typeface="Wingdings" panose="05000000000000000000" pitchFamily="2" charset="2"/>
              </a:rPr>
              <a:t>Ebenfalls starke positvite und negative Gewicht</a:t>
            </a:r>
          </a:p>
          <a:p>
            <a:pPr marL="171450" lvl="0" indent="-171450">
              <a:buFont typeface="Arial" panose="020B0604020202020204" pitchFamily="34" charset="0"/>
              <a:buChar char="•"/>
            </a:pPr>
            <a:r>
              <a:rPr lang="de-DE">
                <a:sym typeface="Wingdings" panose="05000000000000000000" pitchFamily="2" charset="2"/>
              </a:rPr>
              <a:t>Spannung und Drehzahl eher neutrale bis mittlere Gewichte  Wirken untersützuend, aber sind weniger prägnant für Neuronanaktivierung</a:t>
            </a:r>
          </a:p>
          <a:p>
            <a:pPr marL="0" lvl="0" indent="0">
              <a:buFont typeface="Arial" panose="020B0604020202020204" pitchFamily="34" charset="0"/>
              <a:buNone/>
            </a:pPr>
            <a:endParaRPr lang="de-DE">
              <a:sym typeface="Wingdings" panose="05000000000000000000" pitchFamily="2" charset="2"/>
            </a:endParaRPr>
          </a:p>
          <a:p>
            <a:pPr marL="0" lvl="0" indent="0">
              <a:buFont typeface="Arial" panose="020B0604020202020204" pitchFamily="34" charset="0"/>
              <a:buNone/>
            </a:pPr>
            <a:r>
              <a:rPr lang="de-DE">
                <a:sym typeface="Wingdings" panose="05000000000000000000" pitchFamily="2" charset="2"/>
              </a:rPr>
              <a:t> Zeigt einen änhlichen Zusammenhang wie die Feature Importance</a:t>
            </a:r>
          </a:p>
          <a:p>
            <a:endParaRPr lang="de-DE">
              <a:sym typeface="Wingdings" panose="05000000000000000000" pitchFamily="2" charset="2"/>
            </a:endParaRPr>
          </a:p>
          <a:p>
            <a:endParaRPr lang="en-US"/>
          </a:p>
        </p:txBody>
      </p:sp>
      <p:sp>
        <p:nvSpPr>
          <p:cNvPr id="4" name="Foliennummernplatzhalter 3">
            <a:extLst>
              <a:ext uri="{FF2B5EF4-FFF2-40B4-BE49-F238E27FC236}">
                <a16:creationId xmlns:a16="http://schemas.microsoft.com/office/drawing/2014/main" id="{F5FF48FE-B84D-746B-F5D0-1F3C23D771EC}"/>
              </a:ext>
            </a:extLst>
          </p:cNvPr>
          <p:cNvSpPr>
            <a:spLocks noGrp="1"/>
          </p:cNvSpPr>
          <p:nvPr>
            <p:ph type="sldNum" sz="quarter" idx="5"/>
          </p:nvPr>
        </p:nvSpPr>
        <p:spPr/>
        <p:txBody>
          <a:bodyPr/>
          <a:lstStyle/>
          <a:p>
            <a:fld id="{0A4275E9-69A1-4EE9-97A1-16A17FC52D7D}" type="slidenum">
              <a:rPr lang="de-DE" smtClean="0"/>
              <a:t>28</a:t>
            </a:fld>
            <a:endParaRPr lang="de-DE"/>
          </a:p>
        </p:txBody>
      </p:sp>
    </p:spTree>
    <p:extLst>
      <p:ext uri="{BB962C8B-B14F-4D97-AF65-F5344CB8AC3E}">
        <p14:creationId xmlns:p14="http://schemas.microsoft.com/office/powerpoint/2010/main" val="7803268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indent="0">
              <a:buFont typeface="Arial" panose="020B0604020202020204" pitchFamily="34" charset="0"/>
              <a:buNone/>
            </a:pPr>
            <a:endParaRPr lang="de-DE" b="0"/>
          </a:p>
          <a:p>
            <a:pPr marL="0" indent="0">
              <a:buFont typeface="Arial" panose="020B0604020202020204" pitchFamily="34" charset="0"/>
              <a:buNone/>
            </a:pPr>
            <a:r>
              <a:rPr lang="de-DE" b="0"/>
              <a:t>Interpretation:</a:t>
            </a:r>
          </a:p>
          <a:p>
            <a:pPr marL="171450" indent="-171450">
              <a:buFont typeface="Arial" panose="020B0604020202020204" pitchFamily="34" charset="0"/>
              <a:buChar char="•"/>
            </a:pPr>
            <a:r>
              <a:rPr lang="de-DE" b="0"/>
              <a:t>HL1: Viele neuronen haben niedrige bis mittlere Aktivierung </a:t>
            </a:r>
            <a:r>
              <a:rPr lang="de-DE" b="0">
                <a:sym typeface="Wingdings" panose="05000000000000000000" pitchFamily="2" charset="2"/>
              </a:rPr>
              <a:t> allgemeine Extraktion der Merkmalsmuster</a:t>
            </a:r>
          </a:p>
          <a:p>
            <a:pPr marL="171450" indent="-171450">
              <a:buFont typeface="Arial" panose="020B0604020202020204" pitchFamily="34" charset="0"/>
              <a:buChar char="•"/>
            </a:pPr>
            <a:r>
              <a:rPr lang="de-DE" b="0"/>
              <a:t>HL2: Aktivierungen werden selektiver </a:t>
            </a:r>
            <a:r>
              <a:rPr lang="de-DE" b="0">
                <a:sym typeface="Wingdings" panose="05000000000000000000" pitchFamily="2" charset="2"/>
              </a:rPr>
              <a:t> Netz fokussiert sich auf spezifische Merkmalskombinationen (besitimme Fehler)</a:t>
            </a:r>
          </a:p>
          <a:p>
            <a:pPr marL="171450" indent="-171450">
              <a:buFont typeface="Arial" panose="020B0604020202020204" pitchFamily="34" charset="0"/>
              <a:buChar char="•"/>
            </a:pPr>
            <a:r>
              <a:rPr lang="de-DE" b="0">
                <a:sym typeface="Wingdings" panose="05000000000000000000" pitchFamily="2" charset="2"/>
              </a:rPr>
              <a:t>HL3: Weniger Neuronen, aber höhere Aktivierungen (&gt;1)  Abstrakte Zusammenhänge</a:t>
            </a:r>
          </a:p>
          <a:p>
            <a:pPr marL="171450" indent="-171450">
              <a:buFont typeface="Arial" panose="020B0604020202020204" pitchFamily="34" charset="0"/>
              <a:buChar char="•"/>
            </a:pPr>
            <a:r>
              <a:rPr lang="de-DE" b="0">
                <a:sym typeface="Wingdings" panose="05000000000000000000" pitchFamily="2" charset="2"/>
              </a:rPr>
              <a:t>HL4: Wahrscheinlichkeiten für Ausfall nach Koponente (comp1 -&gt; comp4)  Hier vermutlich Ausfall von comp1</a:t>
            </a:r>
          </a:p>
          <a:p>
            <a:pPr marL="171450" indent="-171450">
              <a:buFont typeface="Arial" panose="020B0604020202020204" pitchFamily="34" charset="0"/>
              <a:buChar char="•"/>
            </a:pPr>
            <a:endParaRPr lang="de-DE" b="0">
              <a:sym typeface="Wingdings" panose="05000000000000000000" pitchFamily="2" charset="2"/>
            </a:endParaRPr>
          </a:p>
          <a:p>
            <a:pPr marL="0" indent="0">
              <a:buFont typeface="Arial" panose="020B0604020202020204" pitchFamily="34" charset="0"/>
              <a:buNone/>
            </a:pPr>
            <a:r>
              <a:rPr lang="de-DE" b="0">
                <a:sym typeface="Wingdings" panose="05000000000000000000" pitchFamily="2" charset="2"/>
              </a:rPr>
              <a:t> Netzwerk filtert und verdichtet Informationen über die Schichten hinweg  Man kann den Entscheidungsweg erklären</a:t>
            </a:r>
            <a:endParaRPr lang="de-DE" b="0"/>
          </a:p>
          <a:p>
            <a:pPr marL="171450" indent="-171450">
              <a:buFont typeface="Arial" panose="020B0604020202020204" pitchFamily="34" charset="0"/>
              <a:buChar char="•"/>
            </a:pPr>
            <a:endParaRPr lang="de-DE" b="0"/>
          </a:p>
          <a:p>
            <a:pPr marL="171450" indent="-171450">
              <a:buFont typeface="Arial" panose="020B0604020202020204" pitchFamily="34" charset="0"/>
              <a:buChar char="•"/>
            </a:pPr>
            <a:endParaRPr lang="de-DE" b="0"/>
          </a:p>
          <a:p>
            <a:endParaRPr lang="de-DE"/>
          </a:p>
        </p:txBody>
      </p:sp>
      <p:sp>
        <p:nvSpPr>
          <p:cNvPr id="4" name="Foliennummernplatzhalter 3"/>
          <p:cNvSpPr>
            <a:spLocks noGrp="1"/>
          </p:cNvSpPr>
          <p:nvPr>
            <p:ph type="sldNum" sz="quarter" idx="5"/>
          </p:nvPr>
        </p:nvSpPr>
        <p:spPr/>
        <p:txBody>
          <a:bodyPr/>
          <a:lstStyle/>
          <a:p>
            <a:fld id="{0A4275E9-69A1-4EE9-97A1-16A17FC52D7D}" type="slidenum">
              <a:rPr lang="de-DE" smtClean="0"/>
              <a:t>29</a:t>
            </a:fld>
            <a:endParaRPr lang="de-DE"/>
          </a:p>
        </p:txBody>
      </p:sp>
    </p:spTree>
    <p:extLst>
      <p:ext uri="{BB962C8B-B14F-4D97-AF65-F5344CB8AC3E}">
        <p14:creationId xmlns:p14="http://schemas.microsoft.com/office/powerpoint/2010/main" val="20373034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D562AD5C-4C66-4B4A-B971-95AC81D57146}" type="slidenum">
              <a:rPr lang="de-DE" smtClean="0"/>
              <a:t>31</a:t>
            </a:fld>
            <a:endParaRPr lang="de-DE"/>
          </a:p>
        </p:txBody>
      </p:sp>
    </p:spTree>
    <p:extLst>
      <p:ext uri="{BB962C8B-B14F-4D97-AF65-F5344CB8AC3E}">
        <p14:creationId xmlns:p14="http://schemas.microsoft.com/office/powerpoint/2010/main" val="42096850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Damit Vertrauen in ein KI aufgebaut werden kann, muss durch das KI-System eine sicherere und zuverlässige Anwendung gegeben sein, welche auch ethische sowie rechtliche Ansprüche erfüllt. </a:t>
            </a:r>
          </a:p>
          <a:p>
            <a:r>
              <a:rPr lang="de-DE" dirty="0"/>
              <a:t>Gleichzeitig sind bei der Erstellung der KI auch ökologische und gesellschaftliche Fragestellungen zu klären, um einen akzeptierten Rahmen zu erhalten. </a:t>
            </a:r>
          </a:p>
          <a:p>
            <a:r>
              <a:rPr lang="de-DE" dirty="0"/>
              <a:t>Zur Generierung des Vertrauens ist es wichtig, dass die aufgestellten Kriterien überprüfbar sind. Daher bietet eine Zertifizierung die Möglichkeit die aufgestellten Werte einzufordern</a:t>
            </a:r>
          </a:p>
          <a:p>
            <a:r>
              <a:rPr lang="de-DE" dirty="0"/>
              <a:t>Diese gesamten Grundsatzfragen können in einer überschneidenden Diskussion mehrerer Fachbereiche wie Informatik, Philosophie und Rechtswissenschaften geklärt werden</a:t>
            </a:r>
          </a:p>
          <a:p>
            <a:endParaRPr lang="de-DE" dirty="0"/>
          </a:p>
          <a:p>
            <a:r>
              <a:rPr lang="de-DE" dirty="0"/>
              <a:t>Nutzen von Zertifizierung: Umsetzung dieser Werte einzufordern</a:t>
            </a:r>
          </a:p>
          <a:p>
            <a:r>
              <a:rPr lang="de-DE" dirty="0"/>
              <a:t>Bspw. Rechtssicherheit, Verantwortlichkeit, Sicherheit, Transparenz…</a:t>
            </a:r>
          </a:p>
          <a:p>
            <a:endParaRPr lang="de-DE" dirty="0"/>
          </a:p>
        </p:txBody>
      </p:sp>
      <p:sp>
        <p:nvSpPr>
          <p:cNvPr id="4" name="Foliennummernplatzhalter 3"/>
          <p:cNvSpPr>
            <a:spLocks noGrp="1"/>
          </p:cNvSpPr>
          <p:nvPr>
            <p:ph type="sldNum" sz="quarter" idx="5"/>
          </p:nvPr>
        </p:nvSpPr>
        <p:spPr/>
        <p:txBody>
          <a:bodyPr/>
          <a:lstStyle/>
          <a:p>
            <a:fld id="{D562AD5C-4C66-4B4A-B971-95AC81D57146}" type="slidenum">
              <a:rPr lang="de-DE" smtClean="0"/>
              <a:t>32</a:t>
            </a:fld>
            <a:endParaRPr lang="de-DE"/>
          </a:p>
        </p:txBody>
      </p:sp>
    </p:spTree>
    <p:extLst>
      <p:ext uri="{BB962C8B-B14F-4D97-AF65-F5344CB8AC3E}">
        <p14:creationId xmlns:p14="http://schemas.microsoft.com/office/powerpoint/2010/main" val="23510279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Zertifizierung notwendig um Vertrauen in komplexe Systeme sowie in die Hersteller bzw. Anbieter aufzubauen. Zertifizierung ist vertrauensfördernd, wenn die Qualität durch unabhängige Dritte bestätigt wird</a:t>
            </a:r>
          </a:p>
          <a:p>
            <a:r>
              <a:rPr lang="de-DE" dirty="0"/>
              <a:t>Abbau von Ängsten, da das System anhand von Kriterien von einer unabhängigen akkreditierten Stelle (mit der zugehörigen Reputation) getestet wurde</a:t>
            </a:r>
            <a:br>
              <a:rPr lang="de-DE" dirty="0"/>
            </a:br>
            <a:r>
              <a:rPr lang="de-DE" dirty="0"/>
              <a:t>bspw. Damit sichergestellt ist, dass das Nutzerversprechen erfüllt ist und die KI überhaupt in die Anlage gelangen kann</a:t>
            </a:r>
          </a:p>
          <a:p>
            <a:endParaRPr lang="de-DE" dirty="0"/>
          </a:p>
          <a:p>
            <a:r>
              <a:rPr lang="de-DE" dirty="0"/>
              <a:t>Zertifizierung ermöglicht es, dass System in den definierten Rahmen ausführlich zu testen und bis zu einem gewissen Maß zu gewährleisten, dass keine unerwünschten Konsequenzen auftreten (lässt sich nie zu 100% ausschließen)</a:t>
            </a:r>
          </a:p>
          <a:p>
            <a:r>
              <a:rPr lang="de-DE" dirty="0"/>
              <a:t>Diese Bedingung gilt dabei unter der Voraussetzung eines ordnungsgemäßen Einsatzes</a:t>
            </a:r>
          </a:p>
          <a:p>
            <a:r>
              <a:rPr lang="de-DE" dirty="0"/>
              <a:t>Unter unerwünschte Konsequenzen können auch Konsequenzen im gesellschaftlichen und politischen Bereich fallen bspw. Muss geregelt werden, wie mit dem Problem der potenziellen Diskriminierung durch KI-Systeme umgegangen wird</a:t>
            </a:r>
          </a:p>
          <a:p>
            <a:r>
              <a:rPr lang="de-DE" dirty="0"/>
              <a:t>(Zertifizierung kann korrigierend oder regulierend wirken)</a:t>
            </a:r>
          </a:p>
          <a:p>
            <a:endParaRPr lang="de-DE" dirty="0"/>
          </a:p>
          <a:p>
            <a:r>
              <a:rPr lang="de-DE" dirty="0"/>
              <a:t>Zertifizierung erhöht die Vergleichbarkeit verschiedener KI-Systeme auf dem Markt, was wiederum einen fairen Wettbewerb fördern kann</a:t>
            </a:r>
          </a:p>
          <a:p>
            <a:endParaRPr lang="de-DE" dirty="0"/>
          </a:p>
          <a:p>
            <a:r>
              <a:rPr lang="de-DE" dirty="0"/>
              <a:t>Zertifizierung ist in vielen (häufig sensiblen und kritischen) Bereich eine </a:t>
            </a:r>
            <a:r>
              <a:rPr lang="de-DE" dirty="0" err="1"/>
              <a:t>Zugangsvorraussetzung</a:t>
            </a:r>
            <a:r>
              <a:rPr lang="de-DE" dirty="0"/>
              <a:t>, um überhaupt eingesetzt werden zu dürfen. </a:t>
            </a:r>
          </a:p>
          <a:p>
            <a:endParaRPr lang="de-DE" dirty="0"/>
          </a:p>
          <a:p>
            <a:r>
              <a:rPr lang="de-DE" dirty="0"/>
              <a:t>Contra:</a:t>
            </a:r>
          </a:p>
          <a:p>
            <a:r>
              <a:rPr lang="de-DE" dirty="0"/>
              <a:t>Zertifizierung kann Innovationen einschränken, wenn eine Überregelung der Systeme stattfindet</a:t>
            </a:r>
          </a:p>
          <a:p>
            <a:endParaRPr lang="de-DE" dirty="0"/>
          </a:p>
          <a:p>
            <a:r>
              <a:rPr lang="de-DE" dirty="0"/>
              <a:t>Zertifizierung kann das Potenzial eines KI-Systems blockieren, wenn die Zertifizierung mangelhaft ist</a:t>
            </a:r>
          </a:p>
        </p:txBody>
      </p:sp>
      <p:sp>
        <p:nvSpPr>
          <p:cNvPr id="4" name="Foliennummernplatzhalter 3"/>
          <p:cNvSpPr>
            <a:spLocks noGrp="1"/>
          </p:cNvSpPr>
          <p:nvPr>
            <p:ph type="sldNum" sz="quarter" idx="5"/>
          </p:nvPr>
        </p:nvSpPr>
        <p:spPr/>
        <p:txBody>
          <a:bodyPr/>
          <a:lstStyle/>
          <a:p>
            <a:fld id="{D562AD5C-4C66-4B4A-B971-95AC81D57146}" type="slidenum">
              <a:rPr lang="de-DE" smtClean="0"/>
              <a:t>33</a:t>
            </a:fld>
            <a:endParaRPr lang="de-DE"/>
          </a:p>
        </p:txBody>
      </p:sp>
    </p:spTree>
    <p:extLst>
      <p:ext uri="{BB962C8B-B14F-4D97-AF65-F5344CB8AC3E}">
        <p14:creationId xmlns:p14="http://schemas.microsoft.com/office/powerpoint/2010/main" val="14132473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KI-Systeme sind im Vergleich zu klassischen IT-Systemen dynamischer, was als Folge hat, dass sie sich weiterentwickeln und unter Umständen dabei unvorhersehbar werden.</a:t>
            </a:r>
          </a:p>
          <a:p>
            <a:r>
              <a:rPr lang="de-DE"/>
              <a:t>Selbst, wenn man den Lernvorgang am Ende „einfriert“, kann sich die Betriebsumgebung ändern. Zum anderen basieren die Entscheidungen einer KI auf Wahrscheinlichkeiten, wodurch die KI zu Fehlschlüssen kommen kann und</a:t>
            </a:r>
          </a:p>
          <a:p>
            <a:r>
              <a:rPr lang="de-DE"/>
              <a:t>der Weg dahin nicht unbedingt nachvollziehbar ist (Black-Box Problem)</a:t>
            </a:r>
          </a:p>
          <a:p>
            <a:r>
              <a:rPr lang="de-DE" err="1"/>
              <a:t>Desweiteren</a:t>
            </a:r>
            <a:r>
              <a:rPr lang="de-DE"/>
              <a:t> haben erfordern verschiedene Anwendungen unterschiedlich komplexe Anforderungen an die KI-Systeme und ihre Zuverlässigkeit / Sicherheit bspw. In medizinischen Systemen, möchte man eine höhere Zuverlässigkeit als wenn die KI im Bereich von </a:t>
            </a:r>
            <a:r>
              <a:rPr lang="de-DE" err="1"/>
              <a:t>Predictive</a:t>
            </a:r>
            <a:r>
              <a:rPr lang="de-DE"/>
              <a:t> Maintenance eingesetzt wird</a:t>
            </a:r>
          </a:p>
        </p:txBody>
      </p:sp>
      <p:sp>
        <p:nvSpPr>
          <p:cNvPr id="4" name="Foliennummernplatzhalter 3"/>
          <p:cNvSpPr>
            <a:spLocks noGrp="1"/>
          </p:cNvSpPr>
          <p:nvPr>
            <p:ph type="sldNum" sz="quarter" idx="5"/>
          </p:nvPr>
        </p:nvSpPr>
        <p:spPr/>
        <p:txBody>
          <a:bodyPr/>
          <a:lstStyle/>
          <a:p>
            <a:fld id="{D562AD5C-4C66-4B4A-B971-95AC81D57146}" type="slidenum">
              <a:rPr lang="de-DE" smtClean="0"/>
              <a:t>34</a:t>
            </a:fld>
            <a:endParaRPr lang="de-DE"/>
          </a:p>
        </p:txBody>
      </p:sp>
    </p:spTree>
    <p:extLst>
      <p:ext uri="{BB962C8B-B14F-4D97-AF65-F5344CB8AC3E}">
        <p14:creationId xmlns:p14="http://schemas.microsoft.com/office/powerpoint/2010/main" val="2127271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Eine Auseinandersetzung mit dem Gedanken der Zertifizierung lässt schnell darauf schließen, dass die Thematik nicht nur aus einer Sichtweise betrachtet werden kann, sondern viele verschiedene Perspektiven und Handlungsfelder</a:t>
            </a:r>
          </a:p>
          <a:p>
            <a:r>
              <a:rPr lang="de-DE" dirty="0"/>
              <a:t>ineinandergreifen um somit ein gutes KI-System zu definieren. Die folgende Grafik veranschaulicht sechs verschiedene Thematiken, die jeweils unabhängig voneinander durch Experten behandelt und im Anschluss miteinander kombiniert</a:t>
            </a:r>
          </a:p>
          <a:p>
            <a:r>
              <a:rPr lang="de-DE" dirty="0"/>
              <a:t>Werden können. Als übergeordneter Punkt stehen Fragen zu den Bereichen der Ethik und Recht, um sicherzustellen, dass die KI-Anwendung die gesellschaftlichen Werte und Gesetze respektiert. </a:t>
            </a:r>
          </a:p>
          <a:p>
            <a:r>
              <a:rPr lang="de-DE" dirty="0"/>
              <a:t>Die nachfolgenden Bereiche setzen sich mit Fragestellungen wie der Sicherheit bei Angriffen und Fehlern, des Schutzes der Privatsphäre oder einer fairen Behandlung aller Nutzender auseinander. Der Punkt der Transparenz bietet dabei eine weitere Herausforderung, da ein Weg gefunden werden muss, wie die Funktionsweisen und Entscheidungen der KI nachvollziehbar und robust gestaltet werden können.</a:t>
            </a:r>
          </a:p>
        </p:txBody>
      </p:sp>
      <p:sp>
        <p:nvSpPr>
          <p:cNvPr id="4" name="Foliennummernplatzhalter 3"/>
          <p:cNvSpPr>
            <a:spLocks noGrp="1"/>
          </p:cNvSpPr>
          <p:nvPr>
            <p:ph type="sldNum" sz="quarter" idx="5"/>
          </p:nvPr>
        </p:nvSpPr>
        <p:spPr/>
        <p:txBody>
          <a:bodyPr/>
          <a:lstStyle/>
          <a:p>
            <a:fld id="{D562AD5C-4C66-4B4A-B971-95AC81D57146}" type="slidenum">
              <a:rPr lang="de-DE" smtClean="0"/>
              <a:t>35</a:t>
            </a:fld>
            <a:endParaRPr lang="de-DE"/>
          </a:p>
        </p:txBody>
      </p:sp>
    </p:spTree>
    <p:extLst>
      <p:ext uri="{BB962C8B-B14F-4D97-AF65-F5344CB8AC3E}">
        <p14:creationId xmlns:p14="http://schemas.microsoft.com/office/powerpoint/2010/main" val="726257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Als erste Orientierungsgrundlage für Unternehmen gibt es seit Dezember 2023 die internationale Norm ISO 42001, welche Anforderungen und Prozesse für die Umsetzung eines Managementsystems für künstliche Intelligenz festlegt.</a:t>
            </a:r>
          </a:p>
          <a:p>
            <a:r>
              <a:rPr lang="de-DE" dirty="0"/>
              <a:t>Dabei wird auf den gesamten Lebenszyklus der KI eingegangen und bspw. ein Leitfaden geboten, wie mit der Komplexität der KI umzugehen ist. </a:t>
            </a:r>
          </a:p>
          <a:p>
            <a:endParaRPr lang="de-DE" dirty="0"/>
          </a:p>
          <a:p>
            <a:r>
              <a:rPr lang="de-DE" dirty="0"/>
              <a:t>Eine etwas neuere Rahmenregelung ist mit dem EU AI Act im August 2024 in Kraft getreten. Dabei handelt es sich um ein europäisches Gesetz, welches nun schrittweise von den Mitgliedsstaaten in nationales Recht überführt werden muss. Das Gesetz nutzt einen risikobasierten Ansatz, um je nach Risikokategorie, die Anforderungen an eine Anlage mit KI-System zu verschärfen oder zu vereinfachen. Als oberste Klasse sind Anwendungen mit nicht akzeptablen Risiko eingestuft, also jene, die gegen </a:t>
            </a:r>
            <a:r>
              <a:rPr lang="de-DE" b="1" dirty="0"/>
              <a:t>die EU Grundrechte verstoßen </a:t>
            </a:r>
            <a:r>
              <a:rPr lang="de-DE" dirty="0"/>
              <a:t>und beispielsweise Menschen manipulieren, bewerten oder kategorisieren (Scoring System, </a:t>
            </a:r>
            <a:r>
              <a:rPr lang="de-DE" dirty="0" err="1"/>
              <a:t>predictive</a:t>
            </a:r>
            <a:r>
              <a:rPr lang="de-DE" dirty="0"/>
              <a:t> </a:t>
            </a:r>
            <a:r>
              <a:rPr lang="de-DE" dirty="0" err="1"/>
              <a:t>policing</a:t>
            </a:r>
            <a:r>
              <a:rPr lang="de-DE" dirty="0"/>
              <a:t> </a:t>
            </a:r>
            <a:r>
              <a:rPr lang="de-DE" dirty="0">
                <a:sym typeface="Wingdings" panose="05000000000000000000" pitchFamily="2" charset="2"/>
              </a:rPr>
              <a:t> </a:t>
            </a:r>
            <a:r>
              <a:rPr lang="de-DE" dirty="0" err="1">
                <a:sym typeface="Wingdings" panose="05000000000000000000" pitchFamily="2" charset="2"/>
              </a:rPr>
              <a:t>vorraussagen</a:t>
            </a:r>
            <a:r>
              <a:rPr lang="de-DE" dirty="0">
                <a:sym typeface="Wingdings" panose="05000000000000000000" pitchFamily="2" charset="2"/>
              </a:rPr>
              <a:t>, wie hoch die WK ist, dass eine Person ein Verbrechen begeht…) Diese Anwendungen sind in der EU verboten. Etwas schwieriger hingegen ist die Klasse der hoch-Risiko Anwendungen, da diese grundsätzlich erlaubt sind, jedoch mit hohen Anforderungen und Einschränkungen zu rechnen ist. Anwendungen fallen in diese Kategorie, wenn sie im </a:t>
            </a:r>
            <a:r>
              <a:rPr lang="de-DE" b="1" dirty="0">
                <a:sym typeface="Wingdings" panose="05000000000000000000" pitchFamily="2" charset="2"/>
              </a:rPr>
              <a:t>Falle eines Fehlers oder Missbrauchs signifikant die Sicherheit der Menschen, der Rechte </a:t>
            </a:r>
            <a:r>
              <a:rPr lang="de-DE" dirty="0">
                <a:sym typeface="Wingdings" panose="05000000000000000000" pitchFamily="2" charset="2"/>
              </a:rPr>
              <a:t>oder der Umwelt gefährden. Ab wann diese Grenze erreicht ist, ist stark umstritten, aber man kann Anwendungen aus den Bereichen der kritischen Infrastruktur, Personalwesen (Recruiting), Migration oder Strafverfolgung etc. in dieser Kategorie betrachten. Als dritte Gruppe sind KI-Systeme mit limitierten Risiko bspw. durch Manipulation oder Betrug zu verstehen. Diese verfügen als </a:t>
            </a:r>
            <a:r>
              <a:rPr lang="de-DE" b="1" dirty="0">
                <a:sym typeface="Wingdings" panose="05000000000000000000" pitchFamily="2" charset="2"/>
              </a:rPr>
              <a:t>grundsätzliche Anforderungen eine Pflicht zur Transparenz</a:t>
            </a:r>
            <a:r>
              <a:rPr lang="de-DE" dirty="0">
                <a:sym typeface="Wingdings" panose="05000000000000000000" pitchFamily="2" charset="2"/>
              </a:rPr>
              <a:t>, also dass für den Menschen kenntlich wird, wenn er mit einer KI interagiert oder mit einem </a:t>
            </a:r>
            <a:r>
              <a:rPr lang="de-DE" dirty="0" err="1">
                <a:sym typeface="Wingdings" panose="05000000000000000000" pitchFamily="2" charset="2"/>
              </a:rPr>
              <a:t>deep</a:t>
            </a:r>
            <a:r>
              <a:rPr lang="de-DE" dirty="0">
                <a:sym typeface="Wingdings" panose="05000000000000000000" pitchFamily="2" charset="2"/>
              </a:rPr>
              <a:t> fake konfrontiert ist.  </a:t>
            </a:r>
            <a:r>
              <a:rPr lang="de-DE" b="1" dirty="0">
                <a:sym typeface="Wingdings" panose="05000000000000000000" pitchFamily="2" charset="2"/>
              </a:rPr>
              <a:t>Klassische Chatbots fallen </a:t>
            </a:r>
            <a:r>
              <a:rPr lang="de-DE" dirty="0">
                <a:sym typeface="Wingdings" panose="05000000000000000000" pitchFamily="2" charset="2"/>
              </a:rPr>
              <a:t>in diesem Bereich. Die letzte Kategorie umfasst ein minimales Risiko, wo alle nicht in den oberen Gruppierungen umfasste KI-Systeme </a:t>
            </a:r>
            <a:r>
              <a:rPr lang="de-DE" b="1" dirty="0">
                <a:sym typeface="Wingdings" panose="05000000000000000000" pitchFamily="2" charset="2"/>
              </a:rPr>
              <a:t>wie Spam-Filter </a:t>
            </a:r>
            <a:r>
              <a:rPr lang="de-DE" dirty="0">
                <a:sym typeface="Wingdings" panose="05000000000000000000" pitchFamily="2" charset="2"/>
              </a:rPr>
              <a:t>fallen. Hierfür gibt es keine vorgeschriebenen Anforderungen oder Einschränkungen. Allerdings wird darauf verwiesen, dass eine Kontrolle durch den Menschen weiterhin stattfinden sollte und auf </a:t>
            </a:r>
            <a:r>
              <a:rPr lang="de-DE" dirty="0" err="1">
                <a:sym typeface="Wingdings" panose="05000000000000000000" pitchFamily="2" charset="2"/>
              </a:rPr>
              <a:t>fairness</a:t>
            </a:r>
            <a:r>
              <a:rPr lang="de-DE" dirty="0">
                <a:sym typeface="Wingdings" panose="05000000000000000000" pitchFamily="2" charset="2"/>
              </a:rPr>
              <a:t> und nicht-</a:t>
            </a:r>
            <a:r>
              <a:rPr lang="de-DE" dirty="0" err="1">
                <a:sym typeface="Wingdings" panose="05000000000000000000" pitchFamily="2" charset="2"/>
              </a:rPr>
              <a:t>discriminierung</a:t>
            </a:r>
            <a:r>
              <a:rPr lang="de-DE" dirty="0">
                <a:sym typeface="Wingdings" panose="05000000000000000000" pitchFamily="2" charset="2"/>
              </a:rPr>
              <a:t> geachtet werden sollte</a:t>
            </a:r>
            <a:br>
              <a:rPr lang="de-DE" dirty="0">
                <a:sym typeface="Wingdings" panose="05000000000000000000" pitchFamily="2" charset="2"/>
              </a:rPr>
            </a:br>
            <a:br>
              <a:rPr lang="de-DE" dirty="0">
                <a:sym typeface="Wingdings" panose="05000000000000000000" pitchFamily="2" charset="2"/>
              </a:rPr>
            </a:br>
            <a:r>
              <a:rPr lang="de-DE" dirty="0">
                <a:sym typeface="Wingdings" panose="05000000000000000000" pitchFamily="2" charset="2"/>
              </a:rPr>
              <a:t>In vielen Fällen hängt die Risikobewertung eines KI-Systems von der Anwendung ab. Generelle bzw. Anwendungsübergreifende Systeme wie den von OpenAI können so nicht kategorisiert werden und werden daher in 2 Klassen unterteilt. (In Abhängigkeit der zum Trainieren benötigten Rechenleistung – nicht systemisches und systemisches Risiko) Grundlegend müssen beide Klassen die Transparenzanforderungen erfüllen, jedoch sind Modelle mit systemischen Risiko deutlich strengeren Verpflichtungen unterlegen</a:t>
            </a:r>
            <a:endParaRPr lang="de-DE" dirty="0"/>
          </a:p>
        </p:txBody>
      </p:sp>
      <p:sp>
        <p:nvSpPr>
          <p:cNvPr id="4" name="Foliennummernplatzhalter 3"/>
          <p:cNvSpPr>
            <a:spLocks noGrp="1"/>
          </p:cNvSpPr>
          <p:nvPr>
            <p:ph type="sldNum" sz="quarter" idx="5"/>
          </p:nvPr>
        </p:nvSpPr>
        <p:spPr/>
        <p:txBody>
          <a:bodyPr/>
          <a:lstStyle/>
          <a:p>
            <a:fld id="{D562AD5C-4C66-4B4A-B971-95AC81D57146}" type="slidenum">
              <a:rPr lang="de-DE" smtClean="0"/>
              <a:t>36</a:t>
            </a:fld>
            <a:endParaRPr lang="de-DE"/>
          </a:p>
        </p:txBody>
      </p:sp>
    </p:spTree>
    <p:extLst>
      <p:ext uri="{BB962C8B-B14F-4D97-AF65-F5344CB8AC3E}">
        <p14:creationId xmlns:p14="http://schemas.microsoft.com/office/powerpoint/2010/main" val="13436495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6996B-3A60-B7F4-67A0-55A2EA2198C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4619854-8600-1C86-86E0-306565A49A4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170DF37-1A2B-E83E-1212-3B879941E235}"/>
              </a:ext>
            </a:extLst>
          </p:cNvPr>
          <p:cNvSpPr>
            <a:spLocks noGrp="1"/>
          </p:cNvSpPr>
          <p:nvPr>
            <p:ph type="body" idx="1"/>
          </p:nvPr>
        </p:nvSpPr>
        <p:spPr/>
        <p:txBody>
          <a:bodyPr/>
          <a:lstStyle/>
          <a:p>
            <a:r>
              <a:rPr lang="de-DE"/>
              <a:t>Um nochmal auf die ursprüngliche Fragestellung zurückzukommen: Bei der </a:t>
            </a:r>
            <a:r>
              <a:rPr lang="de-DE" err="1"/>
              <a:t>Intergration</a:t>
            </a:r>
            <a:r>
              <a:rPr lang="de-DE"/>
              <a:t> der KI in die Anlage sollte sich an die vorgestellten Grundsätze wie der Norm und des EU-Ai </a:t>
            </a:r>
            <a:r>
              <a:rPr lang="de-DE" err="1"/>
              <a:t>Actes</a:t>
            </a:r>
            <a:r>
              <a:rPr lang="de-DE"/>
              <a:t> orientiert werden. Eine Risikoanalyse kann dazu beitragen herauszufinden, wie hoch das entstehende Risiko ist, wenn die KI fehlerhafte Ergebnisse liefert. Des Weiteren hängen die benötigten Maßnahmen auch stark von dem Einsatzgebiet der KI ab, bspw. Ob sie aktiv den Prozess der Anlage beeinflussen kann bspw. In dem sie fehlerhafte Teile erkennt und aussortieren lässt oder ob sie nur als zusätzliche Prozessüberwachung bzw. zu Analysezwecken eingesetzt wird (</a:t>
            </a:r>
            <a:r>
              <a:rPr lang="de-DE" err="1"/>
              <a:t>Predictive</a:t>
            </a:r>
            <a:r>
              <a:rPr lang="de-DE"/>
              <a:t> Maintenance), was im Zweifel einer fehlerhaften Meldung keine schwerwiegenden Auswirkungen auf die Umwelt und die Menschen hat. Grundsätzlich ist es jedoch ratsam, die KI auf den benötigten Anwendungsraum einzuschränken und somit zu verhindern, dass die KI durch unnötige Daten oder von einem zu großen Personenfeld beeinflusst werden kann, um die Ergebniskonsistenz zu gewährleisten und ein Missbrauch zu erschweren. </a:t>
            </a:r>
          </a:p>
        </p:txBody>
      </p:sp>
      <p:sp>
        <p:nvSpPr>
          <p:cNvPr id="4" name="Foliennummernplatzhalter 3">
            <a:extLst>
              <a:ext uri="{FF2B5EF4-FFF2-40B4-BE49-F238E27FC236}">
                <a16:creationId xmlns:a16="http://schemas.microsoft.com/office/drawing/2014/main" id="{9707B7C4-7509-9C33-7310-09A6A8B685D2}"/>
              </a:ext>
            </a:extLst>
          </p:cNvPr>
          <p:cNvSpPr>
            <a:spLocks noGrp="1"/>
          </p:cNvSpPr>
          <p:nvPr>
            <p:ph type="sldNum" sz="quarter" idx="5"/>
          </p:nvPr>
        </p:nvSpPr>
        <p:spPr/>
        <p:txBody>
          <a:bodyPr/>
          <a:lstStyle/>
          <a:p>
            <a:fld id="{D562AD5C-4C66-4B4A-B971-95AC81D57146}" type="slidenum">
              <a:rPr lang="de-DE" smtClean="0"/>
              <a:t>37</a:t>
            </a:fld>
            <a:endParaRPr lang="de-DE"/>
          </a:p>
        </p:txBody>
      </p:sp>
    </p:spTree>
    <p:extLst>
      <p:ext uri="{BB962C8B-B14F-4D97-AF65-F5344CB8AC3E}">
        <p14:creationId xmlns:p14="http://schemas.microsoft.com/office/powerpoint/2010/main" val="7924015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8D6FF5C-F962-D307-1823-41D09DAF60CC}"/>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B66409DB-3C1F-2708-8FD5-E0996640B4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F79F18D3-861F-EEAE-67E5-CE677D99D52B}"/>
              </a:ext>
            </a:extLst>
          </p:cNvPr>
          <p:cNvSpPr>
            <a:spLocks noGrp="1"/>
          </p:cNvSpPr>
          <p:nvPr>
            <p:ph type="dt" sz="half" idx="10"/>
          </p:nvPr>
        </p:nvSpPr>
        <p:spPr/>
        <p:txBody>
          <a:bodyPr/>
          <a:lstStyle/>
          <a:p>
            <a:fld id="{F33F0528-5CD3-4BD8-9BF9-F838BB5EB252}" type="datetimeFigureOut">
              <a:rPr lang="de-DE" smtClean="0"/>
              <a:t>20.10.2025</a:t>
            </a:fld>
            <a:endParaRPr lang="de-DE"/>
          </a:p>
        </p:txBody>
      </p:sp>
      <p:sp>
        <p:nvSpPr>
          <p:cNvPr id="5" name="Fußzeilenplatzhalter 4">
            <a:extLst>
              <a:ext uri="{FF2B5EF4-FFF2-40B4-BE49-F238E27FC236}">
                <a16:creationId xmlns:a16="http://schemas.microsoft.com/office/drawing/2014/main" id="{8800B355-32C0-A35B-EE84-C78D5C5AFCE3}"/>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1A3A780C-BAE5-4D61-8650-B432E03BE575}"/>
              </a:ext>
            </a:extLst>
          </p:cNvPr>
          <p:cNvSpPr>
            <a:spLocks noGrp="1"/>
          </p:cNvSpPr>
          <p:nvPr>
            <p:ph type="sldNum" sz="quarter" idx="12"/>
          </p:nvPr>
        </p:nvSpPr>
        <p:spPr/>
        <p:txBody>
          <a:bodyPr/>
          <a:lstStyle/>
          <a:p>
            <a:fld id="{C5F72814-3B5E-4FCD-8438-A84643E953F0}" type="slidenum">
              <a:rPr lang="de-DE" smtClean="0"/>
              <a:t>‹Nr.›</a:t>
            </a:fld>
            <a:endParaRPr lang="de-DE"/>
          </a:p>
        </p:txBody>
      </p:sp>
    </p:spTree>
    <p:extLst>
      <p:ext uri="{BB962C8B-B14F-4D97-AF65-F5344CB8AC3E}">
        <p14:creationId xmlns:p14="http://schemas.microsoft.com/office/powerpoint/2010/main" val="19058373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346A4F7-FE60-D407-621F-F3B338523160}"/>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10BE4D41-33AA-E31B-C8A3-B603ADD2425E}"/>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CB03C060-E37A-F3F4-390E-9E282A8DFE04}"/>
              </a:ext>
            </a:extLst>
          </p:cNvPr>
          <p:cNvSpPr>
            <a:spLocks noGrp="1"/>
          </p:cNvSpPr>
          <p:nvPr>
            <p:ph type="dt" sz="half" idx="10"/>
          </p:nvPr>
        </p:nvSpPr>
        <p:spPr/>
        <p:txBody>
          <a:bodyPr/>
          <a:lstStyle/>
          <a:p>
            <a:fld id="{F33F0528-5CD3-4BD8-9BF9-F838BB5EB252}" type="datetimeFigureOut">
              <a:rPr lang="de-DE" smtClean="0"/>
              <a:t>20.10.2025</a:t>
            </a:fld>
            <a:endParaRPr lang="de-DE"/>
          </a:p>
        </p:txBody>
      </p:sp>
      <p:sp>
        <p:nvSpPr>
          <p:cNvPr id="5" name="Fußzeilenplatzhalter 4">
            <a:extLst>
              <a:ext uri="{FF2B5EF4-FFF2-40B4-BE49-F238E27FC236}">
                <a16:creationId xmlns:a16="http://schemas.microsoft.com/office/drawing/2014/main" id="{4676F854-85C3-A20B-7091-4D1D44C64065}"/>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970428D8-665D-9B3D-5422-3C3C2C287904}"/>
              </a:ext>
            </a:extLst>
          </p:cNvPr>
          <p:cNvSpPr>
            <a:spLocks noGrp="1"/>
          </p:cNvSpPr>
          <p:nvPr>
            <p:ph type="sldNum" sz="quarter" idx="12"/>
          </p:nvPr>
        </p:nvSpPr>
        <p:spPr/>
        <p:txBody>
          <a:bodyPr/>
          <a:lstStyle/>
          <a:p>
            <a:fld id="{C5F72814-3B5E-4FCD-8438-A84643E953F0}" type="slidenum">
              <a:rPr lang="de-DE" smtClean="0"/>
              <a:t>‹Nr.›</a:t>
            </a:fld>
            <a:endParaRPr lang="de-DE"/>
          </a:p>
        </p:txBody>
      </p:sp>
    </p:spTree>
    <p:extLst>
      <p:ext uri="{BB962C8B-B14F-4D97-AF65-F5344CB8AC3E}">
        <p14:creationId xmlns:p14="http://schemas.microsoft.com/office/powerpoint/2010/main" val="483854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105050-E2B1-34B2-495A-BFDDA9C33E6E}"/>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412CCFC4-17B9-F34D-B8DF-5EE231FDDA6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7EE37BED-740C-5443-6B1B-7AD2F3562E9C}"/>
              </a:ext>
            </a:extLst>
          </p:cNvPr>
          <p:cNvSpPr>
            <a:spLocks noGrp="1"/>
          </p:cNvSpPr>
          <p:nvPr>
            <p:ph type="dt" sz="half" idx="10"/>
          </p:nvPr>
        </p:nvSpPr>
        <p:spPr/>
        <p:txBody>
          <a:bodyPr/>
          <a:lstStyle/>
          <a:p>
            <a:fld id="{F33F0528-5CD3-4BD8-9BF9-F838BB5EB252}" type="datetimeFigureOut">
              <a:rPr lang="de-DE" smtClean="0"/>
              <a:t>20.10.2025</a:t>
            </a:fld>
            <a:endParaRPr lang="de-DE"/>
          </a:p>
        </p:txBody>
      </p:sp>
      <p:sp>
        <p:nvSpPr>
          <p:cNvPr id="5" name="Fußzeilenplatzhalter 4">
            <a:extLst>
              <a:ext uri="{FF2B5EF4-FFF2-40B4-BE49-F238E27FC236}">
                <a16:creationId xmlns:a16="http://schemas.microsoft.com/office/drawing/2014/main" id="{D085E027-4D06-977C-1B3E-4B7B2A58BD7E}"/>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FA9595E-8B03-558C-7145-149FCA490C05}"/>
              </a:ext>
            </a:extLst>
          </p:cNvPr>
          <p:cNvSpPr>
            <a:spLocks noGrp="1"/>
          </p:cNvSpPr>
          <p:nvPr>
            <p:ph type="sldNum" sz="quarter" idx="12"/>
          </p:nvPr>
        </p:nvSpPr>
        <p:spPr/>
        <p:txBody>
          <a:bodyPr/>
          <a:lstStyle/>
          <a:p>
            <a:fld id="{C5F72814-3B5E-4FCD-8438-A84643E953F0}" type="slidenum">
              <a:rPr lang="de-DE" smtClean="0"/>
              <a:t>‹Nr.›</a:t>
            </a:fld>
            <a:endParaRPr lang="de-DE"/>
          </a:p>
        </p:txBody>
      </p:sp>
    </p:spTree>
    <p:extLst>
      <p:ext uri="{BB962C8B-B14F-4D97-AF65-F5344CB8AC3E}">
        <p14:creationId xmlns:p14="http://schemas.microsoft.com/office/powerpoint/2010/main" val="4066305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1488E43-DE0D-6CCB-6915-3E4360360727}"/>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6309E05E-8FF4-5A23-73A1-0A2E14C7AEAB}"/>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91E2CF9F-25AF-68D8-2A73-A57328BA1FD5}"/>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FCF07ED6-EE0A-C710-EC54-0A799A0E0D72}"/>
              </a:ext>
            </a:extLst>
          </p:cNvPr>
          <p:cNvSpPr>
            <a:spLocks noGrp="1"/>
          </p:cNvSpPr>
          <p:nvPr>
            <p:ph type="dt" sz="half" idx="10"/>
          </p:nvPr>
        </p:nvSpPr>
        <p:spPr/>
        <p:txBody>
          <a:bodyPr/>
          <a:lstStyle/>
          <a:p>
            <a:fld id="{F33F0528-5CD3-4BD8-9BF9-F838BB5EB252}" type="datetimeFigureOut">
              <a:rPr lang="de-DE" smtClean="0"/>
              <a:t>20.10.2025</a:t>
            </a:fld>
            <a:endParaRPr lang="de-DE"/>
          </a:p>
        </p:txBody>
      </p:sp>
      <p:sp>
        <p:nvSpPr>
          <p:cNvPr id="6" name="Fußzeilenplatzhalter 5">
            <a:extLst>
              <a:ext uri="{FF2B5EF4-FFF2-40B4-BE49-F238E27FC236}">
                <a16:creationId xmlns:a16="http://schemas.microsoft.com/office/drawing/2014/main" id="{66677BAA-7A65-65D9-D9A7-5F1161053F32}"/>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897DEA7B-A7E6-99DC-52BD-90322CCC67B9}"/>
              </a:ext>
            </a:extLst>
          </p:cNvPr>
          <p:cNvSpPr>
            <a:spLocks noGrp="1"/>
          </p:cNvSpPr>
          <p:nvPr>
            <p:ph type="sldNum" sz="quarter" idx="12"/>
          </p:nvPr>
        </p:nvSpPr>
        <p:spPr/>
        <p:txBody>
          <a:bodyPr/>
          <a:lstStyle/>
          <a:p>
            <a:fld id="{C5F72814-3B5E-4FCD-8438-A84643E953F0}" type="slidenum">
              <a:rPr lang="de-DE" smtClean="0"/>
              <a:t>‹Nr.›</a:t>
            </a:fld>
            <a:endParaRPr lang="de-DE"/>
          </a:p>
        </p:txBody>
      </p:sp>
    </p:spTree>
    <p:extLst>
      <p:ext uri="{BB962C8B-B14F-4D97-AF65-F5344CB8AC3E}">
        <p14:creationId xmlns:p14="http://schemas.microsoft.com/office/powerpoint/2010/main" val="2283717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90959A-9BC1-DF13-BC91-6B91821473CD}"/>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B6F6839F-028D-BE61-5C93-2823FBB041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892B4C4F-0D61-2DFE-9009-19E131C31D0E}"/>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AD17BEF8-5BC0-56DA-BC63-40D8770AD8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A3772874-91BB-ED7C-5C03-03F4BF5BE208}"/>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3910A5E2-CE19-EC50-3345-788D12F41F26}"/>
              </a:ext>
            </a:extLst>
          </p:cNvPr>
          <p:cNvSpPr>
            <a:spLocks noGrp="1"/>
          </p:cNvSpPr>
          <p:nvPr>
            <p:ph type="dt" sz="half" idx="10"/>
          </p:nvPr>
        </p:nvSpPr>
        <p:spPr/>
        <p:txBody>
          <a:bodyPr/>
          <a:lstStyle/>
          <a:p>
            <a:fld id="{F33F0528-5CD3-4BD8-9BF9-F838BB5EB252}" type="datetimeFigureOut">
              <a:rPr lang="de-DE" smtClean="0"/>
              <a:t>20.10.2025</a:t>
            </a:fld>
            <a:endParaRPr lang="de-DE"/>
          </a:p>
        </p:txBody>
      </p:sp>
      <p:sp>
        <p:nvSpPr>
          <p:cNvPr id="8" name="Fußzeilenplatzhalter 7">
            <a:extLst>
              <a:ext uri="{FF2B5EF4-FFF2-40B4-BE49-F238E27FC236}">
                <a16:creationId xmlns:a16="http://schemas.microsoft.com/office/drawing/2014/main" id="{02483905-3DF7-AE03-17EE-5F82C3E25FFA}"/>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0983C871-70EE-2742-47C6-A771F54CD5FC}"/>
              </a:ext>
            </a:extLst>
          </p:cNvPr>
          <p:cNvSpPr>
            <a:spLocks noGrp="1"/>
          </p:cNvSpPr>
          <p:nvPr>
            <p:ph type="sldNum" sz="quarter" idx="12"/>
          </p:nvPr>
        </p:nvSpPr>
        <p:spPr/>
        <p:txBody>
          <a:bodyPr/>
          <a:lstStyle/>
          <a:p>
            <a:fld id="{C5F72814-3B5E-4FCD-8438-A84643E953F0}" type="slidenum">
              <a:rPr lang="de-DE" smtClean="0"/>
              <a:t>‹Nr.›</a:t>
            </a:fld>
            <a:endParaRPr lang="de-DE"/>
          </a:p>
        </p:txBody>
      </p:sp>
    </p:spTree>
    <p:extLst>
      <p:ext uri="{BB962C8B-B14F-4D97-AF65-F5344CB8AC3E}">
        <p14:creationId xmlns:p14="http://schemas.microsoft.com/office/powerpoint/2010/main" val="40177918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6301DD-8993-E281-439C-49AD85A19508}"/>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C79BE461-82F5-3A05-B8D6-5533BD8C6657}"/>
              </a:ext>
            </a:extLst>
          </p:cNvPr>
          <p:cNvSpPr>
            <a:spLocks noGrp="1"/>
          </p:cNvSpPr>
          <p:nvPr>
            <p:ph type="dt" sz="half" idx="10"/>
          </p:nvPr>
        </p:nvSpPr>
        <p:spPr/>
        <p:txBody>
          <a:bodyPr/>
          <a:lstStyle/>
          <a:p>
            <a:fld id="{F33F0528-5CD3-4BD8-9BF9-F838BB5EB252}" type="datetimeFigureOut">
              <a:rPr lang="de-DE" smtClean="0"/>
              <a:t>20.10.2025</a:t>
            </a:fld>
            <a:endParaRPr lang="de-DE"/>
          </a:p>
        </p:txBody>
      </p:sp>
      <p:sp>
        <p:nvSpPr>
          <p:cNvPr id="4" name="Fußzeilenplatzhalter 3">
            <a:extLst>
              <a:ext uri="{FF2B5EF4-FFF2-40B4-BE49-F238E27FC236}">
                <a16:creationId xmlns:a16="http://schemas.microsoft.com/office/drawing/2014/main" id="{4356899A-EE8F-18B3-0FF7-C9C16B461262}"/>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BB186882-7EA1-FFAD-A140-75970A261B5C}"/>
              </a:ext>
            </a:extLst>
          </p:cNvPr>
          <p:cNvSpPr>
            <a:spLocks noGrp="1"/>
          </p:cNvSpPr>
          <p:nvPr>
            <p:ph type="sldNum" sz="quarter" idx="12"/>
          </p:nvPr>
        </p:nvSpPr>
        <p:spPr/>
        <p:txBody>
          <a:bodyPr/>
          <a:lstStyle/>
          <a:p>
            <a:fld id="{C5F72814-3B5E-4FCD-8438-A84643E953F0}" type="slidenum">
              <a:rPr lang="de-DE" smtClean="0"/>
              <a:t>‹Nr.›</a:t>
            </a:fld>
            <a:endParaRPr lang="de-DE"/>
          </a:p>
        </p:txBody>
      </p:sp>
    </p:spTree>
    <p:extLst>
      <p:ext uri="{BB962C8B-B14F-4D97-AF65-F5344CB8AC3E}">
        <p14:creationId xmlns:p14="http://schemas.microsoft.com/office/powerpoint/2010/main" val="408382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DF86EF9-0518-F0F9-7EA4-1346600961BB}"/>
              </a:ext>
            </a:extLst>
          </p:cNvPr>
          <p:cNvSpPr>
            <a:spLocks noGrp="1"/>
          </p:cNvSpPr>
          <p:nvPr>
            <p:ph type="dt" sz="half" idx="10"/>
          </p:nvPr>
        </p:nvSpPr>
        <p:spPr/>
        <p:txBody>
          <a:bodyPr/>
          <a:lstStyle/>
          <a:p>
            <a:fld id="{F33F0528-5CD3-4BD8-9BF9-F838BB5EB252}" type="datetimeFigureOut">
              <a:rPr lang="de-DE" smtClean="0"/>
              <a:t>20.10.2025</a:t>
            </a:fld>
            <a:endParaRPr lang="de-DE"/>
          </a:p>
        </p:txBody>
      </p:sp>
      <p:sp>
        <p:nvSpPr>
          <p:cNvPr id="3" name="Fußzeilenplatzhalter 2">
            <a:extLst>
              <a:ext uri="{FF2B5EF4-FFF2-40B4-BE49-F238E27FC236}">
                <a16:creationId xmlns:a16="http://schemas.microsoft.com/office/drawing/2014/main" id="{5A1BEA58-FD24-B6CC-347B-9627124280B2}"/>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336D707B-3352-C116-FC21-8C29129B0626}"/>
              </a:ext>
            </a:extLst>
          </p:cNvPr>
          <p:cNvSpPr>
            <a:spLocks noGrp="1"/>
          </p:cNvSpPr>
          <p:nvPr>
            <p:ph type="sldNum" sz="quarter" idx="12"/>
          </p:nvPr>
        </p:nvSpPr>
        <p:spPr/>
        <p:txBody>
          <a:bodyPr/>
          <a:lstStyle/>
          <a:p>
            <a:fld id="{C5F72814-3B5E-4FCD-8438-A84643E953F0}" type="slidenum">
              <a:rPr lang="de-DE" smtClean="0"/>
              <a:t>‹Nr.›</a:t>
            </a:fld>
            <a:endParaRPr lang="de-DE"/>
          </a:p>
        </p:txBody>
      </p:sp>
    </p:spTree>
    <p:extLst>
      <p:ext uri="{BB962C8B-B14F-4D97-AF65-F5344CB8AC3E}">
        <p14:creationId xmlns:p14="http://schemas.microsoft.com/office/powerpoint/2010/main" val="2340397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1F5FBE7-6CF9-B6A9-BD63-40D1BB0D2970}"/>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608FB52E-EC2C-E56A-8DA5-AC349DB8A9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070D4E34-364B-3891-26BD-DEE8C122E9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68DB1419-658C-4332-BBDC-FC4D4EF186EF}"/>
              </a:ext>
            </a:extLst>
          </p:cNvPr>
          <p:cNvSpPr>
            <a:spLocks noGrp="1"/>
          </p:cNvSpPr>
          <p:nvPr>
            <p:ph type="dt" sz="half" idx="10"/>
          </p:nvPr>
        </p:nvSpPr>
        <p:spPr/>
        <p:txBody>
          <a:bodyPr/>
          <a:lstStyle/>
          <a:p>
            <a:fld id="{F33F0528-5CD3-4BD8-9BF9-F838BB5EB252}" type="datetimeFigureOut">
              <a:rPr lang="de-DE" smtClean="0"/>
              <a:t>20.10.2025</a:t>
            </a:fld>
            <a:endParaRPr lang="de-DE"/>
          </a:p>
        </p:txBody>
      </p:sp>
      <p:sp>
        <p:nvSpPr>
          <p:cNvPr id="6" name="Fußzeilenplatzhalter 5">
            <a:extLst>
              <a:ext uri="{FF2B5EF4-FFF2-40B4-BE49-F238E27FC236}">
                <a16:creationId xmlns:a16="http://schemas.microsoft.com/office/drawing/2014/main" id="{45767F53-E74E-D4A5-FA7F-90CAB9154FB9}"/>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8B92A988-B9CF-1014-9CCD-2A1FF2AAD8F0}"/>
              </a:ext>
            </a:extLst>
          </p:cNvPr>
          <p:cNvSpPr>
            <a:spLocks noGrp="1"/>
          </p:cNvSpPr>
          <p:nvPr>
            <p:ph type="sldNum" sz="quarter" idx="12"/>
          </p:nvPr>
        </p:nvSpPr>
        <p:spPr/>
        <p:txBody>
          <a:bodyPr/>
          <a:lstStyle/>
          <a:p>
            <a:fld id="{C5F72814-3B5E-4FCD-8438-A84643E953F0}" type="slidenum">
              <a:rPr lang="de-DE" smtClean="0"/>
              <a:t>‹Nr.›</a:t>
            </a:fld>
            <a:endParaRPr lang="de-DE"/>
          </a:p>
        </p:txBody>
      </p:sp>
    </p:spTree>
    <p:extLst>
      <p:ext uri="{BB962C8B-B14F-4D97-AF65-F5344CB8AC3E}">
        <p14:creationId xmlns:p14="http://schemas.microsoft.com/office/powerpoint/2010/main" val="3919838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2315BEB-0ABD-B5ED-E538-8F4D672450C5}"/>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8459B6B2-2734-128B-824D-9FDA2B76D4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8A4191EF-23F5-CEF6-B790-5809846DB9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CD1B1C95-1B26-5727-7C29-A366AF09017A}"/>
              </a:ext>
            </a:extLst>
          </p:cNvPr>
          <p:cNvSpPr>
            <a:spLocks noGrp="1"/>
          </p:cNvSpPr>
          <p:nvPr>
            <p:ph type="dt" sz="half" idx="10"/>
          </p:nvPr>
        </p:nvSpPr>
        <p:spPr/>
        <p:txBody>
          <a:bodyPr/>
          <a:lstStyle/>
          <a:p>
            <a:fld id="{F33F0528-5CD3-4BD8-9BF9-F838BB5EB252}" type="datetimeFigureOut">
              <a:rPr lang="de-DE" smtClean="0"/>
              <a:t>20.10.2025</a:t>
            </a:fld>
            <a:endParaRPr lang="de-DE"/>
          </a:p>
        </p:txBody>
      </p:sp>
      <p:sp>
        <p:nvSpPr>
          <p:cNvPr id="6" name="Fußzeilenplatzhalter 5">
            <a:extLst>
              <a:ext uri="{FF2B5EF4-FFF2-40B4-BE49-F238E27FC236}">
                <a16:creationId xmlns:a16="http://schemas.microsoft.com/office/drawing/2014/main" id="{CAAC122D-DFA3-C91E-7F7A-03A4A9BE20BF}"/>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FA8DD2D4-269A-AA1D-11EA-B478EB62265B}"/>
              </a:ext>
            </a:extLst>
          </p:cNvPr>
          <p:cNvSpPr>
            <a:spLocks noGrp="1"/>
          </p:cNvSpPr>
          <p:nvPr>
            <p:ph type="sldNum" sz="quarter" idx="12"/>
          </p:nvPr>
        </p:nvSpPr>
        <p:spPr/>
        <p:txBody>
          <a:bodyPr/>
          <a:lstStyle/>
          <a:p>
            <a:fld id="{C5F72814-3B5E-4FCD-8438-A84643E953F0}" type="slidenum">
              <a:rPr lang="de-DE" smtClean="0"/>
              <a:t>‹Nr.›</a:t>
            </a:fld>
            <a:endParaRPr lang="de-DE"/>
          </a:p>
        </p:txBody>
      </p:sp>
    </p:spTree>
    <p:extLst>
      <p:ext uri="{BB962C8B-B14F-4D97-AF65-F5344CB8AC3E}">
        <p14:creationId xmlns:p14="http://schemas.microsoft.com/office/powerpoint/2010/main" val="35916275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F5A5697-E1EC-CC66-376A-B0F0AB01C11D}"/>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C32E099B-7546-7BA2-AC3C-27DA9802F2EC}"/>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7B24FD1C-589C-CFE9-DAB1-142763A96106}"/>
              </a:ext>
            </a:extLst>
          </p:cNvPr>
          <p:cNvSpPr>
            <a:spLocks noGrp="1"/>
          </p:cNvSpPr>
          <p:nvPr>
            <p:ph type="dt" sz="half" idx="10"/>
          </p:nvPr>
        </p:nvSpPr>
        <p:spPr/>
        <p:txBody>
          <a:bodyPr/>
          <a:lstStyle/>
          <a:p>
            <a:fld id="{F33F0528-5CD3-4BD8-9BF9-F838BB5EB252}" type="datetimeFigureOut">
              <a:rPr lang="de-DE" smtClean="0"/>
              <a:t>20.10.2025</a:t>
            </a:fld>
            <a:endParaRPr lang="de-DE"/>
          </a:p>
        </p:txBody>
      </p:sp>
      <p:sp>
        <p:nvSpPr>
          <p:cNvPr id="5" name="Fußzeilenplatzhalter 4">
            <a:extLst>
              <a:ext uri="{FF2B5EF4-FFF2-40B4-BE49-F238E27FC236}">
                <a16:creationId xmlns:a16="http://schemas.microsoft.com/office/drawing/2014/main" id="{ECBC53DB-615F-A98F-93C8-193D15E4D009}"/>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C8DF5AF7-0BD3-19D7-8EA2-E4F28C8CEF9D}"/>
              </a:ext>
            </a:extLst>
          </p:cNvPr>
          <p:cNvSpPr>
            <a:spLocks noGrp="1"/>
          </p:cNvSpPr>
          <p:nvPr>
            <p:ph type="sldNum" sz="quarter" idx="12"/>
          </p:nvPr>
        </p:nvSpPr>
        <p:spPr/>
        <p:txBody>
          <a:bodyPr/>
          <a:lstStyle/>
          <a:p>
            <a:fld id="{C5F72814-3B5E-4FCD-8438-A84643E953F0}" type="slidenum">
              <a:rPr lang="de-DE" smtClean="0"/>
              <a:t>‹Nr.›</a:t>
            </a:fld>
            <a:endParaRPr lang="de-DE"/>
          </a:p>
        </p:txBody>
      </p:sp>
    </p:spTree>
    <p:extLst>
      <p:ext uri="{BB962C8B-B14F-4D97-AF65-F5344CB8AC3E}">
        <p14:creationId xmlns:p14="http://schemas.microsoft.com/office/powerpoint/2010/main" val="41982590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40F0C0D1-13E3-B334-8D60-4BACB2C8FCB8}"/>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27DC255C-0664-C0AC-514D-927F0A483BCD}"/>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01BA07EB-AD09-BB80-703D-C96A06AB01B0}"/>
              </a:ext>
            </a:extLst>
          </p:cNvPr>
          <p:cNvSpPr>
            <a:spLocks noGrp="1"/>
          </p:cNvSpPr>
          <p:nvPr>
            <p:ph type="dt" sz="half" idx="10"/>
          </p:nvPr>
        </p:nvSpPr>
        <p:spPr/>
        <p:txBody>
          <a:bodyPr/>
          <a:lstStyle/>
          <a:p>
            <a:fld id="{F33F0528-5CD3-4BD8-9BF9-F838BB5EB252}" type="datetimeFigureOut">
              <a:rPr lang="de-DE" smtClean="0"/>
              <a:t>20.10.2025</a:t>
            </a:fld>
            <a:endParaRPr lang="de-DE"/>
          </a:p>
        </p:txBody>
      </p:sp>
      <p:sp>
        <p:nvSpPr>
          <p:cNvPr id="5" name="Fußzeilenplatzhalter 4">
            <a:extLst>
              <a:ext uri="{FF2B5EF4-FFF2-40B4-BE49-F238E27FC236}">
                <a16:creationId xmlns:a16="http://schemas.microsoft.com/office/drawing/2014/main" id="{B07BDC44-9903-FF1A-816C-B170CC21BC62}"/>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712EBCD8-EE93-8080-8483-14C4DEE58FF6}"/>
              </a:ext>
            </a:extLst>
          </p:cNvPr>
          <p:cNvSpPr>
            <a:spLocks noGrp="1"/>
          </p:cNvSpPr>
          <p:nvPr>
            <p:ph type="sldNum" sz="quarter" idx="12"/>
          </p:nvPr>
        </p:nvSpPr>
        <p:spPr/>
        <p:txBody>
          <a:bodyPr/>
          <a:lstStyle/>
          <a:p>
            <a:fld id="{C5F72814-3B5E-4FCD-8438-A84643E953F0}" type="slidenum">
              <a:rPr lang="de-DE" smtClean="0"/>
              <a:t>‹Nr.›</a:t>
            </a:fld>
            <a:endParaRPr lang="de-DE"/>
          </a:p>
        </p:txBody>
      </p:sp>
    </p:spTree>
    <p:extLst>
      <p:ext uri="{BB962C8B-B14F-4D97-AF65-F5344CB8AC3E}">
        <p14:creationId xmlns:p14="http://schemas.microsoft.com/office/powerpoint/2010/main" val="4268227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531B1D5E-1597-EF7F-4836-88BB5F014D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F0089FD2-B5DE-9397-8DE3-E33A2065BA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BB070D4F-5F99-E3EA-B1DC-DA9C92D81D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3F0528-5CD3-4BD8-9BF9-F838BB5EB252}" type="datetimeFigureOut">
              <a:rPr lang="de-DE" smtClean="0"/>
              <a:t>20.10.2025</a:t>
            </a:fld>
            <a:endParaRPr lang="de-DE"/>
          </a:p>
        </p:txBody>
      </p:sp>
      <p:sp>
        <p:nvSpPr>
          <p:cNvPr id="5" name="Fußzeilenplatzhalter 4">
            <a:extLst>
              <a:ext uri="{FF2B5EF4-FFF2-40B4-BE49-F238E27FC236}">
                <a16:creationId xmlns:a16="http://schemas.microsoft.com/office/drawing/2014/main" id="{9FAA88F9-5148-B454-0951-3351A1AEC9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52D622D4-1976-D16A-049F-49CC1BEC6D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5F72814-3B5E-4FCD-8438-A84643E953F0}" type="slidenum">
              <a:rPr lang="de-DE" smtClean="0"/>
              <a:t>‹Nr.›</a:t>
            </a:fld>
            <a:endParaRPr lang="de-DE"/>
          </a:p>
        </p:txBody>
      </p:sp>
    </p:spTree>
    <p:extLst>
      <p:ext uri="{BB962C8B-B14F-4D97-AF65-F5344CB8AC3E}">
        <p14:creationId xmlns:p14="http://schemas.microsoft.com/office/powerpoint/2010/main" val="26375295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www.tuvsud.com/de-de/dienstleistungen/auditierung-und-zertifizierung/cyber-security-zertifizierung/iso-42001" TargetMode="External"/><Relationship Id="rId2" Type="http://schemas.openxmlformats.org/officeDocument/2006/relationships/hyperlink" Target="https://www.trail-ml.com/blog/eu-ai-act-how-risk-is-classified" TargetMode="External"/><Relationship Id="rId1" Type="http://schemas.openxmlformats.org/officeDocument/2006/relationships/slideLayout" Target="../slideLayouts/slideLayout2.xml"/><Relationship Id="rId6" Type="http://schemas.openxmlformats.org/officeDocument/2006/relationships/hyperlink" Target="https://www.bundesregierung.de/breg-de/aktuelles/ai-act-2285944" TargetMode="External"/><Relationship Id="rId5" Type="http://schemas.openxmlformats.org/officeDocument/2006/relationships/hyperlink" Target="https://www.plattform-lernende-systeme.de/files/Downloads/Publikationen/AG3_Impulspapier_290420.pdf" TargetMode="External"/><Relationship Id="rId4" Type="http://schemas.openxmlformats.org/officeDocument/2006/relationships/hyperlink" Target="https://www.iais.fraunhofer.de/de/forschung/kuenstliche-intelligenz/ki-zertifizierung.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descr="Ein Bild, das Text, Screenshot, Schrift, Clipart enthält.&#10;&#10;KI-generierte Inhalte können fehlerhaft sein.">
            <a:extLst>
              <a:ext uri="{FF2B5EF4-FFF2-40B4-BE49-F238E27FC236}">
                <a16:creationId xmlns:a16="http://schemas.microsoft.com/office/drawing/2014/main" id="{8546EA30-1D9E-EF50-1794-733F8710EC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252" y="-81095"/>
            <a:ext cx="12469252" cy="7020189"/>
          </a:xfrm>
          <a:prstGeom prst="rect">
            <a:avLst/>
          </a:prstGeom>
        </p:spPr>
      </p:pic>
    </p:spTree>
    <p:extLst>
      <p:ext uri="{BB962C8B-B14F-4D97-AF65-F5344CB8AC3E}">
        <p14:creationId xmlns:p14="http://schemas.microsoft.com/office/powerpoint/2010/main" val="39711887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C393A98-094E-FD8F-6CD8-A4870331FFF2}"/>
              </a:ext>
            </a:extLst>
          </p:cNvPr>
          <p:cNvSpPr>
            <a:spLocks noGrp="1"/>
          </p:cNvSpPr>
          <p:nvPr>
            <p:ph type="title"/>
          </p:nvPr>
        </p:nvSpPr>
        <p:spPr/>
        <p:txBody>
          <a:bodyPr/>
          <a:lstStyle/>
          <a:p>
            <a:r>
              <a:rPr lang="en-US"/>
              <a:t>Inhaltsverzeichnis</a:t>
            </a:r>
            <a:endParaRPr lang="de-DE"/>
          </a:p>
        </p:txBody>
      </p:sp>
      <p:sp>
        <p:nvSpPr>
          <p:cNvPr id="3" name="Inhaltsplatzhalter 2">
            <a:extLst>
              <a:ext uri="{FF2B5EF4-FFF2-40B4-BE49-F238E27FC236}">
                <a16:creationId xmlns:a16="http://schemas.microsoft.com/office/drawing/2014/main" id="{E2473A59-9A41-FA68-2968-C006923CC38E}"/>
              </a:ext>
            </a:extLst>
          </p:cNvPr>
          <p:cNvSpPr>
            <a:spLocks noGrp="1"/>
          </p:cNvSpPr>
          <p:nvPr>
            <p:ph idx="1"/>
          </p:nvPr>
        </p:nvSpPr>
        <p:spPr/>
        <p:txBody>
          <a:bodyPr/>
          <a:lstStyle/>
          <a:p>
            <a:r>
              <a:rPr lang="en-US"/>
              <a:t>Unüberwachte Algorithmen</a:t>
            </a:r>
          </a:p>
          <a:p>
            <a:r>
              <a:rPr lang="en-US"/>
              <a:t>Überwachte Algorithmen</a:t>
            </a:r>
          </a:p>
          <a:p>
            <a:r>
              <a:rPr lang="en-US"/>
              <a:t>Anforderungen an sichere KI-Systeme</a:t>
            </a:r>
          </a:p>
          <a:p>
            <a:endParaRPr lang="de-DE"/>
          </a:p>
        </p:txBody>
      </p:sp>
    </p:spTree>
    <p:extLst>
      <p:ext uri="{BB962C8B-B14F-4D97-AF65-F5344CB8AC3E}">
        <p14:creationId xmlns:p14="http://schemas.microsoft.com/office/powerpoint/2010/main" val="608260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descr="Ein Bild, das Text, Screenshot, Kreis enthält.&#10;&#10;KI-generierte Inhalte können fehlerhaft sein.">
            <a:extLst>
              <a:ext uri="{FF2B5EF4-FFF2-40B4-BE49-F238E27FC236}">
                <a16:creationId xmlns:a16="http://schemas.microsoft.com/office/drawing/2014/main" id="{10FBD9ED-339E-B755-E2B1-A63EC3760029}"/>
              </a:ext>
            </a:extLst>
          </p:cNvPr>
          <p:cNvPicPr>
            <a:picLocks noChangeAspect="1"/>
          </p:cNvPicPr>
          <p:nvPr/>
        </p:nvPicPr>
        <p:blipFill>
          <a:blip r:embed="rId2">
            <a:extLst>
              <a:ext uri="{28A0092B-C50C-407E-A947-70E740481C1C}">
                <a14:useLocalDpi xmlns:a14="http://schemas.microsoft.com/office/drawing/2010/main" val="0"/>
              </a:ext>
            </a:extLst>
          </a:blip>
          <a:srcRect t="7891" b="7734"/>
          <a:stretch>
            <a:fillRect/>
          </a:stretch>
        </p:blipFill>
        <p:spPr>
          <a:xfrm>
            <a:off x="0" y="0"/>
            <a:ext cx="12192000" cy="6858000"/>
          </a:xfrm>
          <a:prstGeom prst="rect">
            <a:avLst/>
          </a:prstGeom>
        </p:spPr>
      </p:pic>
    </p:spTree>
    <p:extLst>
      <p:ext uri="{BB962C8B-B14F-4D97-AF65-F5344CB8AC3E}">
        <p14:creationId xmlns:p14="http://schemas.microsoft.com/office/powerpoint/2010/main" val="3395191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1937DD1-B132-CC5A-79D6-8E815EDD7380}"/>
              </a:ext>
            </a:extLst>
          </p:cNvPr>
          <p:cNvSpPr>
            <a:spLocks noGrp="1"/>
          </p:cNvSpPr>
          <p:nvPr>
            <p:ph type="title"/>
          </p:nvPr>
        </p:nvSpPr>
        <p:spPr>
          <a:xfrm>
            <a:off x="6411685" y="634946"/>
            <a:ext cx="5127171" cy="1450757"/>
          </a:xfrm>
        </p:spPr>
        <p:txBody>
          <a:bodyPr>
            <a:normAutofit/>
          </a:bodyPr>
          <a:lstStyle/>
          <a:p>
            <a:r>
              <a:rPr lang="de-DE" dirty="0"/>
              <a:t>Funktionsweise der linearen Regression</a:t>
            </a:r>
          </a:p>
        </p:txBody>
      </p:sp>
      <p:pic>
        <p:nvPicPr>
          <p:cNvPr id="5" name="Grafik 4" descr="Ein Bild, das Text, Screenshot, Reihe, Diagramm enthält.&#10;&#10;KI-generierte Inhalte können fehlerhaft sein.">
            <a:extLst>
              <a:ext uri="{FF2B5EF4-FFF2-40B4-BE49-F238E27FC236}">
                <a16:creationId xmlns:a16="http://schemas.microsoft.com/office/drawing/2014/main" id="{0B95F0C7-43EF-B813-E6AD-5580677FE076}"/>
              </a:ext>
            </a:extLst>
          </p:cNvPr>
          <p:cNvPicPr>
            <a:picLocks noChangeAspect="1"/>
          </p:cNvPicPr>
          <p:nvPr/>
        </p:nvPicPr>
        <p:blipFill>
          <a:blip r:embed="rId2"/>
          <a:stretch>
            <a:fillRect/>
          </a:stretch>
        </p:blipFill>
        <p:spPr>
          <a:xfrm>
            <a:off x="643192" y="1885629"/>
            <a:ext cx="5451627" cy="2766700"/>
          </a:xfrm>
          <a:prstGeom prst="rect">
            <a:avLst/>
          </a:prstGeom>
        </p:spPr>
      </p:pic>
      <p:sp>
        <p:nvSpPr>
          <p:cNvPr id="3" name="Inhaltsplatzhalter 2">
            <a:extLst>
              <a:ext uri="{FF2B5EF4-FFF2-40B4-BE49-F238E27FC236}">
                <a16:creationId xmlns:a16="http://schemas.microsoft.com/office/drawing/2014/main" id="{EA30984B-4BA6-9A6D-0355-FC6015034D0E}"/>
              </a:ext>
            </a:extLst>
          </p:cNvPr>
          <p:cNvSpPr>
            <a:spLocks noGrp="1"/>
          </p:cNvSpPr>
          <p:nvPr>
            <p:ph idx="1"/>
          </p:nvPr>
        </p:nvSpPr>
        <p:spPr>
          <a:xfrm>
            <a:off x="6411684" y="2198914"/>
            <a:ext cx="5127172" cy="3670180"/>
          </a:xfrm>
        </p:spPr>
        <p:txBody>
          <a:bodyPr>
            <a:normAutofit fontScale="85000" lnSpcReduction="10000"/>
          </a:bodyPr>
          <a:lstStyle/>
          <a:p>
            <a:pPr>
              <a:buFont typeface="Arial" panose="020B0604020202020204" pitchFamily="34" charset="0"/>
              <a:buChar char="•"/>
            </a:pPr>
            <a:r>
              <a:rPr lang="de-DE" dirty="0"/>
              <a:t>Ziel: Ermittlung eines linearen Zusammenhangs zwischen Alter (x) und Ausfällen (y)</a:t>
            </a:r>
          </a:p>
          <a:p>
            <a:pPr>
              <a:buFont typeface="Arial" panose="020B0604020202020204" pitchFamily="34" charset="0"/>
              <a:buChar char="•"/>
            </a:pPr>
            <a:r>
              <a:rPr lang="de-DE" dirty="0"/>
              <a:t>Modellgleichung: y = </a:t>
            </a:r>
            <a:r>
              <a:rPr lang="de-DE" dirty="0" err="1"/>
              <a:t>m·x</a:t>
            </a:r>
            <a:r>
              <a:rPr lang="de-DE" dirty="0"/>
              <a:t> + b</a:t>
            </a:r>
          </a:p>
          <a:p>
            <a:pPr>
              <a:buFont typeface="Arial" panose="020B0604020202020204" pitchFamily="34" charset="0"/>
              <a:buChar char="•"/>
            </a:pPr>
            <a:r>
              <a:rPr lang="de-DE" dirty="0"/>
              <a:t>m = Steigung → Einfluss des Alters auf die Ausfälle</a:t>
            </a:r>
          </a:p>
          <a:p>
            <a:pPr>
              <a:buFont typeface="Arial" panose="020B0604020202020204" pitchFamily="34" charset="0"/>
              <a:buChar char="•"/>
            </a:pPr>
            <a:r>
              <a:rPr lang="de-DE" dirty="0"/>
              <a:t>b = Achsenabschnitt → Basisanzahl an Ausfällen bei Alter = 0</a:t>
            </a:r>
          </a:p>
          <a:p>
            <a:pPr>
              <a:buFont typeface="Arial" panose="020B0604020202020204" pitchFamily="34" charset="0"/>
              <a:buChar char="•"/>
            </a:pPr>
            <a:r>
              <a:rPr lang="de-DE" dirty="0"/>
              <a:t>Minimierung der quadratischen Abweichungen (Least Squares)</a:t>
            </a:r>
          </a:p>
        </p:txBody>
      </p:sp>
    </p:spTree>
    <p:extLst>
      <p:ext uri="{BB962C8B-B14F-4D97-AF65-F5344CB8AC3E}">
        <p14:creationId xmlns:p14="http://schemas.microsoft.com/office/powerpoint/2010/main" val="2092258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557DAD2-6A3D-8746-E709-3D1EEB9C0987}"/>
              </a:ext>
            </a:extLst>
          </p:cNvPr>
          <p:cNvSpPr>
            <a:spLocks noGrp="1"/>
          </p:cNvSpPr>
          <p:nvPr>
            <p:ph type="title"/>
          </p:nvPr>
        </p:nvSpPr>
        <p:spPr/>
        <p:txBody>
          <a:bodyPr/>
          <a:lstStyle/>
          <a:p>
            <a:r>
              <a:rPr lang="de-DE" dirty="0"/>
              <a:t>Zusammenhang zwischen Alter und Ausfallhäufigkeit</a:t>
            </a:r>
          </a:p>
        </p:txBody>
      </p:sp>
      <p:sp>
        <p:nvSpPr>
          <p:cNvPr id="3" name="Inhaltsplatzhalter 2">
            <a:extLst>
              <a:ext uri="{FF2B5EF4-FFF2-40B4-BE49-F238E27FC236}">
                <a16:creationId xmlns:a16="http://schemas.microsoft.com/office/drawing/2014/main" id="{9056DB02-5C2C-D26C-A553-FDD3C2EFE4A7}"/>
              </a:ext>
            </a:extLst>
          </p:cNvPr>
          <p:cNvSpPr>
            <a:spLocks noGrp="1"/>
          </p:cNvSpPr>
          <p:nvPr>
            <p:ph idx="1"/>
          </p:nvPr>
        </p:nvSpPr>
        <p:spPr/>
        <p:txBody>
          <a:bodyPr/>
          <a:lstStyle/>
          <a:p>
            <a:pPr>
              <a:buFont typeface="Arial" panose="020B0604020202020204" pitchFamily="34" charset="0"/>
              <a:buChar char="•"/>
            </a:pPr>
            <a:r>
              <a:rPr lang="de-DE" dirty="0"/>
              <a:t>Datengrundlage: Historische Maschinendaten mit Alter und Anzahl der Ausfälle</a:t>
            </a:r>
          </a:p>
          <a:p>
            <a:pPr>
              <a:buFont typeface="Arial" panose="020B0604020202020204" pitchFamily="34" charset="0"/>
              <a:buChar char="•"/>
            </a:pPr>
            <a:r>
              <a:rPr lang="de-DE" dirty="0"/>
              <a:t>Vorgehen: Gruppierung der Daten nach Alter und Berechnung der Summe der Ausfälle</a:t>
            </a:r>
          </a:p>
          <a:p>
            <a:pPr>
              <a:buFont typeface="Arial" panose="020B0604020202020204" pitchFamily="34" charset="0"/>
              <a:buChar char="•"/>
            </a:pPr>
            <a:r>
              <a:rPr lang="de-DE" dirty="0"/>
              <a:t>Erstellung eines Streudiagramms mit Regressionslinie</a:t>
            </a:r>
          </a:p>
          <a:p>
            <a:pPr>
              <a:buFont typeface="Arial" panose="020B0604020202020204" pitchFamily="34" charset="0"/>
              <a:buChar char="•"/>
            </a:pPr>
            <a:r>
              <a:rPr lang="de-DE" dirty="0"/>
              <a:t>Ergebnis: y = 1707.34x + 27043.18</a:t>
            </a:r>
          </a:p>
          <a:p>
            <a:pPr>
              <a:buFont typeface="Arial" panose="020B0604020202020204" pitchFamily="34" charset="0"/>
              <a:buChar char="•"/>
            </a:pPr>
            <a:r>
              <a:rPr lang="de-DE" dirty="0"/>
              <a:t>Leichte positive Steigung → ältere Maschinen zeigen mehr Ausfälle</a:t>
            </a:r>
          </a:p>
          <a:p>
            <a:endParaRPr lang="de-DE" dirty="0"/>
          </a:p>
        </p:txBody>
      </p:sp>
    </p:spTree>
    <p:extLst>
      <p:ext uri="{BB962C8B-B14F-4D97-AF65-F5344CB8AC3E}">
        <p14:creationId xmlns:p14="http://schemas.microsoft.com/office/powerpoint/2010/main" val="28559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7017F7-D465-A66E-052C-052CFC2D3F79}"/>
              </a:ext>
            </a:extLst>
          </p:cNvPr>
          <p:cNvSpPr>
            <a:spLocks noGrp="1"/>
          </p:cNvSpPr>
          <p:nvPr>
            <p:ph type="title"/>
          </p:nvPr>
        </p:nvSpPr>
        <p:spPr/>
        <p:txBody>
          <a:bodyPr/>
          <a:lstStyle/>
          <a:p>
            <a:r>
              <a:rPr lang="de-DE" dirty="0"/>
              <a:t>Interpretation der Regressionsentscheidung</a:t>
            </a:r>
          </a:p>
        </p:txBody>
      </p:sp>
      <p:sp>
        <p:nvSpPr>
          <p:cNvPr id="3" name="Inhaltsplatzhalter 2">
            <a:extLst>
              <a:ext uri="{FF2B5EF4-FFF2-40B4-BE49-F238E27FC236}">
                <a16:creationId xmlns:a16="http://schemas.microsoft.com/office/drawing/2014/main" id="{04F3A765-9846-8A38-8714-B7492B4B9BF2}"/>
              </a:ext>
            </a:extLst>
          </p:cNvPr>
          <p:cNvSpPr>
            <a:spLocks noGrp="1"/>
          </p:cNvSpPr>
          <p:nvPr>
            <p:ph idx="1"/>
          </p:nvPr>
        </p:nvSpPr>
        <p:spPr/>
        <p:txBody>
          <a:bodyPr/>
          <a:lstStyle/>
          <a:p>
            <a:pPr>
              <a:buFont typeface="Arial" panose="020B0604020202020204" pitchFamily="34" charset="0"/>
              <a:buChar char="•"/>
            </a:pPr>
            <a:r>
              <a:rPr lang="de-DE" dirty="0"/>
              <a:t>Modell erkennt positiven Trend zwischen </a:t>
            </a:r>
            <a:r>
              <a:rPr lang="de-DE" b="1" dirty="0"/>
              <a:t>Alter</a:t>
            </a:r>
            <a:r>
              <a:rPr lang="de-DE" dirty="0"/>
              <a:t> und Ausfallhäufigkeit</a:t>
            </a:r>
          </a:p>
          <a:p>
            <a:pPr>
              <a:buFont typeface="Arial" panose="020B0604020202020204" pitchFamily="34" charset="0"/>
              <a:buChar char="•"/>
            </a:pPr>
            <a:r>
              <a:rPr lang="de-DE" dirty="0"/>
              <a:t>Einflussfaktor: Alter als Hauptprädiktor</a:t>
            </a:r>
          </a:p>
          <a:p>
            <a:pPr>
              <a:buFont typeface="Arial" panose="020B0604020202020204" pitchFamily="34" charset="0"/>
              <a:buChar char="•"/>
            </a:pPr>
            <a:r>
              <a:rPr lang="de-DE" dirty="0"/>
              <a:t>Steigung m = 1707.34 → pro Jahr Alter ~1707 zusätzliche Ausfälle</a:t>
            </a:r>
          </a:p>
          <a:p>
            <a:pPr>
              <a:buFont typeface="Arial" panose="020B0604020202020204" pitchFamily="34" charset="0"/>
              <a:buChar char="•"/>
            </a:pPr>
            <a:r>
              <a:rPr lang="de-DE" dirty="0"/>
              <a:t>Weitere Einflussgrößen (z. B. Wartung, Nutzung) möglich</a:t>
            </a:r>
          </a:p>
          <a:p>
            <a:pPr>
              <a:buFont typeface="Arial" panose="020B0604020202020204" pitchFamily="34" charset="0"/>
              <a:buChar char="•"/>
            </a:pPr>
            <a:r>
              <a:rPr lang="de-DE" dirty="0"/>
              <a:t>Entscheidung basiert vollständig </a:t>
            </a:r>
            <a:r>
              <a:rPr lang="de-DE" b="1" dirty="0"/>
              <a:t>auf</a:t>
            </a:r>
            <a:r>
              <a:rPr lang="de-DE" dirty="0"/>
              <a:t> </a:t>
            </a:r>
            <a:r>
              <a:rPr lang="de-DE" b="1" dirty="0"/>
              <a:t>beobachteten Daten </a:t>
            </a:r>
          </a:p>
          <a:p>
            <a:pPr>
              <a:buFont typeface="Arial" panose="020B0604020202020204" pitchFamily="34" charset="0"/>
              <a:buChar char="•"/>
            </a:pPr>
            <a:r>
              <a:rPr lang="de-DE" dirty="0"/>
              <a:t>Modell generalisiert </a:t>
            </a:r>
            <a:r>
              <a:rPr lang="de-DE" b="1" dirty="0"/>
              <a:t>auf ähnlichen Mustern</a:t>
            </a:r>
          </a:p>
          <a:p>
            <a:endParaRPr lang="de-DE" dirty="0"/>
          </a:p>
        </p:txBody>
      </p:sp>
    </p:spTree>
    <p:extLst>
      <p:ext uri="{BB962C8B-B14F-4D97-AF65-F5344CB8AC3E}">
        <p14:creationId xmlns:p14="http://schemas.microsoft.com/office/powerpoint/2010/main" val="3307569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4A0129B-C957-4D3C-BD95-D5D8FB1E2577}"/>
              </a:ext>
            </a:extLst>
          </p:cNvPr>
          <p:cNvSpPr>
            <a:spLocks noGrp="1"/>
          </p:cNvSpPr>
          <p:nvPr>
            <p:ph type="title"/>
          </p:nvPr>
        </p:nvSpPr>
        <p:spPr/>
        <p:txBody>
          <a:bodyPr/>
          <a:lstStyle/>
          <a:p>
            <a:r>
              <a:rPr lang="de-DE" dirty="0"/>
              <a:t>Erklärbarkeit und Grenzen der linearen Regression</a:t>
            </a:r>
          </a:p>
        </p:txBody>
      </p:sp>
      <p:sp>
        <p:nvSpPr>
          <p:cNvPr id="3" name="Inhaltsplatzhalter 2">
            <a:extLst>
              <a:ext uri="{FF2B5EF4-FFF2-40B4-BE49-F238E27FC236}">
                <a16:creationId xmlns:a16="http://schemas.microsoft.com/office/drawing/2014/main" id="{CA844B86-EB7F-388A-2472-B0495C9E079D}"/>
              </a:ext>
            </a:extLst>
          </p:cNvPr>
          <p:cNvSpPr>
            <a:spLocks noGrp="1"/>
          </p:cNvSpPr>
          <p:nvPr>
            <p:ph idx="1"/>
          </p:nvPr>
        </p:nvSpPr>
        <p:spPr/>
        <p:txBody>
          <a:bodyPr/>
          <a:lstStyle/>
          <a:p>
            <a:pPr>
              <a:buFont typeface="Arial" panose="020B0604020202020204" pitchFamily="34" charset="0"/>
              <a:buChar char="•"/>
            </a:pPr>
            <a:r>
              <a:rPr lang="de-DE" dirty="0"/>
              <a:t>Hohe Transparenz: Parameter (m, b) sind direkt interpretierbar</a:t>
            </a:r>
          </a:p>
          <a:p>
            <a:pPr>
              <a:buFont typeface="Arial" panose="020B0604020202020204" pitchFamily="34" charset="0"/>
              <a:buChar char="•"/>
            </a:pPr>
            <a:r>
              <a:rPr lang="de-DE" dirty="0"/>
              <a:t>Einfache Visualisierung durch Trendlinie</a:t>
            </a:r>
          </a:p>
          <a:p>
            <a:pPr>
              <a:buFont typeface="Arial" panose="020B0604020202020204" pitchFamily="34" charset="0"/>
              <a:buChar char="•"/>
            </a:pPr>
            <a:r>
              <a:rPr lang="de-DE" dirty="0"/>
              <a:t>Analyse der Residuen möglich, um Modellfehler zu erkennen</a:t>
            </a:r>
          </a:p>
          <a:p>
            <a:pPr>
              <a:buFont typeface="Arial" panose="020B0604020202020204" pitchFamily="34" charset="0"/>
              <a:buChar char="•"/>
            </a:pPr>
            <a:r>
              <a:rPr lang="de-DE" dirty="0"/>
              <a:t>Vergleich mit nichtlinearen Modellen (z. B. Polynomial Regression)</a:t>
            </a:r>
          </a:p>
          <a:p>
            <a:pPr>
              <a:buFont typeface="Arial" panose="020B0604020202020204" pitchFamily="34" charset="0"/>
              <a:buChar char="•"/>
            </a:pPr>
            <a:r>
              <a:rPr lang="de-DE" dirty="0"/>
              <a:t>Grenzen: nur lineare Zusammenhänge, empfindlich gegenüber Ausreißern</a:t>
            </a:r>
          </a:p>
          <a:p>
            <a:endParaRPr lang="de-DE" dirty="0"/>
          </a:p>
        </p:txBody>
      </p:sp>
    </p:spTree>
    <p:extLst>
      <p:ext uri="{BB962C8B-B14F-4D97-AF65-F5344CB8AC3E}">
        <p14:creationId xmlns:p14="http://schemas.microsoft.com/office/powerpoint/2010/main" val="1293213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0F025E6-246A-0908-67D6-DD985B24B13A}"/>
              </a:ext>
            </a:extLst>
          </p:cNvPr>
          <p:cNvSpPr>
            <a:spLocks noGrp="1"/>
          </p:cNvSpPr>
          <p:nvPr>
            <p:ph type="title"/>
          </p:nvPr>
        </p:nvSpPr>
        <p:spPr/>
        <p:txBody>
          <a:bodyPr/>
          <a:lstStyle/>
          <a:p>
            <a:r>
              <a:rPr lang="de-DE" dirty="0"/>
              <a:t>Funktionsweise des DBSCAN-Algorithmus</a:t>
            </a:r>
          </a:p>
        </p:txBody>
      </p:sp>
      <p:sp>
        <p:nvSpPr>
          <p:cNvPr id="3" name="Inhaltsplatzhalter 2">
            <a:extLst>
              <a:ext uri="{FF2B5EF4-FFF2-40B4-BE49-F238E27FC236}">
                <a16:creationId xmlns:a16="http://schemas.microsoft.com/office/drawing/2014/main" id="{FFEE2026-5121-252C-271F-15684CDD5733}"/>
              </a:ext>
            </a:extLst>
          </p:cNvPr>
          <p:cNvSpPr>
            <a:spLocks noGrp="1"/>
          </p:cNvSpPr>
          <p:nvPr>
            <p:ph idx="1"/>
          </p:nvPr>
        </p:nvSpPr>
        <p:spPr/>
        <p:txBody>
          <a:bodyPr/>
          <a:lstStyle/>
          <a:p>
            <a:pPr>
              <a:buFont typeface="Arial" panose="020B0604020202020204" pitchFamily="34" charset="0"/>
              <a:buChar char="•"/>
            </a:pPr>
            <a:r>
              <a:rPr lang="de-DE" dirty="0"/>
              <a:t>Dichtebasiertes Verfahren zur Erkennung von Anomalien</a:t>
            </a:r>
          </a:p>
          <a:p>
            <a:pPr>
              <a:buFont typeface="Arial" panose="020B0604020202020204" pitchFamily="34" charset="0"/>
              <a:buChar char="•"/>
            </a:pPr>
            <a:r>
              <a:rPr lang="de-DE" dirty="0"/>
              <a:t>Zwei Hauptparameter:</a:t>
            </a:r>
          </a:p>
          <a:p>
            <a:pPr lvl="1">
              <a:buFont typeface="Arial" panose="020B0604020202020204" pitchFamily="34" charset="0"/>
              <a:buChar char="•"/>
            </a:pPr>
            <a:r>
              <a:rPr lang="de-DE" dirty="0"/>
              <a:t>ε (Epsilon): maximale Distanz zwischen Punkten in einem Cluster</a:t>
            </a:r>
          </a:p>
          <a:p>
            <a:pPr lvl="1">
              <a:buFont typeface="Arial" panose="020B0604020202020204" pitchFamily="34" charset="0"/>
              <a:buChar char="•"/>
            </a:pPr>
            <a:r>
              <a:rPr lang="de-DE" dirty="0" err="1"/>
              <a:t>min_samples</a:t>
            </a:r>
            <a:r>
              <a:rPr lang="de-DE" dirty="0"/>
              <a:t>: Mindestanzahl von Punkten für Clusterbildung</a:t>
            </a:r>
          </a:p>
          <a:p>
            <a:pPr>
              <a:buFont typeface="Arial" panose="020B0604020202020204" pitchFamily="34" charset="0"/>
              <a:buChar char="•"/>
            </a:pPr>
            <a:r>
              <a:rPr lang="de-DE" dirty="0"/>
              <a:t>Punkte außerhalb von Clustern (Label = -1) → Anomalien</a:t>
            </a:r>
          </a:p>
          <a:p>
            <a:pPr>
              <a:buFont typeface="Arial" panose="020B0604020202020204" pitchFamily="34" charset="0"/>
              <a:buChar char="•"/>
            </a:pPr>
            <a:r>
              <a:rPr lang="de-DE" dirty="0"/>
              <a:t>Besonders geeignet für verrauschte, nichtlineare Sensordaten</a:t>
            </a:r>
          </a:p>
          <a:p>
            <a:endParaRPr lang="de-DE" dirty="0"/>
          </a:p>
        </p:txBody>
      </p:sp>
    </p:spTree>
    <p:extLst>
      <p:ext uri="{BB962C8B-B14F-4D97-AF65-F5344CB8AC3E}">
        <p14:creationId xmlns:p14="http://schemas.microsoft.com/office/powerpoint/2010/main" val="4276734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C07C569-29D4-1E49-E708-9C28076CDE8C}"/>
              </a:ext>
            </a:extLst>
          </p:cNvPr>
          <p:cNvSpPr>
            <a:spLocks noGrp="1"/>
          </p:cNvSpPr>
          <p:nvPr>
            <p:ph type="title"/>
          </p:nvPr>
        </p:nvSpPr>
        <p:spPr/>
        <p:txBody>
          <a:bodyPr/>
          <a:lstStyle/>
          <a:p>
            <a:r>
              <a:rPr lang="de-DE" dirty="0"/>
              <a:t>Funktionsweise des DBSCAN-Algorithmus</a:t>
            </a:r>
          </a:p>
        </p:txBody>
      </p:sp>
      <p:pic>
        <p:nvPicPr>
          <p:cNvPr id="5" name="Inhaltsplatzhalter 4">
            <a:extLst>
              <a:ext uri="{FF2B5EF4-FFF2-40B4-BE49-F238E27FC236}">
                <a16:creationId xmlns:a16="http://schemas.microsoft.com/office/drawing/2014/main" id="{BE9995BA-7B90-0036-5648-5ABB38FC1F0E}"/>
              </a:ext>
            </a:extLst>
          </p:cNvPr>
          <p:cNvPicPr>
            <a:picLocks noGrp="1" noChangeAspect="1"/>
          </p:cNvPicPr>
          <p:nvPr>
            <p:ph idx="1"/>
          </p:nvPr>
        </p:nvPicPr>
        <p:blipFill>
          <a:blip r:embed="rId2"/>
          <a:stretch>
            <a:fillRect/>
          </a:stretch>
        </p:blipFill>
        <p:spPr>
          <a:xfrm>
            <a:off x="2898865" y="1901575"/>
            <a:ext cx="6455229" cy="2617394"/>
          </a:xfrm>
          <a:prstGeom prst="rect">
            <a:avLst/>
          </a:prstGeom>
        </p:spPr>
      </p:pic>
      <p:pic>
        <p:nvPicPr>
          <p:cNvPr id="7" name="Grafik 6">
            <a:extLst>
              <a:ext uri="{FF2B5EF4-FFF2-40B4-BE49-F238E27FC236}">
                <a16:creationId xmlns:a16="http://schemas.microsoft.com/office/drawing/2014/main" id="{2F5BE1A8-0ABB-DC62-FA17-8DBF1341BC13}"/>
              </a:ext>
            </a:extLst>
          </p:cNvPr>
          <p:cNvPicPr>
            <a:picLocks noChangeAspect="1"/>
          </p:cNvPicPr>
          <p:nvPr/>
        </p:nvPicPr>
        <p:blipFill>
          <a:blip r:embed="rId3"/>
          <a:stretch>
            <a:fillRect/>
          </a:stretch>
        </p:blipFill>
        <p:spPr>
          <a:xfrm>
            <a:off x="2898865" y="4237553"/>
            <a:ext cx="6455229" cy="2540673"/>
          </a:xfrm>
          <a:prstGeom prst="rect">
            <a:avLst/>
          </a:prstGeom>
        </p:spPr>
      </p:pic>
    </p:spTree>
    <p:extLst>
      <p:ext uri="{BB962C8B-B14F-4D97-AF65-F5344CB8AC3E}">
        <p14:creationId xmlns:p14="http://schemas.microsoft.com/office/powerpoint/2010/main" val="4136513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3906625-6F00-6788-BE45-E7E528999DE3}"/>
              </a:ext>
            </a:extLst>
          </p:cNvPr>
          <p:cNvSpPr>
            <a:spLocks noGrp="1"/>
          </p:cNvSpPr>
          <p:nvPr>
            <p:ph type="title"/>
          </p:nvPr>
        </p:nvSpPr>
        <p:spPr/>
        <p:txBody>
          <a:bodyPr/>
          <a:lstStyle/>
          <a:p>
            <a:r>
              <a:rPr lang="de-DE" dirty="0"/>
              <a:t>Umsetzung und Entscheidungslogik</a:t>
            </a:r>
          </a:p>
        </p:txBody>
      </p:sp>
      <p:sp>
        <p:nvSpPr>
          <p:cNvPr id="3" name="Inhaltsplatzhalter 2">
            <a:extLst>
              <a:ext uri="{FF2B5EF4-FFF2-40B4-BE49-F238E27FC236}">
                <a16:creationId xmlns:a16="http://schemas.microsoft.com/office/drawing/2014/main" id="{BC57A424-21A8-8965-11F2-BB018BDA30DC}"/>
              </a:ext>
            </a:extLst>
          </p:cNvPr>
          <p:cNvSpPr>
            <a:spLocks noGrp="1"/>
          </p:cNvSpPr>
          <p:nvPr>
            <p:ph idx="1"/>
          </p:nvPr>
        </p:nvSpPr>
        <p:spPr/>
        <p:txBody>
          <a:bodyPr/>
          <a:lstStyle/>
          <a:p>
            <a:pPr>
              <a:buFont typeface="Arial" panose="020B0604020202020204" pitchFamily="34" charset="0"/>
              <a:buChar char="•"/>
            </a:pPr>
            <a:r>
              <a:rPr lang="de-DE" dirty="0"/>
              <a:t>Datengrundlage: Zeitreihen von vier Sensoren (</a:t>
            </a:r>
            <a:r>
              <a:rPr lang="de-DE" dirty="0" err="1"/>
              <a:t>volt</a:t>
            </a:r>
            <a:r>
              <a:rPr lang="de-DE" dirty="0"/>
              <a:t>, </a:t>
            </a:r>
            <a:r>
              <a:rPr lang="de-DE" dirty="0" err="1"/>
              <a:t>rotate</a:t>
            </a:r>
            <a:r>
              <a:rPr lang="de-DE" dirty="0"/>
              <a:t>, </a:t>
            </a:r>
            <a:r>
              <a:rPr lang="de-DE" dirty="0" err="1"/>
              <a:t>pressure</a:t>
            </a:r>
            <a:r>
              <a:rPr lang="de-DE" dirty="0"/>
              <a:t>, </a:t>
            </a:r>
            <a:r>
              <a:rPr lang="de-DE" dirty="0" err="1"/>
              <a:t>vibration</a:t>
            </a:r>
            <a:r>
              <a:rPr lang="de-DE" dirty="0"/>
              <a:t>)</a:t>
            </a:r>
          </a:p>
          <a:p>
            <a:pPr>
              <a:buFont typeface="Arial" panose="020B0604020202020204" pitchFamily="34" charset="0"/>
              <a:buChar char="•"/>
            </a:pPr>
            <a:r>
              <a:rPr lang="de-DE" dirty="0"/>
              <a:t>Parameterwahl: ε = 0.075, </a:t>
            </a:r>
            <a:r>
              <a:rPr lang="de-DE" dirty="0" err="1"/>
              <a:t>min_samples</a:t>
            </a:r>
            <a:r>
              <a:rPr lang="de-DE" dirty="0"/>
              <a:t> = 2</a:t>
            </a:r>
          </a:p>
          <a:p>
            <a:pPr>
              <a:buFont typeface="Arial" panose="020B0604020202020204" pitchFamily="34" charset="0"/>
              <a:buChar char="•"/>
            </a:pPr>
            <a:r>
              <a:rPr lang="de-DE" dirty="0"/>
              <a:t>DBSCAN identifiziert Cluster und markiert isolierte Punkte als Ausreißer</a:t>
            </a:r>
          </a:p>
          <a:p>
            <a:pPr>
              <a:buFont typeface="Arial" panose="020B0604020202020204" pitchFamily="34" charset="0"/>
              <a:buChar char="•"/>
            </a:pPr>
            <a:r>
              <a:rPr lang="de-DE" dirty="0"/>
              <a:t>Insgesamt 99 Anomalien erkannt</a:t>
            </a:r>
          </a:p>
          <a:p>
            <a:pPr>
              <a:buFont typeface="Arial" panose="020B0604020202020204" pitchFamily="34" charset="0"/>
              <a:buChar char="•"/>
            </a:pPr>
            <a:r>
              <a:rPr lang="de-DE" dirty="0"/>
              <a:t>Visualisierung: normale Werte (blau), Anomalien (rot)</a:t>
            </a:r>
          </a:p>
          <a:p>
            <a:pPr>
              <a:buFont typeface="Arial" panose="020B0604020202020204" pitchFamily="34" charset="0"/>
              <a:buChar char="•"/>
            </a:pPr>
            <a:endParaRPr lang="de-DE" dirty="0"/>
          </a:p>
        </p:txBody>
      </p:sp>
    </p:spTree>
    <p:extLst>
      <p:ext uri="{BB962C8B-B14F-4D97-AF65-F5344CB8AC3E}">
        <p14:creationId xmlns:p14="http://schemas.microsoft.com/office/powerpoint/2010/main" val="10414356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AAF861-0973-D4D3-CE47-2E9CED5FF2CC}"/>
              </a:ext>
            </a:extLst>
          </p:cNvPr>
          <p:cNvSpPr>
            <a:spLocks noGrp="1"/>
          </p:cNvSpPr>
          <p:nvPr>
            <p:ph type="title"/>
          </p:nvPr>
        </p:nvSpPr>
        <p:spPr/>
        <p:txBody>
          <a:bodyPr/>
          <a:lstStyle/>
          <a:p>
            <a:r>
              <a:rPr lang="de-DE" dirty="0"/>
              <a:t>Einflussfaktoren und Entscheidungsgrundlagen</a:t>
            </a:r>
          </a:p>
        </p:txBody>
      </p:sp>
      <p:sp>
        <p:nvSpPr>
          <p:cNvPr id="3" name="Inhaltsplatzhalter 2">
            <a:extLst>
              <a:ext uri="{FF2B5EF4-FFF2-40B4-BE49-F238E27FC236}">
                <a16:creationId xmlns:a16="http://schemas.microsoft.com/office/drawing/2014/main" id="{8855EBC7-E733-BC74-104C-26E176A0EED5}"/>
              </a:ext>
            </a:extLst>
          </p:cNvPr>
          <p:cNvSpPr>
            <a:spLocks noGrp="1"/>
          </p:cNvSpPr>
          <p:nvPr>
            <p:ph idx="1"/>
          </p:nvPr>
        </p:nvSpPr>
        <p:spPr/>
        <p:txBody>
          <a:bodyPr/>
          <a:lstStyle/>
          <a:p>
            <a:pPr>
              <a:buFont typeface="Arial" panose="020B0604020202020204" pitchFamily="34" charset="0"/>
              <a:buChar char="•"/>
            </a:pPr>
            <a:r>
              <a:rPr lang="de-DE" dirty="0"/>
              <a:t>Entscheidung basiert auf lokaler Punktdichte </a:t>
            </a:r>
            <a:r>
              <a:rPr lang="de-DE" dirty="0">
                <a:sym typeface="Wingdings" panose="05000000000000000000" pitchFamily="2" charset="2"/>
              </a:rPr>
              <a:t> je enger die Punkte zusammenliegen, desto schneller werden Ausreißer erkannt</a:t>
            </a:r>
            <a:endParaRPr lang="de-DE" dirty="0"/>
          </a:p>
          <a:p>
            <a:pPr>
              <a:buFont typeface="Arial" panose="020B0604020202020204" pitchFamily="34" charset="0"/>
              <a:buChar char="•"/>
            </a:pPr>
            <a:r>
              <a:rPr lang="de-DE" dirty="0"/>
              <a:t>Einflussfaktoren:</a:t>
            </a:r>
          </a:p>
          <a:p>
            <a:pPr lvl="1">
              <a:buFont typeface="Arial" panose="020B0604020202020204" pitchFamily="34" charset="0"/>
              <a:buChar char="•"/>
            </a:pPr>
            <a:r>
              <a:rPr lang="de-DE" dirty="0"/>
              <a:t>Datenverteilung (Sensorrauschen, Schwankungen)</a:t>
            </a:r>
          </a:p>
          <a:p>
            <a:pPr lvl="1">
              <a:buFont typeface="Arial" panose="020B0604020202020204" pitchFamily="34" charset="0"/>
              <a:buChar char="•"/>
            </a:pPr>
            <a:r>
              <a:rPr lang="de-DE" dirty="0"/>
              <a:t>Parameterwahl (ε, </a:t>
            </a:r>
            <a:r>
              <a:rPr lang="de-DE" dirty="0" err="1"/>
              <a:t>min_samples</a:t>
            </a:r>
            <a:r>
              <a:rPr lang="de-DE" dirty="0"/>
              <a:t>)</a:t>
            </a:r>
          </a:p>
          <a:p>
            <a:pPr>
              <a:buFont typeface="Arial" panose="020B0604020202020204" pitchFamily="34" charset="0"/>
              <a:buChar char="•"/>
            </a:pPr>
            <a:r>
              <a:rPr lang="de-DE" dirty="0"/>
              <a:t>Zu kleine ε → viele Ausreißer, zu große ε → wenige Cluster</a:t>
            </a:r>
          </a:p>
          <a:p>
            <a:pPr>
              <a:buFont typeface="Arial" panose="020B0604020202020204" pitchFamily="34" charset="0"/>
              <a:buChar char="•"/>
            </a:pPr>
            <a:r>
              <a:rPr lang="de-DE" dirty="0"/>
              <a:t>Häufung von Anomalien in bestimmten Zeiträumen deutet auf Betriebsabweichungen hin</a:t>
            </a:r>
          </a:p>
          <a:p>
            <a:endParaRPr lang="de-DE" dirty="0"/>
          </a:p>
        </p:txBody>
      </p:sp>
    </p:spTree>
    <p:extLst>
      <p:ext uri="{BB962C8B-B14F-4D97-AF65-F5344CB8AC3E}">
        <p14:creationId xmlns:p14="http://schemas.microsoft.com/office/powerpoint/2010/main" val="2487071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809CE2-2BCB-1111-66B4-645128F32E4F}"/>
              </a:ext>
            </a:extLst>
          </p:cNvPr>
          <p:cNvSpPr>
            <a:spLocks noGrp="1"/>
          </p:cNvSpPr>
          <p:nvPr>
            <p:ph type="title"/>
          </p:nvPr>
        </p:nvSpPr>
        <p:spPr/>
        <p:txBody>
          <a:bodyPr/>
          <a:lstStyle/>
          <a:p>
            <a:r>
              <a:rPr lang="de-DE" dirty="0"/>
              <a:t>Transparenz und Erklärbarkeit</a:t>
            </a:r>
          </a:p>
        </p:txBody>
      </p:sp>
      <p:sp>
        <p:nvSpPr>
          <p:cNvPr id="3" name="Inhaltsplatzhalter 2">
            <a:extLst>
              <a:ext uri="{FF2B5EF4-FFF2-40B4-BE49-F238E27FC236}">
                <a16:creationId xmlns:a16="http://schemas.microsoft.com/office/drawing/2014/main" id="{BE90DA39-24B3-9878-F03D-7341FF0318F5}"/>
              </a:ext>
            </a:extLst>
          </p:cNvPr>
          <p:cNvSpPr>
            <a:spLocks noGrp="1"/>
          </p:cNvSpPr>
          <p:nvPr>
            <p:ph idx="1"/>
          </p:nvPr>
        </p:nvSpPr>
        <p:spPr/>
        <p:txBody>
          <a:bodyPr/>
          <a:lstStyle/>
          <a:p>
            <a:pPr>
              <a:buFont typeface="Arial" panose="020B0604020202020204" pitchFamily="34" charset="0"/>
              <a:buChar char="•"/>
            </a:pPr>
            <a:r>
              <a:rPr lang="de-DE" dirty="0"/>
              <a:t>Visualisierung der Cluster im Zeitverlauf als wichtigste </a:t>
            </a:r>
            <a:r>
              <a:rPr lang="de-DE" dirty="0" err="1"/>
              <a:t>Erklärmethode</a:t>
            </a:r>
            <a:endParaRPr lang="de-DE" dirty="0"/>
          </a:p>
          <a:p>
            <a:pPr>
              <a:buFont typeface="Arial" panose="020B0604020202020204" pitchFamily="34" charset="0"/>
              <a:buChar char="•"/>
            </a:pPr>
            <a:r>
              <a:rPr lang="de-DE" dirty="0"/>
              <a:t>Analyse der Parameter-Sensitivität (ε, </a:t>
            </a:r>
            <a:r>
              <a:rPr lang="de-DE" dirty="0" err="1"/>
              <a:t>min_samples</a:t>
            </a:r>
            <a:r>
              <a:rPr lang="de-DE" dirty="0"/>
              <a:t>)</a:t>
            </a:r>
          </a:p>
          <a:p>
            <a:pPr>
              <a:buFont typeface="Arial" panose="020B0604020202020204" pitchFamily="34" charset="0"/>
              <a:buChar char="•"/>
            </a:pPr>
            <a:r>
              <a:rPr lang="de-DE" dirty="0"/>
              <a:t>Kombination mit PCA oder t-SNE zur besseren Interpretierbarkeit</a:t>
            </a:r>
          </a:p>
          <a:p>
            <a:pPr>
              <a:buFont typeface="Arial" panose="020B0604020202020204" pitchFamily="34" charset="0"/>
              <a:buChar char="•"/>
            </a:pPr>
            <a:r>
              <a:rPr lang="de-DE" dirty="0"/>
              <a:t>Vergleich mit anderen Verfahren (Random Forest, LOF) zur Validierung</a:t>
            </a:r>
          </a:p>
          <a:p>
            <a:pPr>
              <a:buFont typeface="Arial" panose="020B0604020202020204" pitchFamily="34" charset="0"/>
              <a:buChar char="•"/>
            </a:pPr>
            <a:endParaRPr lang="de-DE" dirty="0"/>
          </a:p>
        </p:txBody>
      </p:sp>
    </p:spTree>
    <p:extLst>
      <p:ext uri="{BB962C8B-B14F-4D97-AF65-F5344CB8AC3E}">
        <p14:creationId xmlns:p14="http://schemas.microsoft.com/office/powerpoint/2010/main" val="3079197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descr="Ein Bild, das Text, Clipart, Cartoon enthält.&#10;&#10;KI-generierte Inhalte können fehlerhaft sein.">
            <a:extLst>
              <a:ext uri="{FF2B5EF4-FFF2-40B4-BE49-F238E27FC236}">
                <a16:creationId xmlns:a16="http://schemas.microsoft.com/office/drawing/2014/main" id="{CE3E5F72-D29B-1D1F-452E-5B481A3AC503}"/>
              </a:ext>
            </a:extLst>
          </p:cNvPr>
          <p:cNvPicPr>
            <a:picLocks noChangeAspect="1"/>
          </p:cNvPicPr>
          <p:nvPr/>
        </p:nvPicPr>
        <p:blipFill>
          <a:blip r:embed="rId2">
            <a:extLst>
              <a:ext uri="{28A0092B-C50C-407E-A947-70E740481C1C}">
                <a14:useLocalDpi xmlns:a14="http://schemas.microsoft.com/office/drawing/2010/main" val="0"/>
              </a:ext>
            </a:extLst>
          </a:blip>
          <a:srcRect t="6756" b="9956"/>
          <a:stretch>
            <a:fillRect/>
          </a:stretch>
        </p:blipFill>
        <p:spPr>
          <a:xfrm>
            <a:off x="-283904" y="-120650"/>
            <a:ext cx="12759808" cy="6978650"/>
          </a:xfrm>
          <a:prstGeom prst="rect">
            <a:avLst/>
          </a:prstGeom>
        </p:spPr>
      </p:pic>
    </p:spTree>
    <p:extLst>
      <p:ext uri="{BB962C8B-B14F-4D97-AF65-F5344CB8AC3E}">
        <p14:creationId xmlns:p14="http://schemas.microsoft.com/office/powerpoint/2010/main" val="38873066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FD048BE-4E40-91BF-364D-7A7703C21A3F}"/>
              </a:ext>
            </a:extLst>
          </p:cNvPr>
          <p:cNvSpPr>
            <a:spLocks noGrp="1"/>
          </p:cNvSpPr>
          <p:nvPr>
            <p:ph type="ctrTitle"/>
          </p:nvPr>
        </p:nvSpPr>
        <p:spPr/>
        <p:txBody>
          <a:bodyPr/>
          <a:lstStyle/>
          <a:p>
            <a:r>
              <a:rPr lang="en-US"/>
              <a:t>Random Forests</a:t>
            </a:r>
            <a:endParaRPr lang="de-DE"/>
          </a:p>
        </p:txBody>
      </p:sp>
    </p:spTree>
    <p:extLst>
      <p:ext uri="{BB962C8B-B14F-4D97-AF65-F5344CB8AC3E}">
        <p14:creationId xmlns:p14="http://schemas.microsoft.com/office/powerpoint/2010/main" val="220832528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E344C60-C12F-03AD-7DC6-2633421708C0}"/>
              </a:ext>
            </a:extLst>
          </p:cNvPr>
          <p:cNvSpPr>
            <a:spLocks noGrp="1"/>
          </p:cNvSpPr>
          <p:nvPr>
            <p:ph type="title"/>
          </p:nvPr>
        </p:nvSpPr>
        <p:spPr/>
        <p:txBody>
          <a:bodyPr/>
          <a:lstStyle/>
          <a:p>
            <a:r>
              <a:rPr lang="en-US"/>
              <a:t>Random Forests – Einfachste Variante</a:t>
            </a:r>
            <a:endParaRPr lang="de-DE"/>
          </a:p>
        </p:txBody>
      </p:sp>
      <p:sp>
        <p:nvSpPr>
          <p:cNvPr id="3" name="Inhaltsplatzhalter 2">
            <a:extLst>
              <a:ext uri="{FF2B5EF4-FFF2-40B4-BE49-F238E27FC236}">
                <a16:creationId xmlns:a16="http://schemas.microsoft.com/office/drawing/2014/main" id="{BE298C20-E173-A9F9-E040-D0419ACCDEF3}"/>
              </a:ext>
            </a:extLst>
          </p:cNvPr>
          <p:cNvSpPr>
            <a:spLocks noGrp="1"/>
          </p:cNvSpPr>
          <p:nvPr>
            <p:ph idx="1"/>
          </p:nvPr>
        </p:nvSpPr>
        <p:spPr>
          <a:xfrm>
            <a:off x="838200" y="1825625"/>
            <a:ext cx="5999922" cy="4845520"/>
          </a:xfrm>
        </p:spPr>
        <p:txBody>
          <a:bodyPr>
            <a:normAutofit/>
          </a:bodyPr>
          <a:lstStyle/>
          <a:p>
            <a:r>
              <a:rPr lang="en-US" sz="2000"/>
              <a:t>Feature Importances über alle Entscheidungsbäumebäume hinweg </a:t>
            </a:r>
            <a:endParaRPr lang="en-US" sz="2000">
              <a:sym typeface="Wingdings" panose="05000000000000000000" pitchFamily="2" charset="2"/>
            </a:endParaRPr>
          </a:p>
          <a:p>
            <a:r>
              <a:rPr lang="en-US" sz="2000">
                <a:sym typeface="Wingdings" panose="05000000000000000000" pitchFamily="2" charset="2"/>
              </a:rPr>
              <a:t>Erste Einschätzung von relevanten Merkmalen (Welche Werte zum Ausfall führen)</a:t>
            </a:r>
          </a:p>
          <a:p>
            <a:r>
              <a:rPr lang="en-US" sz="2000">
                <a:sym typeface="Wingdings" panose="05000000000000000000" pitchFamily="2" charset="2"/>
              </a:rPr>
              <a:t>Beispiel:</a:t>
            </a:r>
          </a:p>
          <a:p>
            <a:pPr lvl="1"/>
            <a:r>
              <a:rPr lang="en-US" sz="2000">
                <a:sym typeface="Wingdings" panose="05000000000000000000" pitchFamily="2" charset="2"/>
              </a:rPr>
              <a:t>Hoher Druck hat den größten Einfluss auf Modellvorhersage</a:t>
            </a:r>
          </a:p>
          <a:p>
            <a:pPr lvl="1"/>
            <a:r>
              <a:rPr lang="en-US" sz="2000">
                <a:sym typeface="Wingdings" panose="05000000000000000000" pitchFamily="2" charset="2"/>
              </a:rPr>
              <a:t>Spannung hingegen hat geringere Bedeutung</a:t>
            </a:r>
          </a:p>
          <a:p>
            <a:pPr marL="0" indent="0">
              <a:buNone/>
            </a:pPr>
            <a:r>
              <a:rPr lang="en-US" sz="2000">
                <a:sym typeface="Wingdings" panose="05000000000000000000" pitchFamily="2" charset="2"/>
              </a:rPr>
              <a:t> Modell erkennt das </a:t>
            </a:r>
            <a:r>
              <a:rPr lang="en-US" sz="2000" b="1">
                <a:sym typeface="Wingdings" panose="05000000000000000000" pitchFamily="2" charset="2"/>
              </a:rPr>
              <a:t>Druck</a:t>
            </a:r>
            <a:r>
              <a:rPr lang="en-US" sz="2000">
                <a:sym typeface="Wingdings" panose="05000000000000000000" pitchFamily="2" charset="2"/>
              </a:rPr>
              <a:t>, </a:t>
            </a:r>
            <a:r>
              <a:rPr lang="en-US" sz="2000" b="1">
                <a:sym typeface="Wingdings" panose="05000000000000000000" pitchFamily="2" charset="2"/>
              </a:rPr>
              <a:t>Drehzahl</a:t>
            </a:r>
            <a:r>
              <a:rPr lang="en-US" sz="2000">
                <a:sym typeface="Wingdings" panose="05000000000000000000" pitchFamily="2" charset="2"/>
              </a:rPr>
              <a:t> und </a:t>
            </a:r>
            <a:r>
              <a:rPr lang="en-US" sz="2000" b="1">
                <a:sym typeface="Wingdings" panose="05000000000000000000" pitchFamily="2" charset="2"/>
              </a:rPr>
              <a:t>Vibration</a:t>
            </a:r>
            <a:r>
              <a:rPr lang="en-US" sz="2000">
                <a:sym typeface="Wingdings" panose="05000000000000000000" pitchFamily="2" charset="2"/>
              </a:rPr>
              <a:t> die wichtigsten </a:t>
            </a:r>
            <a:r>
              <a:rPr lang="en-US" sz="2000" b="1">
                <a:sym typeface="Wingdings" panose="05000000000000000000" pitchFamily="2" charset="2"/>
              </a:rPr>
              <a:t>Einflussfaktoren</a:t>
            </a:r>
            <a:r>
              <a:rPr lang="en-US" sz="2000">
                <a:sym typeface="Wingdings" panose="05000000000000000000" pitchFamily="2" charset="2"/>
              </a:rPr>
              <a:t> sind</a:t>
            </a:r>
          </a:p>
        </p:txBody>
      </p:sp>
      <p:pic>
        <p:nvPicPr>
          <p:cNvPr id="5" name="Grafik 4">
            <a:extLst>
              <a:ext uri="{FF2B5EF4-FFF2-40B4-BE49-F238E27FC236}">
                <a16:creationId xmlns:a16="http://schemas.microsoft.com/office/drawing/2014/main" id="{C32A2427-AE8F-B6D0-6C72-34B552B66A0D}"/>
              </a:ext>
            </a:extLst>
          </p:cNvPr>
          <p:cNvPicPr>
            <a:picLocks noChangeAspect="1"/>
          </p:cNvPicPr>
          <p:nvPr/>
        </p:nvPicPr>
        <p:blipFill>
          <a:blip r:embed="rId3"/>
          <a:srcRect t="4995"/>
          <a:stretch>
            <a:fillRect/>
          </a:stretch>
        </p:blipFill>
        <p:spPr>
          <a:xfrm>
            <a:off x="6776519" y="1452148"/>
            <a:ext cx="5415481" cy="3048290"/>
          </a:xfrm>
          <a:prstGeom prst="rect">
            <a:avLst/>
          </a:prstGeom>
        </p:spPr>
      </p:pic>
    </p:spTree>
    <p:extLst>
      <p:ext uri="{BB962C8B-B14F-4D97-AF65-F5344CB8AC3E}">
        <p14:creationId xmlns:p14="http://schemas.microsoft.com/office/powerpoint/2010/main" val="245433725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AD4B0-7E6F-3214-B741-6B760C66C95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F48ACB9-7461-34DD-33B2-F95D44A41D8A}"/>
              </a:ext>
            </a:extLst>
          </p:cNvPr>
          <p:cNvSpPr>
            <a:spLocks noGrp="1"/>
          </p:cNvSpPr>
          <p:nvPr>
            <p:ph type="title"/>
          </p:nvPr>
        </p:nvSpPr>
        <p:spPr/>
        <p:txBody>
          <a:bodyPr/>
          <a:lstStyle/>
          <a:p>
            <a:r>
              <a:rPr lang="en-US"/>
              <a:t>Random Forests – Visualsierung von Bäumen</a:t>
            </a:r>
            <a:endParaRPr lang="de-DE"/>
          </a:p>
        </p:txBody>
      </p:sp>
      <p:pic>
        <p:nvPicPr>
          <p:cNvPr id="4" name="Grafik 3">
            <a:extLst>
              <a:ext uri="{FF2B5EF4-FFF2-40B4-BE49-F238E27FC236}">
                <a16:creationId xmlns:a16="http://schemas.microsoft.com/office/drawing/2014/main" id="{9A871D2F-1F8B-8A52-88C8-873EBB542C2C}"/>
              </a:ext>
            </a:extLst>
          </p:cNvPr>
          <p:cNvPicPr>
            <a:picLocks noChangeAspect="1"/>
          </p:cNvPicPr>
          <p:nvPr/>
        </p:nvPicPr>
        <p:blipFill>
          <a:blip r:embed="rId3"/>
          <a:srcRect l="2114" t="9604" r="2427"/>
          <a:stretch>
            <a:fillRect/>
          </a:stretch>
        </p:blipFill>
        <p:spPr>
          <a:xfrm>
            <a:off x="531376" y="1777837"/>
            <a:ext cx="11660624" cy="5476673"/>
          </a:xfrm>
          <a:prstGeom prst="rect">
            <a:avLst/>
          </a:prstGeom>
        </p:spPr>
      </p:pic>
      <p:graphicFrame>
        <p:nvGraphicFramePr>
          <p:cNvPr id="3" name="Tabelle 2">
            <a:extLst>
              <a:ext uri="{FF2B5EF4-FFF2-40B4-BE49-F238E27FC236}">
                <a16:creationId xmlns:a16="http://schemas.microsoft.com/office/drawing/2014/main" id="{563D39E2-EDF6-F3F4-4F5A-31476E8EF921}"/>
              </a:ext>
            </a:extLst>
          </p:cNvPr>
          <p:cNvGraphicFramePr>
            <a:graphicFrameLocks noGrp="1"/>
          </p:cNvGraphicFramePr>
          <p:nvPr>
            <p:extLst>
              <p:ext uri="{D42A27DB-BD31-4B8C-83A1-F6EECF244321}">
                <p14:modId xmlns:p14="http://schemas.microsoft.com/office/powerpoint/2010/main" val="3592603160"/>
              </p:ext>
            </p:extLst>
          </p:nvPr>
        </p:nvGraphicFramePr>
        <p:xfrm>
          <a:off x="68028" y="1318615"/>
          <a:ext cx="3637280" cy="1828800"/>
        </p:xfrm>
        <a:graphic>
          <a:graphicData uri="http://schemas.openxmlformats.org/drawingml/2006/table">
            <a:tbl>
              <a:tblPr firstRow="1" bandRow="1">
                <a:tableStyleId>{5C22544A-7EE6-4342-B048-85BDC9FD1C3A}</a:tableStyleId>
              </a:tblPr>
              <a:tblGrid>
                <a:gridCol w="1818640">
                  <a:extLst>
                    <a:ext uri="{9D8B030D-6E8A-4147-A177-3AD203B41FA5}">
                      <a16:colId xmlns:a16="http://schemas.microsoft.com/office/drawing/2014/main" val="1544904279"/>
                    </a:ext>
                  </a:extLst>
                </a:gridCol>
                <a:gridCol w="1818640">
                  <a:extLst>
                    <a:ext uri="{9D8B030D-6E8A-4147-A177-3AD203B41FA5}">
                      <a16:colId xmlns:a16="http://schemas.microsoft.com/office/drawing/2014/main" val="223776492"/>
                    </a:ext>
                  </a:extLst>
                </a:gridCol>
              </a:tblGrid>
              <a:tr h="300820">
                <a:tc>
                  <a:txBody>
                    <a:bodyPr/>
                    <a:lstStyle/>
                    <a:p>
                      <a:r>
                        <a:rPr lang="en-US"/>
                        <a:t>Merkmal</a:t>
                      </a:r>
                      <a:endParaRPr lang="de-DE"/>
                    </a:p>
                  </a:txBody>
                  <a:tcPr/>
                </a:tc>
                <a:tc>
                  <a:txBody>
                    <a:bodyPr/>
                    <a:lstStyle/>
                    <a:p>
                      <a:r>
                        <a:rPr lang="en-US"/>
                        <a:t>Messwert</a:t>
                      </a:r>
                    </a:p>
                  </a:txBody>
                  <a:tcPr/>
                </a:tc>
                <a:extLst>
                  <a:ext uri="{0D108BD9-81ED-4DB2-BD59-A6C34878D82A}">
                    <a16:rowId xmlns:a16="http://schemas.microsoft.com/office/drawing/2014/main" val="1966181526"/>
                  </a:ext>
                </a:extLst>
              </a:tr>
              <a:tr h="300820">
                <a:tc>
                  <a:txBody>
                    <a:bodyPr/>
                    <a:lstStyle/>
                    <a:p>
                      <a:r>
                        <a:rPr lang="en-US"/>
                        <a:t>Drehzahl</a:t>
                      </a:r>
                      <a:endParaRPr lang="de-DE"/>
                    </a:p>
                  </a:txBody>
                  <a:tcPr/>
                </a:tc>
                <a:tc>
                  <a:txBody>
                    <a:bodyPr/>
                    <a:lstStyle/>
                    <a:p>
                      <a:r>
                        <a:rPr lang="en-US"/>
                        <a:t>410 U/min</a:t>
                      </a:r>
                      <a:endParaRPr lang="de-DE"/>
                    </a:p>
                  </a:txBody>
                  <a:tcPr/>
                </a:tc>
                <a:extLst>
                  <a:ext uri="{0D108BD9-81ED-4DB2-BD59-A6C34878D82A}">
                    <a16:rowId xmlns:a16="http://schemas.microsoft.com/office/drawing/2014/main" val="3440435576"/>
                  </a:ext>
                </a:extLst>
              </a:tr>
              <a:tr h="300820">
                <a:tc>
                  <a:txBody>
                    <a:bodyPr/>
                    <a:lstStyle/>
                    <a:p>
                      <a:r>
                        <a:rPr lang="en-US"/>
                        <a:t>Druck</a:t>
                      </a:r>
                      <a:endParaRPr lang="de-DE"/>
                    </a:p>
                  </a:txBody>
                  <a:tcPr/>
                </a:tc>
                <a:tc>
                  <a:txBody>
                    <a:bodyPr/>
                    <a:lstStyle/>
                    <a:p>
                      <a:r>
                        <a:rPr lang="en-US"/>
                        <a:t>118 Bar</a:t>
                      </a:r>
                      <a:endParaRPr lang="de-DE"/>
                    </a:p>
                  </a:txBody>
                  <a:tcPr/>
                </a:tc>
                <a:extLst>
                  <a:ext uri="{0D108BD9-81ED-4DB2-BD59-A6C34878D82A}">
                    <a16:rowId xmlns:a16="http://schemas.microsoft.com/office/drawing/2014/main" val="3444359236"/>
                  </a:ext>
                </a:extLst>
              </a:tr>
              <a:tr h="300820">
                <a:tc>
                  <a:txBody>
                    <a:bodyPr/>
                    <a:lstStyle/>
                    <a:p>
                      <a:r>
                        <a:rPr lang="en-US"/>
                        <a:t>Spannung</a:t>
                      </a:r>
                      <a:endParaRPr lang="de-DE"/>
                    </a:p>
                  </a:txBody>
                  <a:tcPr/>
                </a:tc>
                <a:tc>
                  <a:txBody>
                    <a:bodyPr/>
                    <a:lstStyle/>
                    <a:p>
                      <a:r>
                        <a:rPr lang="en-US"/>
                        <a:t>170 V</a:t>
                      </a:r>
                      <a:endParaRPr lang="de-DE"/>
                    </a:p>
                  </a:txBody>
                  <a:tcPr/>
                </a:tc>
                <a:extLst>
                  <a:ext uri="{0D108BD9-81ED-4DB2-BD59-A6C34878D82A}">
                    <a16:rowId xmlns:a16="http://schemas.microsoft.com/office/drawing/2014/main" val="873828795"/>
                  </a:ext>
                </a:extLst>
              </a:tr>
              <a:tr h="300820">
                <a:tc>
                  <a:txBody>
                    <a:bodyPr/>
                    <a:lstStyle/>
                    <a:p>
                      <a:r>
                        <a:rPr lang="en-US"/>
                        <a:t>Vibration </a:t>
                      </a:r>
                      <a:endParaRPr lang="de-DE"/>
                    </a:p>
                  </a:txBody>
                  <a:tcPr/>
                </a:tc>
                <a:tc>
                  <a:txBody>
                    <a:bodyPr/>
                    <a:lstStyle/>
                    <a:p>
                      <a:r>
                        <a:rPr lang="en-US"/>
                        <a:t>50 mm/s</a:t>
                      </a:r>
                      <a:endParaRPr lang="de-DE"/>
                    </a:p>
                  </a:txBody>
                  <a:tcPr/>
                </a:tc>
                <a:extLst>
                  <a:ext uri="{0D108BD9-81ED-4DB2-BD59-A6C34878D82A}">
                    <a16:rowId xmlns:a16="http://schemas.microsoft.com/office/drawing/2014/main" val="668734006"/>
                  </a:ext>
                </a:extLst>
              </a:tr>
            </a:tbl>
          </a:graphicData>
        </a:graphic>
      </p:graphicFrame>
    </p:spTree>
    <p:extLst>
      <p:ext uri="{BB962C8B-B14F-4D97-AF65-F5344CB8AC3E}">
        <p14:creationId xmlns:p14="http://schemas.microsoft.com/office/powerpoint/2010/main" val="47511628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533ED-1C63-BBD2-34DA-673BB4E757D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0E3DDA5-76D2-AC33-FB7B-D98BCC5CDA00}"/>
              </a:ext>
            </a:extLst>
          </p:cNvPr>
          <p:cNvSpPr>
            <a:spLocks noGrp="1"/>
          </p:cNvSpPr>
          <p:nvPr>
            <p:ph type="title"/>
          </p:nvPr>
        </p:nvSpPr>
        <p:spPr/>
        <p:txBody>
          <a:bodyPr/>
          <a:lstStyle/>
          <a:p>
            <a:r>
              <a:rPr lang="en-US"/>
              <a:t>Random Forests – Visualsierung von Bäumen</a:t>
            </a:r>
            <a:endParaRPr lang="de-DE"/>
          </a:p>
        </p:txBody>
      </p:sp>
      <p:pic>
        <p:nvPicPr>
          <p:cNvPr id="4" name="Grafik 3">
            <a:extLst>
              <a:ext uri="{FF2B5EF4-FFF2-40B4-BE49-F238E27FC236}">
                <a16:creationId xmlns:a16="http://schemas.microsoft.com/office/drawing/2014/main" id="{D00471DA-869B-B84E-EE20-A0FE41D6FB34}"/>
              </a:ext>
            </a:extLst>
          </p:cNvPr>
          <p:cNvPicPr>
            <a:picLocks noChangeAspect="1"/>
          </p:cNvPicPr>
          <p:nvPr/>
        </p:nvPicPr>
        <p:blipFill>
          <a:blip r:embed="rId3"/>
          <a:srcRect l="2114" t="9604" r="2427"/>
          <a:stretch>
            <a:fillRect/>
          </a:stretch>
        </p:blipFill>
        <p:spPr>
          <a:xfrm>
            <a:off x="531376" y="1777837"/>
            <a:ext cx="11660624" cy="5476673"/>
          </a:xfrm>
          <a:prstGeom prst="rect">
            <a:avLst/>
          </a:prstGeom>
        </p:spPr>
      </p:pic>
      <p:graphicFrame>
        <p:nvGraphicFramePr>
          <p:cNvPr id="3" name="Tabelle 2">
            <a:extLst>
              <a:ext uri="{FF2B5EF4-FFF2-40B4-BE49-F238E27FC236}">
                <a16:creationId xmlns:a16="http://schemas.microsoft.com/office/drawing/2014/main" id="{B6364967-2F98-97FE-4ADE-FF937AA12E1A}"/>
              </a:ext>
            </a:extLst>
          </p:cNvPr>
          <p:cNvGraphicFramePr>
            <a:graphicFrameLocks noGrp="1"/>
          </p:cNvGraphicFramePr>
          <p:nvPr>
            <p:extLst>
              <p:ext uri="{D42A27DB-BD31-4B8C-83A1-F6EECF244321}">
                <p14:modId xmlns:p14="http://schemas.microsoft.com/office/powerpoint/2010/main" val="1069081812"/>
              </p:ext>
            </p:extLst>
          </p:nvPr>
        </p:nvGraphicFramePr>
        <p:xfrm>
          <a:off x="68028" y="1318615"/>
          <a:ext cx="3637280" cy="1828800"/>
        </p:xfrm>
        <a:graphic>
          <a:graphicData uri="http://schemas.openxmlformats.org/drawingml/2006/table">
            <a:tbl>
              <a:tblPr firstRow="1" bandRow="1">
                <a:tableStyleId>{5C22544A-7EE6-4342-B048-85BDC9FD1C3A}</a:tableStyleId>
              </a:tblPr>
              <a:tblGrid>
                <a:gridCol w="1818640">
                  <a:extLst>
                    <a:ext uri="{9D8B030D-6E8A-4147-A177-3AD203B41FA5}">
                      <a16:colId xmlns:a16="http://schemas.microsoft.com/office/drawing/2014/main" val="1544904279"/>
                    </a:ext>
                  </a:extLst>
                </a:gridCol>
                <a:gridCol w="1818640">
                  <a:extLst>
                    <a:ext uri="{9D8B030D-6E8A-4147-A177-3AD203B41FA5}">
                      <a16:colId xmlns:a16="http://schemas.microsoft.com/office/drawing/2014/main" val="223776492"/>
                    </a:ext>
                  </a:extLst>
                </a:gridCol>
              </a:tblGrid>
              <a:tr h="300820">
                <a:tc>
                  <a:txBody>
                    <a:bodyPr/>
                    <a:lstStyle/>
                    <a:p>
                      <a:r>
                        <a:rPr lang="en-US"/>
                        <a:t>Merkmal</a:t>
                      </a:r>
                      <a:endParaRPr lang="de-DE"/>
                    </a:p>
                  </a:txBody>
                  <a:tcPr/>
                </a:tc>
                <a:tc>
                  <a:txBody>
                    <a:bodyPr/>
                    <a:lstStyle/>
                    <a:p>
                      <a:r>
                        <a:rPr lang="en-US"/>
                        <a:t>Messwert</a:t>
                      </a:r>
                    </a:p>
                  </a:txBody>
                  <a:tcPr/>
                </a:tc>
                <a:extLst>
                  <a:ext uri="{0D108BD9-81ED-4DB2-BD59-A6C34878D82A}">
                    <a16:rowId xmlns:a16="http://schemas.microsoft.com/office/drawing/2014/main" val="1966181526"/>
                  </a:ext>
                </a:extLst>
              </a:tr>
              <a:tr h="300820">
                <a:tc>
                  <a:txBody>
                    <a:bodyPr/>
                    <a:lstStyle/>
                    <a:p>
                      <a:r>
                        <a:rPr lang="en-US"/>
                        <a:t>Drehzahl</a:t>
                      </a:r>
                      <a:endParaRPr lang="de-DE"/>
                    </a:p>
                  </a:txBody>
                  <a:tcPr>
                    <a:solidFill>
                      <a:srgbClr val="FF0000"/>
                    </a:solidFill>
                  </a:tcPr>
                </a:tc>
                <a:tc>
                  <a:txBody>
                    <a:bodyPr/>
                    <a:lstStyle/>
                    <a:p>
                      <a:r>
                        <a:rPr lang="en-US"/>
                        <a:t>410 U/min</a:t>
                      </a:r>
                      <a:endParaRPr lang="de-DE"/>
                    </a:p>
                  </a:txBody>
                  <a:tcPr>
                    <a:solidFill>
                      <a:srgbClr val="FF0000"/>
                    </a:solidFill>
                  </a:tcPr>
                </a:tc>
                <a:extLst>
                  <a:ext uri="{0D108BD9-81ED-4DB2-BD59-A6C34878D82A}">
                    <a16:rowId xmlns:a16="http://schemas.microsoft.com/office/drawing/2014/main" val="3440435576"/>
                  </a:ext>
                </a:extLst>
              </a:tr>
              <a:tr h="300820">
                <a:tc>
                  <a:txBody>
                    <a:bodyPr/>
                    <a:lstStyle/>
                    <a:p>
                      <a:r>
                        <a:rPr lang="en-US"/>
                        <a:t>Druck</a:t>
                      </a:r>
                      <a:endParaRPr lang="de-DE"/>
                    </a:p>
                  </a:txBody>
                  <a:tcPr/>
                </a:tc>
                <a:tc>
                  <a:txBody>
                    <a:bodyPr/>
                    <a:lstStyle/>
                    <a:p>
                      <a:r>
                        <a:rPr lang="en-US"/>
                        <a:t>118 Bar</a:t>
                      </a:r>
                      <a:endParaRPr lang="de-DE"/>
                    </a:p>
                  </a:txBody>
                  <a:tcPr/>
                </a:tc>
                <a:extLst>
                  <a:ext uri="{0D108BD9-81ED-4DB2-BD59-A6C34878D82A}">
                    <a16:rowId xmlns:a16="http://schemas.microsoft.com/office/drawing/2014/main" val="3444359236"/>
                  </a:ext>
                </a:extLst>
              </a:tr>
              <a:tr h="300820">
                <a:tc>
                  <a:txBody>
                    <a:bodyPr/>
                    <a:lstStyle/>
                    <a:p>
                      <a:r>
                        <a:rPr lang="en-US"/>
                        <a:t>Spannung</a:t>
                      </a:r>
                      <a:endParaRPr lang="de-DE"/>
                    </a:p>
                  </a:txBody>
                  <a:tcPr/>
                </a:tc>
                <a:tc>
                  <a:txBody>
                    <a:bodyPr/>
                    <a:lstStyle/>
                    <a:p>
                      <a:r>
                        <a:rPr lang="en-US"/>
                        <a:t>170 V</a:t>
                      </a:r>
                      <a:endParaRPr lang="de-DE"/>
                    </a:p>
                  </a:txBody>
                  <a:tcPr/>
                </a:tc>
                <a:extLst>
                  <a:ext uri="{0D108BD9-81ED-4DB2-BD59-A6C34878D82A}">
                    <a16:rowId xmlns:a16="http://schemas.microsoft.com/office/drawing/2014/main" val="873828795"/>
                  </a:ext>
                </a:extLst>
              </a:tr>
              <a:tr h="300820">
                <a:tc>
                  <a:txBody>
                    <a:bodyPr/>
                    <a:lstStyle/>
                    <a:p>
                      <a:r>
                        <a:rPr lang="en-US"/>
                        <a:t>Vibration </a:t>
                      </a:r>
                      <a:endParaRPr lang="de-DE"/>
                    </a:p>
                  </a:txBody>
                  <a:tcPr/>
                </a:tc>
                <a:tc>
                  <a:txBody>
                    <a:bodyPr/>
                    <a:lstStyle/>
                    <a:p>
                      <a:r>
                        <a:rPr lang="en-US"/>
                        <a:t>50 mm/s</a:t>
                      </a:r>
                      <a:endParaRPr lang="de-DE"/>
                    </a:p>
                  </a:txBody>
                  <a:tcPr/>
                </a:tc>
                <a:extLst>
                  <a:ext uri="{0D108BD9-81ED-4DB2-BD59-A6C34878D82A}">
                    <a16:rowId xmlns:a16="http://schemas.microsoft.com/office/drawing/2014/main" val="668734006"/>
                  </a:ext>
                </a:extLst>
              </a:tr>
            </a:tbl>
          </a:graphicData>
        </a:graphic>
      </p:graphicFrame>
      <p:cxnSp>
        <p:nvCxnSpPr>
          <p:cNvPr id="5" name="Gerade Verbindung mit Pfeil 4">
            <a:extLst>
              <a:ext uri="{FF2B5EF4-FFF2-40B4-BE49-F238E27FC236}">
                <a16:creationId xmlns:a16="http://schemas.microsoft.com/office/drawing/2014/main" id="{2EDAAFA7-63C2-A9DE-7ECD-E414C39B083A}"/>
              </a:ext>
            </a:extLst>
          </p:cNvPr>
          <p:cNvCxnSpPr>
            <a:cxnSpLocks/>
          </p:cNvCxnSpPr>
          <p:nvPr/>
        </p:nvCxnSpPr>
        <p:spPr>
          <a:xfrm>
            <a:off x="6953250" y="2416969"/>
            <a:ext cx="1871663" cy="892969"/>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43777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519CD-10F7-0F0A-1F39-7CAD1F016B8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E09E7CE-EF2D-6F97-6BA7-206A6536AB01}"/>
              </a:ext>
            </a:extLst>
          </p:cNvPr>
          <p:cNvSpPr>
            <a:spLocks noGrp="1"/>
          </p:cNvSpPr>
          <p:nvPr>
            <p:ph type="title"/>
          </p:nvPr>
        </p:nvSpPr>
        <p:spPr/>
        <p:txBody>
          <a:bodyPr/>
          <a:lstStyle/>
          <a:p>
            <a:r>
              <a:rPr lang="en-US"/>
              <a:t>Random Forests – Visualsierung von Bäumen</a:t>
            </a:r>
            <a:endParaRPr lang="de-DE"/>
          </a:p>
        </p:txBody>
      </p:sp>
      <p:pic>
        <p:nvPicPr>
          <p:cNvPr id="4" name="Grafik 3">
            <a:extLst>
              <a:ext uri="{FF2B5EF4-FFF2-40B4-BE49-F238E27FC236}">
                <a16:creationId xmlns:a16="http://schemas.microsoft.com/office/drawing/2014/main" id="{3290F5B5-7EDD-9E03-F572-A7F7F7849035}"/>
              </a:ext>
            </a:extLst>
          </p:cNvPr>
          <p:cNvPicPr>
            <a:picLocks noChangeAspect="1"/>
          </p:cNvPicPr>
          <p:nvPr/>
        </p:nvPicPr>
        <p:blipFill>
          <a:blip r:embed="rId3"/>
          <a:srcRect l="2114" t="9604" r="2427"/>
          <a:stretch>
            <a:fillRect/>
          </a:stretch>
        </p:blipFill>
        <p:spPr>
          <a:xfrm>
            <a:off x="531376" y="1777837"/>
            <a:ext cx="11660624" cy="5476673"/>
          </a:xfrm>
          <a:prstGeom prst="rect">
            <a:avLst/>
          </a:prstGeom>
        </p:spPr>
      </p:pic>
      <p:graphicFrame>
        <p:nvGraphicFramePr>
          <p:cNvPr id="3" name="Tabelle 2">
            <a:extLst>
              <a:ext uri="{FF2B5EF4-FFF2-40B4-BE49-F238E27FC236}">
                <a16:creationId xmlns:a16="http://schemas.microsoft.com/office/drawing/2014/main" id="{2541944F-8B00-4F70-B6BB-0A38D4FDED01}"/>
              </a:ext>
            </a:extLst>
          </p:cNvPr>
          <p:cNvGraphicFramePr>
            <a:graphicFrameLocks noGrp="1"/>
          </p:cNvGraphicFramePr>
          <p:nvPr>
            <p:extLst>
              <p:ext uri="{D42A27DB-BD31-4B8C-83A1-F6EECF244321}">
                <p14:modId xmlns:p14="http://schemas.microsoft.com/office/powerpoint/2010/main" val="1842576882"/>
              </p:ext>
            </p:extLst>
          </p:nvPr>
        </p:nvGraphicFramePr>
        <p:xfrm>
          <a:off x="68028" y="1318615"/>
          <a:ext cx="3637280" cy="1828800"/>
        </p:xfrm>
        <a:graphic>
          <a:graphicData uri="http://schemas.openxmlformats.org/drawingml/2006/table">
            <a:tbl>
              <a:tblPr firstRow="1" bandRow="1">
                <a:tableStyleId>{5C22544A-7EE6-4342-B048-85BDC9FD1C3A}</a:tableStyleId>
              </a:tblPr>
              <a:tblGrid>
                <a:gridCol w="1818640">
                  <a:extLst>
                    <a:ext uri="{9D8B030D-6E8A-4147-A177-3AD203B41FA5}">
                      <a16:colId xmlns:a16="http://schemas.microsoft.com/office/drawing/2014/main" val="1544904279"/>
                    </a:ext>
                  </a:extLst>
                </a:gridCol>
                <a:gridCol w="1818640">
                  <a:extLst>
                    <a:ext uri="{9D8B030D-6E8A-4147-A177-3AD203B41FA5}">
                      <a16:colId xmlns:a16="http://schemas.microsoft.com/office/drawing/2014/main" val="223776492"/>
                    </a:ext>
                  </a:extLst>
                </a:gridCol>
              </a:tblGrid>
              <a:tr h="300820">
                <a:tc>
                  <a:txBody>
                    <a:bodyPr/>
                    <a:lstStyle/>
                    <a:p>
                      <a:r>
                        <a:rPr lang="en-US"/>
                        <a:t>Merkmal</a:t>
                      </a:r>
                      <a:endParaRPr lang="de-DE"/>
                    </a:p>
                  </a:txBody>
                  <a:tcPr/>
                </a:tc>
                <a:tc>
                  <a:txBody>
                    <a:bodyPr/>
                    <a:lstStyle/>
                    <a:p>
                      <a:r>
                        <a:rPr lang="en-US"/>
                        <a:t>Messwert</a:t>
                      </a:r>
                    </a:p>
                  </a:txBody>
                  <a:tcPr/>
                </a:tc>
                <a:extLst>
                  <a:ext uri="{0D108BD9-81ED-4DB2-BD59-A6C34878D82A}">
                    <a16:rowId xmlns:a16="http://schemas.microsoft.com/office/drawing/2014/main" val="1966181526"/>
                  </a:ext>
                </a:extLst>
              </a:tr>
              <a:tr h="300820">
                <a:tc>
                  <a:txBody>
                    <a:bodyPr/>
                    <a:lstStyle/>
                    <a:p>
                      <a:r>
                        <a:rPr lang="en-US"/>
                        <a:t>Drehzahl</a:t>
                      </a:r>
                      <a:endParaRPr lang="de-DE"/>
                    </a:p>
                  </a:txBody>
                  <a:tcPr/>
                </a:tc>
                <a:tc>
                  <a:txBody>
                    <a:bodyPr/>
                    <a:lstStyle/>
                    <a:p>
                      <a:r>
                        <a:rPr lang="en-US"/>
                        <a:t>410 U/min</a:t>
                      </a:r>
                      <a:endParaRPr lang="de-DE"/>
                    </a:p>
                  </a:txBody>
                  <a:tcPr/>
                </a:tc>
                <a:extLst>
                  <a:ext uri="{0D108BD9-81ED-4DB2-BD59-A6C34878D82A}">
                    <a16:rowId xmlns:a16="http://schemas.microsoft.com/office/drawing/2014/main" val="3440435576"/>
                  </a:ext>
                </a:extLst>
              </a:tr>
              <a:tr h="300820">
                <a:tc>
                  <a:txBody>
                    <a:bodyPr/>
                    <a:lstStyle/>
                    <a:p>
                      <a:r>
                        <a:rPr lang="en-US"/>
                        <a:t>Druck</a:t>
                      </a:r>
                      <a:endParaRPr lang="de-DE"/>
                    </a:p>
                  </a:txBody>
                  <a:tcPr>
                    <a:solidFill>
                      <a:srgbClr val="FF0000"/>
                    </a:solidFill>
                  </a:tcPr>
                </a:tc>
                <a:tc>
                  <a:txBody>
                    <a:bodyPr/>
                    <a:lstStyle/>
                    <a:p>
                      <a:r>
                        <a:rPr lang="en-US"/>
                        <a:t>118 Bar</a:t>
                      </a:r>
                      <a:endParaRPr lang="de-DE"/>
                    </a:p>
                  </a:txBody>
                  <a:tcPr>
                    <a:solidFill>
                      <a:srgbClr val="FF0000"/>
                    </a:solidFill>
                  </a:tcPr>
                </a:tc>
                <a:extLst>
                  <a:ext uri="{0D108BD9-81ED-4DB2-BD59-A6C34878D82A}">
                    <a16:rowId xmlns:a16="http://schemas.microsoft.com/office/drawing/2014/main" val="3444359236"/>
                  </a:ext>
                </a:extLst>
              </a:tr>
              <a:tr h="300820">
                <a:tc>
                  <a:txBody>
                    <a:bodyPr/>
                    <a:lstStyle/>
                    <a:p>
                      <a:r>
                        <a:rPr lang="en-US"/>
                        <a:t>Spannung</a:t>
                      </a:r>
                      <a:endParaRPr lang="de-DE"/>
                    </a:p>
                  </a:txBody>
                  <a:tcPr/>
                </a:tc>
                <a:tc>
                  <a:txBody>
                    <a:bodyPr/>
                    <a:lstStyle/>
                    <a:p>
                      <a:r>
                        <a:rPr lang="en-US"/>
                        <a:t>170 V</a:t>
                      </a:r>
                      <a:endParaRPr lang="de-DE"/>
                    </a:p>
                  </a:txBody>
                  <a:tcPr/>
                </a:tc>
                <a:extLst>
                  <a:ext uri="{0D108BD9-81ED-4DB2-BD59-A6C34878D82A}">
                    <a16:rowId xmlns:a16="http://schemas.microsoft.com/office/drawing/2014/main" val="873828795"/>
                  </a:ext>
                </a:extLst>
              </a:tr>
              <a:tr h="300820">
                <a:tc>
                  <a:txBody>
                    <a:bodyPr/>
                    <a:lstStyle/>
                    <a:p>
                      <a:r>
                        <a:rPr lang="en-US"/>
                        <a:t>Vibration </a:t>
                      </a:r>
                      <a:endParaRPr lang="de-DE"/>
                    </a:p>
                  </a:txBody>
                  <a:tcPr/>
                </a:tc>
                <a:tc>
                  <a:txBody>
                    <a:bodyPr/>
                    <a:lstStyle/>
                    <a:p>
                      <a:r>
                        <a:rPr lang="en-US"/>
                        <a:t>50 mm/s</a:t>
                      </a:r>
                      <a:endParaRPr lang="de-DE"/>
                    </a:p>
                  </a:txBody>
                  <a:tcPr/>
                </a:tc>
                <a:extLst>
                  <a:ext uri="{0D108BD9-81ED-4DB2-BD59-A6C34878D82A}">
                    <a16:rowId xmlns:a16="http://schemas.microsoft.com/office/drawing/2014/main" val="668734006"/>
                  </a:ext>
                </a:extLst>
              </a:tr>
            </a:tbl>
          </a:graphicData>
        </a:graphic>
      </p:graphicFrame>
      <p:cxnSp>
        <p:nvCxnSpPr>
          <p:cNvPr id="10" name="Gerade Verbindung mit Pfeil 9">
            <a:extLst>
              <a:ext uri="{FF2B5EF4-FFF2-40B4-BE49-F238E27FC236}">
                <a16:creationId xmlns:a16="http://schemas.microsoft.com/office/drawing/2014/main" id="{E45E6703-204C-2BDE-27BA-4D8CF5430995}"/>
              </a:ext>
            </a:extLst>
          </p:cNvPr>
          <p:cNvCxnSpPr>
            <a:cxnSpLocks/>
          </p:cNvCxnSpPr>
          <p:nvPr/>
        </p:nvCxnSpPr>
        <p:spPr>
          <a:xfrm>
            <a:off x="6953250" y="2416969"/>
            <a:ext cx="1871663" cy="892969"/>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4" name="Gerade Verbindung mit Pfeil 13">
            <a:extLst>
              <a:ext uri="{FF2B5EF4-FFF2-40B4-BE49-F238E27FC236}">
                <a16:creationId xmlns:a16="http://schemas.microsoft.com/office/drawing/2014/main" id="{0A591D2E-DA8C-27BD-4892-140B08B497B9}"/>
              </a:ext>
            </a:extLst>
          </p:cNvPr>
          <p:cNvCxnSpPr>
            <a:cxnSpLocks/>
          </p:cNvCxnSpPr>
          <p:nvPr/>
        </p:nvCxnSpPr>
        <p:spPr>
          <a:xfrm>
            <a:off x="9679781" y="3848100"/>
            <a:ext cx="945357" cy="904875"/>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1844577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8DC1F-BAE8-830F-CCDB-C821BD0D018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9DAEB1E-AA15-A304-D1F1-E87AD6003688}"/>
              </a:ext>
            </a:extLst>
          </p:cNvPr>
          <p:cNvSpPr>
            <a:spLocks noGrp="1"/>
          </p:cNvSpPr>
          <p:nvPr>
            <p:ph type="title"/>
          </p:nvPr>
        </p:nvSpPr>
        <p:spPr/>
        <p:txBody>
          <a:bodyPr/>
          <a:lstStyle/>
          <a:p>
            <a:r>
              <a:rPr lang="en-US"/>
              <a:t>Random Forests – Visualsierung von Bäumen</a:t>
            </a:r>
            <a:endParaRPr lang="de-DE"/>
          </a:p>
        </p:txBody>
      </p:sp>
      <p:pic>
        <p:nvPicPr>
          <p:cNvPr id="4" name="Grafik 3">
            <a:extLst>
              <a:ext uri="{FF2B5EF4-FFF2-40B4-BE49-F238E27FC236}">
                <a16:creationId xmlns:a16="http://schemas.microsoft.com/office/drawing/2014/main" id="{DAC83800-C58E-4130-D1E5-CF298D45CB44}"/>
              </a:ext>
            </a:extLst>
          </p:cNvPr>
          <p:cNvPicPr>
            <a:picLocks noChangeAspect="1"/>
          </p:cNvPicPr>
          <p:nvPr/>
        </p:nvPicPr>
        <p:blipFill>
          <a:blip r:embed="rId3"/>
          <a:srcRect l="2114" t="9604" r="2427"/>
          <a:stretch>
            <a:fillRect/>
          </a:stretch>
        </p:blipFill>
        <p:spPr>
          <a:xfrm>
            <a:off x="531376" y="1777837"/>
            <a:ext cx="11660624" cy="5476673"/>
          </a:xfrm>
          <a:prstGeom prst="rect">
            <a:avLst/>
          </a:prstGeom>
        </p:spPr>
      </p:pic>
      <p:graphicFrame>
        <p:nvGraphicFramePr>
          <p:cNvPr id="3" name="Tabelle 2">
            <a:extLst>
              <a:ext uri="{FF2B5EF4-FFF2-40B4-BE49-F238E27FC236}">
                <a16:creationId xmlns:a16="http://schemas.microsoft.com/office/drawing/2014/main" id="{CEB33FAB-7FCA-3683-542A-DBCFE6394535}"/>
              </a:ext>
            </a:extLst>
          </p:cNvPr>
          <p:cNvGraphicFramePr>
            <a:graphicFrameLocks noGrp="1"/>
          </p:cNvGraphicFramePr>
          <p:nvPr>
            <p:extLst>
              <p:ext uri="{D42A27DB-BD31-4B8C-83A1-F6EECF244321}">
                <p14:modId xmlns:p14="http://schemas.microsoft.com/office/powerpoint/2010/main" val="3366169034"/>
              </p:ext>
            </p:extLst>
          </p:nvPr>
        </p:nvGraphicFramePr>
        <p:xfrm>
          <a:off x="68028" y="1318615"/>
          <a:ext cx="3637280" cy="1828800"/>
        </p:xfrm>
        <a:graphic>
          <a:graphicData uri="http://schemas.openxmlformats.org/drawingml/2006/table">
            <a:tbl>
              <a:tblPr firstRow="1" bandRow="1">
                <a:tableStyleId>{5C22544A-7EE6-4342-B048-85BDC9FD1C3A}</a:tableStyleId>
              </a:tblPr>
              <a:tblGrid>
                <a:gridCol w="1818640">
                  <a:extLst>
                    <a:ext uri="{9D8B030D-6E8A-4147-A177-3AD203B41FA5}">
                      <a16:colId xmlns:a16="http://schemas.microsoft.com/office/drawing/2014/main" val="1544904279"/>
                    </a:ext>
                  </a:extLst>
                </a:gridCol>
                <a:gridCol w="1818640">
                  <a:extLst>
                    <a:ext uri="{9D8B030D-6E8A-4147-A177-3AD203B41FA5}">
                      <a16:colId xmlns:a16="http://schemas.microsoft.com/office/drawing/2014/main" val="223776492"/>
                    </a:ext>
                  </a:extLst>
                </a:gridCol>
              </a:tblGrid>
              <a:tr h="300820">
                <a:tc>
                  <a:txBody>
                    <a:bodyPr/>
                    <a:lstStyle/>
                    <a:p>
                      <a:r>
                        <a:rPr lang="en-US"/>
                        <a:t>Merkmal</a:t>
                      </a:r>
                      <a:endParaRPr lang="de-DE"/>
                    </a:p>
                  </a:txBody>
                  <a:tcPr/>
                </a:tc>
                <a:tc>
                  <a:txBody>
                    <a:bodyPr/>
                    <a:lstStyle/>
                    <a:p>
                      <a:r>
                        <a:rPr lang="en-US"/>
                        <a:t>Messwert</a:t>
                      </a:r>
                    </a:p>
                  </a:txBody>
                  <a:tcPr/>
                </a:tc>
                <a:extLst>
                  <a:ext uri="{0D108BD9-81ED-4DB2-BD59-A6C34878D82A}">
                    <a16:rowId xmlns:a16="http://schemas.microsoft.com/office/drawing/2014/main" val="1966181526"/>
                  </a:ext>
                </a:extLst>
              </a:tr>
              <a:tr h="300820">
                <a:tc>
                  <a:txBody>
                    <a:bodyPr/>
                    <a:lstStyle/>
                    <a:p>
                      <a:r>
                        <a:rPr lang="en-US"/>
                        <a:t>Drehzahl</a:t>
                      </a:r>
                      <a:endParaRPr lang="de-DE"/>
                    </a:p>
                  </a:txBody>
                  <a:tcPr/>
                </a:tc>
                <a:tc>
                  <a:txBody>
                    <a:bodyPr/>
                    <a:lstStyle/>
                    <a:p>
                      <a:r>
                        <a:rPr lang="en-US"/>
                        <a:t>410 U/min</a:t>
                      </a:r>
                      <a:endParaRPr lang="de-DE"/>
                    </a:p>
                  </a:txBody>
                  <a:tcPr/>
                </a:tc>
                <a:extLst>
                  <a:ext uri="{0D108BD9-81ED-4DB2-BD59-A6C34878D82A}">
                    <a16:rowId xmlns:a16="http://schemas.microsoft.com/office/drawing/2014/main" val="3440435576"/>
                  </a:ext>
                </a:extLst>
              </a:tr>
              <a:tr h="300820">
                <a:tc>
                  <a:txBody>
                    <a:bodyPr/>
                    <a:lstStyle/>
                    <a:p>
                      <a:r>
                        <a:rPr lang="en-US"/>
                        <a:t>Druck</a:t>
                      </a:r>
                      <a:endParaRPr lang="de-DE"/>
                    </a:p>
                  </a:txBody>
                  <a:tcPr/>
                </a:tc>
                <a:tc>
                  <a:txBody>
                    <a:bodyPr/>
                    <a:lstStyle/>
                    <a:p>
                      <a:r>
                        <a:rPr lang="en-US"/>
                        <a:t>118 Bar</a:t>
                      </a:r>
                      <a:endParaRPr lang="de-DE"/>
                    </a:p>
                  </a:txBody>
                  <a:tcPr/>
                </a:tc>
                <a:extLst>
                  <a:ext uri="{0D108BD9-81ED-4DB2-BD59-A6C34878D82A}">
                    <a16:rowId xmlns:a16="http://schemas.microsoft.com/office/drawing/2014/main" val="3444359236"/>
                  </a:ext>
                </a:extLst>
              </a:tr>
              <a:tr h="300820">
                <a:tc>
                  <a:txBody>
                    <a:bodyPr/>
                    <a:lstStyle/>
                    <a:p>
                      <a:r>
                        <a:rPr lang="en-US"/>
                        <a:t>Spannung</a:t>
                      </a:r>
                      <a:endParaRPr lang="de-DE"/>
                    </a:p>
                  </a:txBody>
                  <a:tcPr>
                    <a:solidFill>
                      <a:srgbClr val="FF0000"/>
                    </a:solidFill>
                  </a:tcPr>
                </a:tc>
                <a:tc>
                  <a:txBody>
                    <a:bodyPr/>
                    <a:lstStyle/>
                    <a:p>
                      <a:r>
                        <a:rPr lang="en-US"/>
                        <a:t>170 V</a:t>
                      </a:r>
                      <a:endParaRPr lang="de-DE"/>
                    </a:p>
                  </a:txBody>
                  <a:tcPr>
                    <a:solidFill>
                      <a:srgbClr val="FF0000"/>
                    </a:solidFill>
                  </a:tcPr>
                </a:tc>
                <a:extLst>
                  <a:ext uri="{0D108BD9-81ED-4DB2-BD59-A6C34878D82A}">
                    <a16:rowId xmlns:a16="http://schemas.microsoft.com/office/drawing/2014/main" val="873828795"/>
                  </a:ext>
                </a:extLst>
              </a:tr>
              <a:tr h="300820">
                <a:tc>
                  <a:txBody>
                    <a:bodyPr/>
                    <a:lstStyle/>
                    <a:p>
                      <a:r>
                        <a:rPr lang="en-US"/>
                        <a:t>Vibration </a:t>
                      </a:r>
                      <a:endParaRPr lang="de-DE"/>
                    </a:p>
                  </a:txBody>
                  <a:tcPr/>
                </a:tc>
                <a:tc>
                  <a:txBody>
                    <a:bodyPr/>
                    <a:lstStyle/>
                    <a:p>
                      <a:r>
                        <a:rPr lang="en-US"/>
                        <a:t>50 mm/s</a:t>
                      </a:r>
                      <a:endParaRPr lang="de-DE"/>
                    </a:p>
                  </a:txBody>
                  <a:tcPr/>
                </a:tc>
                <a:extLst>
                  <a:ext uri="{0D108BD9-81ED-4DB2-BD59-A6C34878D82A}">
                    <a16:rowId xmlns:a16="http://schemas.microsoft.com/office/drawing/2014/main" val="668734006"/>
                  </a:ext>
                </a:extLst>
              </a:tr>
            </a:tbl>
          </a:graphicData>
        </a:graphic>
      </p:graphicFrame>
      <p:cxnSp>
        <p:nvCxnSpPr>
          <p:cNvPr id="10" name="Gerade Verbindung mit Pfeil 9">
            <a:extLst>
              <a:ext uri="{FF2B5EF4-FFF2-40B4-BE49-F238E27FC236}">
                <a16:creationId xmlns:a16="http://schemas.microsoft.com/office/drawing/2014/main" id="{713CE758-0BDF-033F-8590-4CD2FB864474}"/>
              </a:ext>
            </a:extLst>
          </p:cNvPr>
          <p:cNvCxnSpPr>
            <a:cxnSpLocks/>
          </p:cNvCxnSpPr>
          <p:nvPr/>
        </p:nvCxnSpPr>
        <p:spPr>
          <a:xfrm>
            <a:off x="6953250" y="2416969"/>
            <a:ext cx="1871663" cy="892969"/>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 name="Gerade Verbindung mit Pfeil 4">
            <a:extLst>
              <a:ext uri="{FF2B5EF4-FFF2-40B4-BE49-F238E27FC236}">
                <a16:creationId xmlns:a16="http://schemas.microsoft.com/office/drawing/2014/main" id="{9AE35C92-EFEE-C05F-2024-6D6EA0CB7D3D}"/>
              </a:ext>
            </a:extLst>
          </p:cNvPr>
          <p:cNvCxnSpPr>
            <a:cxnSpLocks/>
          </p:cNvCxnSpPr>
          <p:nvPr/>
        </p:nvCxnSpPr>
        <p:spPr>
          <a:xfrm>
            <a:off x="9679781" y="3848100"/>
            <a:ext cx="945357" cy="904875"/>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 name="Gerade Verbindung mit Pfeil 5">
            <a:extLst>
              <a:ext uri="{FF2B5EF4-FFF2-40B4-BE49-F238E27FC236}">
                <a16:creationId xmlns:a16="http://schemas.microsoft.com/office/drawing/2014/main" id="{5C423FF4-459A-398D-2443-531448227C57}"/>
              </a:ext>
            </a:extLst>
          </p:cNvPr>
          <p:cNvCxnSpPr>
            <a:cxnSpLocks/>
          </p:cNvCxnSpPr>
          <p:nvPr/>
        </p:nvCxnSpPr>
        <p:spPr>
          <a:xfrm>
            <a:off x="11051381" y="5300663"/>
            <a:ext cx="500063" cy="945356"/>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1" name="Rechteck: abgerundete Ecken 10">
            <a:extLst>
              <a:ext uri="{FF2B5EF4-FFF2-40B4-BE49-F238E27FC236}">
                <a16:creationId xmlns:a16="http://schemas.microsoft.com/office/drawing/2014/main" id="{68E112DD-506E-8CAE-7AC6-F5524D340BE3}"/>
              </a:ext>
            </a:extLst>
          </p:cNvPr>
          <p:cNvSpPr/>
          <p:nvPr/>
        </p:nvSpPr>
        <p:spPr>
          <a:xfrm>
            <a:off x="11179175" y="6246019"/>
            <a:ext cx="965200" cy="434181"/>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50877669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615F32-55B5-9798-4902-28EF81291BAE}"/>
              </a:ext>
            </a:extLst>
          </p:cNvPr>
          <p:cNvSpPr>
            <a:spLocks noGrp="1"/>
          </p:cNvSpPr>
          <p:nvPr>
            <p:ph type="title"/>
          </p:nvPr>
        </p:nvSpPr>
        <p:spPr/>
        <p:txBody>
          <a:bodyPr/>
          <a:lstStyle/>
          <a:p>
            <a:r>
              <a:rPr lang="en-US"/>
              <a:t>Random Forests – SHAP-Value-Analyse</a:t>
            </a:r>
            <a:endParaRPr lang="de-DE"/>
          </a:p>
        </p:txBody>
      </p:sp>
      <p:pic>
        <p:nvPicPr>
          <p:cNvPr id="5" name="Inhaltsplatzhalter 4">
            <a:extLst>
              <a:ext uri="{FF2B5EF4-FFF2-40B4-BE49-F238E27FC236}">
                <a16:creationId xmlns:a16="http://schemas.microsoft.com/office/drawing/2014/main" id="{4742F064-21D8-E780-E818-E347C75DFDAB}"/>
              </a:ext>
            </a:extLst>
          </p:cNvPr>
          <p:cNvPicPr>
            <a:picLocks noGrp="1" noChangeAspect="1"/>
          </p:cNvPicPr>
          <p:nvPr>
            <p:ph idx="1"/>
          </p:nvPr>
        </p:nvPicPr>
        <p:blipFill>
          <a:blip r:embed="rId3"/>
          <a:stretch>
            <a:fillRect/>
          </a:stretch>
        </p:blipFill>
        <p:spPr>
          <a:xfrm>
            <a:off x="6898236" y="1334294"/>
            <a:ext cx="5293764" cy="2094706"/>
          </a:xfrm>
          <a:prstGeom prst="rect">
            <a:avLst/>
          </a:prstGeom>
        </p:spPr>
      </p:pic>
      <p:sp>
        <p:nvSpPr>
          <p:cNvPr id="4" name="Inhaltsplatzhalter 2">
            <a:extLst>
              <a:ext uri="{FF2B5EF4-FFF2-40B4-BE49-F238E27FC236}">
                <a16:creationId xmlns:a16="http://schemas.microsoft.com/office/drawing/2014/main" id="{43CB0230-0A55-29A0-4FCC-20EB936DE7FE}"/>
              </a:ext>
            </a:extLst>
          </p:cNvPr>
          <p:cNvSpPr txBox="1">
            <a:spLocks/>
          </p:cNvSpPr>
          <p:nvPr/>
        </p:nvSpPr>
        <p:spPr>
          <a:xfrm>
            <a:off x="838199" y="1825625"/>
            <a:ext cx="6224081" cy="48455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sym typeface="Wingdings" panose="05000000000000000000" pitchFamily="2" charset="2"/>
              </a:rPr>
              <a:t>Einfluss eines Features auf den Modelloutput</a:t>
            </a:r>
            <a:endParaRPr lang="de-DE" sz="2000">
              <a:sym typeface="Wingdings" panose="05000000000000000000" pitchFamily="2" charset="2"/>
            </a:endParaRPr>
          </a:p>
          <a:p>
            <a:r>
              <a:rPr lang="de-DE" sz="2000">
                <a:sym typeface="Wingdings" panose="05000000000000000000" pitchFamily="2" charset="2"/>
              </a:rPr>
              <a:t>Positive SHAP-Werte  Erhöhen die Wahrscheinlichkeit einer Fehlerklasse</a:t>
            </a:r>
          </a:p>
          <a:p>
            <a:r>
              <a:rPr lang="de-DE" sz="2000">
                <a:sym typeface="Wingdings" panose="05000000000000000000" pitchFamily="2" charset="2"/>
              </a:rPr>
              <a:t>Negative SHAP-Werte  Erhöhen die Wahrscheinlichkeit einer Fehlerklasse</a:t>
            </a:r>
          </a:p>
          <a:p>
            <a:endParaRPr lang="de-DE" sz="2000">
              <a:sym typeface="Wingdings" panose="05000000000000000000" pitchFamily="2" charset="2"/>
            </a:endParaRPr>
          </a:p>
          <a:p>
            <a:pPr marL="0" indent="0">
              <a:buNone/>
            </a:pPr>
            <a:r>
              <a:rPr lang="de-DE" sz="2000">
                <a:sym typeface="Wingdings" panose="05000000000000000000" pitchFamily="2" charset="2"/>
              </a:rPr>
              <a:t> </a:t>
            </a:r>
            <a:r>
              <a:rPr lang="de-DE" sz="2000"/>
              <a:t>Der SHAP-Plot zeigt, welche Merkmale das Modell am stärksten beeinflussen</a:t>
            </a:r>
            <a:endParaRPr lang="de-DE" sz="2000">
              <a:sym typeface="Wingdings" panose="05000000000000000000" pitchFamily="2" charset="2"/>
            </a:endParaRPr>
          </a:p>
        </p:txBody>
      </p:sp>
    </p:spTree>
    <p:extLst>
      <p:ext uri="{BB962C8B-B14F-4D97-AF65-F5344CB8AC3E}">
        <p14:creationId xmlns:p14="http://schemas.microsoft.com/office/powerpoint/2010/main" val="415299575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F7DF4-9005-8342-25C2-8314C53FE84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546C1FB-7292-5EE5-1658-C16E9D204798}"/>
              </a:ext>
            </a:extLst>
          </p:cNvPr>
          <p:cNvSpPr>
            <a:spLocks noGrp="1"/>
          </p:cNvSpPr>
          <p:nvPr>
            <p:ph type="title"/>
          </p:nvPr>
        </p:nvSpPr>
        <p:spPr/>
        <p:txBody>
          <a:bodyPr/>
          <a:lstStyle/>
          <a:p>
            <a:r>
              <a:rPr lang="en-US"/>
              <a:t>Random Forests – SHAP-Value-Analyse</a:t>
            </a:r>
            <a:endParaRPr lang="de-DE"/>
          </a:p>
        </p:txBody>
      </p:sp>
      <p:pic>
        <p:nvPicPr>
          <p:cNvPr id="5" name="Inhaltsplatzhalter 4">
            <a:extLst>
              <a:ext uri="{FF2B5EF4-FFF2-40B4-BE49-F238E27FC236}">
                <a16:creationId xmlns:a16="http://schemas.microsoft.com/office/drawing/2014/main" id="{15051A1B-F052-857D-8A6A-D931C9AACFB0}"/>
              </a:ext>
            </a:extLst>
          </p:cNvPr>
          <p:cNvPicPr>
            <a:picLocks noGrp="1" noChangeAspect="1"/>
          </p:cNvPicPr>
          <p:nvPr>
            <p:ph idx="1"/>
          </p:nvPr>
        </p:nvPicPr>
        <p:blipFill>
          <a:blip r:embed="rId3"/>
          <a:stretch>
            <a:fillRect/>
          </a:stretch>
        </p:blipFill>
        <p:spPr>
          <a:xfrm>
            <a:off x="2005710" y="2019837"/>
            <a:ext cx="8180580" cy="3236999"/>
          </a:xfrm>
          <a:prstGeom prst="rect">
            <a:avLst/>
          </a:prstGeom>
        </p:spPr>
      </p:pic>
    </p:spTree>
    <p:extLst>
      <p:ext uri="{BB962C8B-B14F-4D97-AF65-F5344CB8AC3E}">
        <p14:creationId xmlns:p14="http://schemas.microsoft.com/office/powerpoint/2010/main" val="202410131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7BA36-8054-3655-16C7-D994C2BE4B9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61410D5-7088-E54E-1485-8AE5BB7F80CA}"/>
              </a:ext>
            </a:extLst>
          </p:cNvPr>
          <p:cNvSpPr>
            <a:spLocks noGrp="1"/>
          </p:cNvSpPr>
          <p:nvPr>
            <p:ph type="title"/>
          </p:nvPr>
        </p:nvSpPr>
        <p:spPr/>
        <p:txBody>
          <a:bodyPr/>
          <a:lstStyle/>
          <a:p>
            <a:r>
              <a:rPr lang="en-US"/>
              <a:t>Random Forests – Partial Dependence Plots</a:t>
            </a:r>
            <a:endParaRPr lang="de-DE"/>
          </a:p>
        </p:txBody>
      </p:sp>
      <p:pic>
        <p:nvPicPr>
          <p:cNvPr id="7" name="Grafik 6">
            <a:extLst>
              <a:ext uri="{FF2B5EF4-FFF2-40B4-BE49-F238E27FC236}">
                <a16:creationId xmlns:a16="http://schemas.microsoft.com/office/drawing/2014/main" id="{15E42924-7B99-6494-2E46-EE05FACD908B}"/>
              </a:ext>
            </a:extLst>
          </p:cNvPr>
          <p:cNvPicPr>
            <a:picLocks noChangeAspect="1"/>
          </p:cNvPicPr>
          <p:nvPr/>
        </p:nvPicPr>
        <p:blipFill>
          <a:blip r:embed="rId3"/>
          <a:stretch>
            <a:fillRect/>
          </a:stretch>
        </p:blipFill>
        <p:spPr>
          <a:xfrm>
            <a:off x="7589642" y="1330481"/>
            <a:ext cx="4602358" cy="3332054"/>
          </a:xfrm>
          <a:prstGeom prst="rect">
            <a:avLst/>
          </a:prstGeom>
        </p:spPr>
      </p:pic>
      <p:sp>
        <p:nvSpPr>
          <p:cNvPr id="3" name="Inhaltsplatzhalter 2">
            <a:extLst>
              <a:ext uri="{FF2B5EF4-FFF2-40B4-BE49-F238E27FC236}">
                <a16:creationId xmlns:a16="http://schemas.microsoft.com/office/drawing/2014/main" id="{87C50998-3CB8-D225-CE67-4464B81B0D54}"/>
              </a:ext>
            </a:extLst>
          </p:cNvPr>
          <p:cNvSpPr txBox="1">
            <a:spLocks/>
          </p:cNvSpPr>
          <p:nvPr/>
        </p:nvSpPr>
        <p:spPr>
          <a:xfrm>
            <a:off x="838199" y="1825625"/>
            <a:ext cx="6630910" cy="48455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sym typeface="Wingdings" panose="05000000000000000000" pitchFamily="2" charset="2"/>
              </a:rPr>
              <a:t>Zeigen die Vorhersagewahrscheinlichkeit eines Models  Nur ein Merkmal wird variiert, während die restlichen kostant bleiben</a:t>
            </a:r>
          </a:p>
          <a:p>
            <a:r>
              <a:rPr lang="en-US" sz="2000">
                <a:sym typeface="Wingdings" panose="05000000000000000000" pitchFamily="2" charset="2"/>
              </a:rPr>
              <a:t>Beispiel:</a:t>
            </a:r>
          </a:p>
          <a:p>
            <a:pPr lvl="1"/>
            <a:r>
              <a:rPr lang="en-US" sz="1800">
                <a:sym typeface="Wingdings" panose="05000000000000000000" pitchFamily="2" charset="2"/>
              </a:rPr>
              <a:t>x-Achse repräsentiert den Druckwert</a:t>
            </a:r>
          </a:p>
          <a:p>
            <a:pPr lvl="1"/>
            <a:r>
              <a:rPr lang="en-US" sz="1800">
                <a:sym typeface="Wingdings" panose="05000000000000000000" pitchFamily="2" charset="2"/>
              </a:rPr>
              <a:t>y-Achse zeigt den Modell-Output (Ausfall einer Komponente)</a:t>
            </a:r>
          </a:p>
        </p:txBody>
      </p:sp>
    </p:spTree>
    <p:extLst>
      <p:ext uri="{BB962C8B-B14F-4D97-AF65-F5344CB8AC3E}">
        <p14:creationId xmlns:p14="http://schemas.microsoft.com/office/powerpoint/2010/main" val="265633284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A8FBB-64B2-23E9-76F3-79EBC839FDF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18673BC-E724-7627-326F-A925D9844366}"/>
              </a:ext>
            </a:extLst>
          </p:cNvPr>
          <p:cNvSpPr>
            <a:spLocks noGrp="1"/>
          </p:cNvSpPr>
          <p:nvPr>
            <p:ph type="title"/>
          </p:nvPr>
        </p:nvSpPr>
        <p:spPr/>
        <p:txBody>
          <a:bodyPr/>
          <a:lstStyle/>
          <a:p>
            <a:r>
              <a:rPr lang="en-US"/>
              <a:t>Random Forests – Partial Dependence Plots</a:t>
            </a:r>
            <a:endParaRPr lang="de-DE"/>
          </a:p>
        </p:txBody>
      </p:sp>
      <p:pic>
        <p:nvPicPr>
          <p:cNvPr id="7" name="Grafik 6">
            <a:extLst>
              <a:ext uri="{FF2B5EF4-FFF2-40B4-BE49-F238E27FC236}">
                <a16:creationId xmlns:a16="http://schemas.microsoft.com/office/drawing/2014/main" id="{C0EF9842-4D51-D831-4934-FF59352D781D}"/>
              </a:ext>
            </a:extLst>
          </p:cNvPr>
          <p:cNvPicPr>
            <a:picLocks noChangeAspect="1"/>
          </p:cNvPicPr>
          <p:nvPr/>
        </p:nvPicPr>
        <p:blipFill>
          <a:blip r:embed="rId3"/>
          <a:stretch>
            <a:fillRect/>
          </a:stretch>
        </p:blipFill>
        <p:spPr>
          <a:xfrm>
            <a:off x="2530353" y="1493442"/>
            <a:ext cx="7131294" cy="5162974"/>
          </a:xfrm>
          <a:prstGeom prst="rect">
            <a:avLst/>
          </a:prstGeom>
        </p:spPr>
      </p:pic>
    </p:spTree>
    <p:extLst>
      <p:ext uri="{BB962C8B-B14F-4D97-AF65-F5344CB8AC3E}">
        <p14:creationId xmlns:p14="http://schemas.microsoft.com/office/powerpoint/2010/main" val="163415713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A4EBA-075E-9320-6D62-6130E4159AC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938AB45-521E-D70E-9D54-1882E12CB8B5}"/>
              </a:ext>
            </a:extLst>
          </p:cNvPr>
          <p:cNvSpPr>
            <a:spLocks noGrp="1"/>
          </p:cNvSpPr>
          <p:nvPr>
            <p:ph type="ctrTitle"/>
          </p:nvPr>
        </p:nvSpPr>
        <p:spPr/>
        <p:txBody>
          <a:bodyPr/>
          <a:lstStyle/>
          <a:p>
            <a:r>
              <a:rPr lang="en-US"/>
              <a:t>Neuronale Netzwerke</a:t>
            </a:r>
            <a:endParaRPr lang="de-DE"/>
          </a:p>
        </p:txBody>
      </p:sp>
    </p:spTree>
    <p:extLst>
      <p:ext uri="{BB962C8B-B14F-4D97-AF65-F5344CB8AC3E}">
        <p14:creationId xmlns:p14="http://schemas.microsoft.com/office/powerpoint/2010/main" val="79622659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9AD4CD3-4AE1-F244-813D-A7E524CB40F9}"/>
              </a:ext>
            </a:extLst>
          </p:cNvPr>
          <p:cNvSpPr>
            <a:spLocks noGrp="1"/>
          </p:cNvSpPr>
          <p:nvPr>
            <p:ph type="title"/>
          </p:nvPr>
        </p:nvSpPr>
        <p:spPr/>
        <p:txBody>
          <a:bodyPr/>
          <a:lstStyle/>
          <a:p>
            <a:r>
              <a:rPr lang="en-US"/>
              <a:t>Neuronale Netzwerke – Einfachste Variante</a:t>
            </a:r>
            <a:endParaRPr lang="de-DE"/>
          </a:p>
        </p:txBody>
      </p:sp>
      <p:pic>
        <p:nvPicPr>
          <p:cNvPr id="5" name="Grafik 4">
            <a:extLst>
              <a:ext uri="{FF2B5EF4-FFF2-40B4-BE49-F238E27FC236}">
                <a16:creationId xmlns:a16="http://schemas.microsoft.com/office/drawing/2014/main" id="{342AF088-E168-EEB2-F6D3-DFAF75FCA924}"/>
              </a:ext>
            </a:extLst>
          </p:cNvPr>
          <p:cNvPicPr>
            <a:picLocks noChangeAspect="1"/>
          </p:cNvPicPr>
          <p:nvPr/>
        </p:nvPicPr>
        <p:blipFill>
          <a:blip r:embed="rId3"/>
          <a:srcRect t="5580"/>
          <a:stretch>
            <a:fillRect/>
          </a:stretch>
        </p:blipFill>
        <p:spPr>
          <a:xfrm>
            <a:off x="6615512" y="1325659"/>
            <a:ext cx="5576488" cy="3119592"/>
          </a:xfrm>
          <a:prstGeom prst="rect">
            <a:avLst/>
          </a:prstGeom>
        </p:spPr>
      </p:pic>
      <p:sp>
        <p:nvSpPr>
          <p:cNvPr id="3" name="Inhaltsplatzhalter 2">
            <a:extLst>
              <a:ext uri="{FF2B5EF4-FFF2-40B4-BE49-F238E27FC236}">
                <a16:creationId xmlns:a16="http://schemas.microsoft.com/office/drawing/2014/main" id="{9B0CAE8F-71EC-05AC-7C5A-C522CBFB2DDF}"/>
              </a:ext>
            </a:extLst>
          </p:cNvPr>
          <p:cNvSpPr>
            <a:spLocks noGrp="1"/>
          </p:cNvSpPr>
          <p:nvPr>
            <p:ph idx="1"/>
          </p:nvPr>
        </p:nvSpPr>
        <p:spPr>
          <a:xfrm>
            <a:off x="838200" y="1825625"/>
            <a:ext cx="5999922" cy="4845520"/>
          </a:xfrm>
        </p:spPr>
        <p:txBody>
          <a:bodyPr>
            <a:normAutofit/>
          </a:bodyPr>
          <a:lstStyle/>
          <a:p>
            <a:r>
              <a:rPr lang="en-US" sz="2000"/>
              <a:t>Feature Importances auch im neuronalen Netzwerk messbar</a:t>
            </a:r>
            <a:endParaRPr lang="en-US" sz="2000">
              <a:sym typeface="Wingdings" panose="05000000000000000000" pitchFamily="2" charset="2"/>
            </a:endParaRPr>
          </a:p>
          <a:p>
            <a:r>
              <a:rPr lang="en-US" sz="2000">
                <a:sym typeface="Wingdings" panose="05000000000000000000" pitchFamily="2" charset="2"/>
              </a:rPr>
              <a:t>Beispiel:</a:t>
            </a:r>
          </a:p>
          <a:p>
            <a:pPr lvl="1"/>
            <a:r>
              <a:rPr lang="en-US" sz="2000">
                <a:sym typeface="Wingdings" panose="05000000000000000000" pitchFamily="2" charset="2"/>
              </a:rPr>
              <a:t>Auch hier hat Druck als dominater Faktor, jedoch nicht so ausgepräft wie bei Random Forests</a:t>
            </a:r>
          </a:p>
          <a:p>
            <a:pPr lvl="1"/>
            <a:r>
              <a:rPr lang="en-US" sz="2000">
                <a:sym typeface="Wingdings" panose="05000000000000000000" pitchFamily="2" charset="2"/>
              </a:rPr>
              <a:t>Spannung hingegen hat höhere Bedeutung</a:t>
            </a:r>
          </a:p>
          <a:p>
            <a:pPr>
              <a:buFont typeface="Wingdings" panose="05000000000000000000" pitchFamily="2" charset="2"/>
              <a:buChar char="à"/>
            </a:pPr>
            <a:r>
              <a:rPr lang="en-US" sz="2000">
                <a:sym typeface="Wingdings" panose="05000000000000000000" pitchFamily="2" charset="2"/>
              </a:rPr>
              <a:t>Ähnliche Muster wie Random Forests, aber Spannung wird starker einbezogen</a:t>
            </a:r>
          </a:p>
          <a:p>
            <a:pPr>
              <a:buFont typeface="Wingdings" panose="05000000000000000000" pitchFamily="2" charset="2"/>
              <a:buChar char="à"/>
            </a:pPr>
            <a:r>
              <a:rPr lang="en-US" sz="2000">
                <a:sym typeface="Wingdings" panose="05000000000000000000" pitchFamily="2" charset="2"/>
              </a:rPr>
              <a:t>Erkennt ggf. nichtlineare Zusammenhänge zwischen Messwertern besser </a:t>
            </a:r>
          </a:p>
        </p:txBody>
      </p:sp>
    </p:spTree>
    <p:extLst>
      <p:ext uri="{BB962C8B-B14F-4D97-AF65-F5344CB8AC3E}">
        <p14:creationId xmlns:p14="http://schemas.microsoft.com/office/powerpoint/2010/main" val="259593355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1F3CDE-7D41-57D3-7D99-E0544A4EAE07}"/>
              </a:ext>
            </a:extLst>
          </p:cNvPr>
          <p:cNvSpPr>
            <a:spLocks noGrp="1"/>
          </p:cNvSpPr>
          <p:nvPr>
            <p:ph type="title"/>
          </p:nvPr>
        </p:nvSpPr>
        <p:spPr/>
        <p:txBody>
          <a:bodyPr/>
          <a:lstStyle/>
          <a:p>
            <a:r>
              <a:rPr lang="en-US"/>
              <a:t>Neuronale Netzwerke – Saliency Maps</a:t>
            </a:r>
            <a:endParaRPr lang="de-DE"/>
          </a:p>
        </p:txBody>
      </p:sp>
      <p:pic>
        <p:nvPicPr>
          <p:cNvPr id="5" name="Grafik 4">
            <a:extLst>
              <a:ext uri="{FF2B5EF4-FFF2-40B4-BE49-F238E27FC236}">
                <a16:creationId xmlns:a16="http://schemas.microsoft.com/office/drawing/2014/main" id="{A22A7F4B-43C4-885E-8F4D-2C1084CCCE5D}"/>
              </a:ext>
            </a:extLst>
          </p:cNvPr>
          <p:cNvPicPr>
            <a:picLocks noChangeAspect="1"/>
          </p:cNvPicPr>
          <p:nvPr/>
        </p:nvPicPr>
        <p:blipFill>
          <a:blip r:embed="rId3"/>
          <a:srcRect t="5427"/>
          <a:stretch>
            <a:fillRect/>
          </a:stretch>
        </p:blipFill>
        <p:spPr>
          <a:xfrm>
            <a:off x="6399414" y="1307382"/>
            <a:ext cx="5792586" cy="5550618"/>
          </a:xfrm>
          <a:prstGeom prst="rect">
            <a:avLst/>
          </a:prstGeom>
        </p:spPr>
      </p:pic>
      <p:sp>
        <p:nvSpPr>
          <p:cNvPr id="3" name="Inhaltsplatzhalter 2">
            <a:extLst>
              <a:ext uri="{FF2B5EF4-FFF2-40B4-BE49-F238E27FC236}">
                <a16:creationId xmlns:a16="http://schemas.microsoft.com/office/drawing/2014/main" id="{BA0E5983-B665-83FA-45D7-E7CECA239922}"/>
              </a:ext>
            </a:extLst>
          </p:cNvPr>
          <p:cNvSpPr>
            <a:spLocks noGrp="1"/>
          </p:cNvSpPr>
          <p:nvPr>
            <p:ph idx="1"/>
          </p:nvPr>
        </p:nvSpPr>
        <p:spPr>
          <a:xfrm>
            <a:off x="838200" y="1825625"/>
            <a:ext cx="5561214" cy="4845520"/>
          </a:xfrm>
        </p:spPr>
        <p:txBody>
          <a:bodyPr>
            <a:normAutofit/>
          </a:bodyPr>
          <a:lstStyle/>
          <a:p>
            <a:r>
              <a:rPr lang="en-US" sz="2000">
                <a:sym typeface="Wingdings" panose="05000000000000000000" pitchFamily="2" charset="2"/>
              </a:rPr>
              <a:t>Saliency Map misst, wie empfindlich die Modellvorhersage auf Eingabewerte reagiert</a:t>
            </a:r>
          </a:p>
          <a:p>
            <a:pPr lvl="1"/>
            <a:r>
              <a:rPr lang="en-US" sz="1800">
                <a:sym typeface="Wingdings" panose="05000000000000000000" pitchFamily="2" charset="2"/>
              </a:rPr>
              <a:t>Je größer der Balken, desto starker der Einfluss</a:t>
            </a:r>
          </a:p>
          <a:p>
            <a:r>
              <a:rPr lang="en-US" sz="2200">
                <a:sym typeface="Wingdings" panose="05000000000000000000" pitchFamily="2" charset="2"/>
              </a:rPr>
              <a:t>Pred beschreibt die Fehlerklasse</a:t>
            </a:r>
          </a:p>
        </p:txBody>
      </p:sp>
    </p:spTree>
    <p:extLst>
      <p:ext uri="{BB962C8B-B14F-4D97-AF65-F5344CB8AC3E}">
        <p14:creationId xmlns:p14="http://schemas.microsoft.com/office/powerpoint/2010/main" val="144024399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CACA45C-E9C8-5ECD-883C-40D299AA2E78}"/>
              </a:ext>
            </a:extLst>
          </p:cNvPr>
          <p:cNvSpPr>
            <a:spLocks noGrp="1"/>
          </p:cNvSpPr>
          <p:nvPr>
            <p:ph type="title"/>
          </p:nvPr>
        </p:nvSpPr>
        <p:spPr/>
        <p:txBody>
          <a:bodyPr/>
          <a:lstStyle/>
          <a:p>
            <a:r>
              <a:rPr lang="en-US"/>
              <a:t>Neuronale Netzwerke – Gewichtsanalyse</a:t>
            </a:r>
            <a:endParaRPr lang="de-DE"/>
          </a:p>
        </p:txBody>
      </p:sp>
      <p:pic>
        <p:nvPicPr>
          <p:cNvPr id="5" name="Grafik 4">
            <a:extLst>
              <a:ext uri="{FF2B5EF4-FFF2-40B4-BE49-F238E27FC236}">
                <a16:creationId xmlns:a16="http://schemas.microsoft.com/office/drawing/2014/main" id="{807941B0-3ED9-8931-1539-17F1BFA8A32B}"/>
              </a:ext>
            </a:extLst>
          </p:cNvPr>
          <p:cNvPicPr>
            <a:picLocks noChangeAspect="1"/>
          </p:cNvPicPr>
          <p:nvPr/>
        </p:nvPicPr>
        <p:blipFill>
          <a:blip r:embed="rId3"/>
          <a:srcRect t="5055"/>
          <a:stretch>
            <a:fillRect/>
          </a:stretch>
        </p:blipFill>
        <p:spPr>
          <a:xfrm>
            <a:off x="6659361" y="1324024"/>
            <a:ext cx="5532638" cy="2731928"/>
          </a:xfrm>
          <a:prstGeom prst="rect">
            <a:avLst/>
          </a:prstGeom>
        </p:spPr>
      </p:pic>
      <p:sp>
        <p:nvSpPr>
          <p:cNvPr id="3" name="Inhaltsplatzhalter 2">
            <a:extLst>
              <a:ext uri="{FF2B5EF4-FFF2-40B4-BE49-F238E27FC236}">
                <a16:creationId xmlns:a16="http://schemas.microsoft.com/office/drawing/2014/main" id="{DD0C812C-5D54-73D9-3207-3C052C3DA541}"/>
              </a:ext>
            </a:extLst>
          </p:cNvPr>
          <p:cNvSpPr>
            <a:spLocks noGrp="1"/>
          </p:cNvSpPr>
          <p:nvPr>
            <p:ph idx="1"/>
          </p:nvPr>
        </p:nvSpPr>
        <p:spPr>
          <a:xfrm>
            <a:off x="838200" y="1825625"/>
            <a:ext cx="5999922" cy="4845520"/>
          </a:xfrm>
        </p:spPr>
        <p:txBody>
          <a:bodyPr>
            <a:normAutofit/>
          </a:bodyPr>
          <a:lstStyle/>
          <a:p>
            <a:r>
              <a:rPr lang="en-US" sz="2000">
                <a:sym typeface="Wingdings" panose="05000000000000000000" pitchFamily="2" charset="2"/>
              </a:rPr>
              <a:t>Gewichtsmatrix eines Neuronalen Netzwerks (erster Hidden Layer)</a:t>
            </a:r>
          </a:p>
          <a:p>
            <a:r>
              <a:rPr lang="en-US" sz="2000">
                <a:sym typeface="Wingdings" panose="05000000000000000000" pitchFamily="2" charset="2"/>
              </a:rPr>
              <a:t>Jede Zeile steht für ein Neuron und jede Spalte für ein Eingangsmerkmal)</a:t>
            </a:r>
          </a:p>
          <a:p>
            <a:r>
              <a:rPr lang="en-US" sz="2000">
                <a:sym typeface="Wingdings" panose="05000000000000000000" pitchFamily="2" charset="2"/>
              </a:rPr>
              <a:t>Farben zeigen Einfluss und Richtung:</a:t>
            </a:r>
          </a:p>
          <a:p>
            <a:pPr lvl="1"/>
            <a:r>
              <a:rPr lang="en-US" sz="1600">
                <a:sym typeface="Wingdings" panose="05000000000000000000" pitchFamily="2" charset="2"/>
              </a:rPr>
              <a:t>Rot  positives Gewicht (starker aktivierender Einfluss)</a:t>
            </a:r>
          </a:p>
          <a:p>
            <a:pPr lvl="1"/>
            <a:r>
              <a:rPr lang="en-US" sz="1600">
                <a:sym typeface="Wingdings" panose="05000000000000000000" pitchFamily="2" charset="2"/>
              </a:rPr>
              <a:t>Blau  negatives Gewicht (hemmender Einfluss)</a:t>
            </a:r>
          </a:p>
          <a:p>
            <a:pPr lvl="1"/>
            <a:r>
              <a:rPr lang="en-US" sz="1600">
                <a:sym typeface="Wingdings" panose="05000000000000000000" pitchFamily="2" charset="2"/>
              </a:rPr>
              <a:t>Weiß  nahezu kein Einfluss</a:t>
            </a:r>
          </a:p>
        </p:txBody>
      </p:sp>
    </p:spTree>
    <p:extLst>
      <p:ext uri="{BB962C8B-B14F-4D97-AF65-F5344CB8AC3E}">
        <p14:creationId xmlns:p14="http://schemas.microsoft.com/office/powerpoint/2010/main" val="37764923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20E00-5FEF-B4FD-B07B-AE4B7591D7C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BEE1C2E-C543-C6B7-C3F5-897CE6D373D4}"/>
              </a:ext>
            </a:extLst>
          </p:cNvPr>
          <p:cNvSpPr>
            <a:spLocks noGrp="1"/>
          </p:cNvSpPr>
          <p:nvPr>
            <p:ph type="title"/>
          </p:nvPr>
        </p:nvSpPr>
        <p:spPr/>
        <p:txBody>
          <a:bodyPr/>
          <a:lstStyle/>
          <a:p>
            <a:r>
              <a:rPr lang="en-US"/>
              <a:t>Neuronale Netzwerke – Gewichtsanalyse</a:t>
            </a:r>
            <a:endParaRPr lang="de-DE"/>
          </a:p>
        </p:txBody>
      </p:sp>
      <p:pic>
        <p:nvPicPr>
          <p:cNvPr id="5" name="Grafik 4">
            <a:extLst>
              <a:ext uri="{FF2B5EF4-FFF2-40B4-BE49-F238E27FC236}">
                <a16:creationId xmlns:a16="http://schemas.microsoft.com/office/drawing/2014/main" id="{7B46D5E7-39A8-5E95-92D9-C6360BA65FFC}"/>
              </a:ext>
            </a:extLst>
          </p:cNvPr>
          <p:cNvPicPr>
            <a:picLocks noChangeAspect="1"/>
          </p:cNvPicPr>
          <p:nvPr/>
        </p:nvPicPr>
        <p:blipFill>
          <a:blip r:embed="rId3"/>
          <a:srcRect t="5055"/>
          <a:stretch>
            <a:fillRect/>
          </a:stretch>
        </p:blipFill>
        <p:spPr>
          <a:xfrm>
            <a:off x="1199584" y="1657332"/>
            <a:ext cx="9792831" cy="4835543"/>
          </a:xfrm>
          <a:prstGeom prst="rect">
            <a:avLst/>
          </a:prstGeom>
        </p:spPr>
      </p:pic>
    </p:spTree>
    <p:extLst>
      <p:ext uri="{BB962C8B-B14F-4D97-AF65-F5344CB8AC3E}">
        <p14:creationId xmlns:p14="http://schemas.microsoft.com/office/powerpoint/2010/main" val="328613213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32CFBAA-1D31-65A1-EB5A-BF0250A12DAE}"/>
              </a:ext>
            </a:extLst>
          </p:cNvPr>
          <p:cNvSpPr>
            <a:spLocks noGrp="1"/>
          </p:cNvSpPr>
          <p:nvPr>
            <p:ph type="title"/>
          </p:nvPr>
        </p:nvSpPr>
        <p:spPr>
          <a:xfrm>
            <a:off x="800100" y="4167167"/>
            <a:ext cx="4229100" cy="2255461"/>
          </a:xfrm>
        </p:spPr>
        <p:txBody>
          <a:bodyPr anchor="t">
            <a:normAutofit/>
          </a:bodyPr>
          <a:lstStyle/>
          <a:p>
            <a:r>
              <a:rPr lang="en-US" sz="3000"/>
              <a:t>Neuronale Netzwerke - Aktivierungsvisualsierung</a:t>
            </a:r>
            <a:endParaRPr lang="de-DE" sz="3000"/>
          </a:p>
        </p:txBody>
      </p:sp>
      <p:pic>
        <p:nvPicPr>
          <p:cNvPr id="5" name="Grafik 4">
            <a:extLst>
              <a:ext uri="{FF2B5EF4-FFF2-40B4-BE49-F238E27FC236}">
                <a16:creationId xmlns:a16="http://schemas.microsoft.com/office/drawing/2014/main" id="{DF16CB8E-8DF4-1FAC-DFD1-873141DDC622}"/>
              </a:ext>
            </a:extLst>
          </p:cNvPr>
          <p:cNvPicPr>
            <a:picLocks noChangeAspect="1"/>
          </p:cNvPicPr>
          <p:nvPr/>
        </p:nvPicPr>
        <p:blipFill>
          <a:blip r:embed="rId3"/>
          <a:stretch>
            <a:fillRect/>
          </a:stretch>
        </p:blipFill>
        <p:spPr>
          <a:xfrm>
            <a:off x="866422" y="917771"/>
            <a:ext cx="10459156" cy="2301014"/>
          </a:xfrm>
          <a:prstGeom prst="rect">
            <a:avLst/>
          </a:prstGeom>
        </p:spPr>
      </p:pic>
      <p:cxnSp>
        <p:nvCxnSpPr>
          <p:cNvPr id="10" name="Straight Connector 9">
            <a:extLst>
              <a:ext uri="{FF2B5EF4-FFF2-40B4-BE49-F238E27FC236}">
                <a16:creationId xmlns:a16="http://schemas.microsoft.com/office/drawing/2014/main" id="{B7952C56-EE0E-C94A-9A44-E17DD73E84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6300" y="3943277"/>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Inhaltsplatzhalter 2">
            <a:extLst>
              <a:ext uri="{FF2B5EF4-FFF2-40B4-BE49-F238E27FC236}">
                <a16:creationId xmlns:a16="http://schemas.microsoft.com/office/drawing/2014/main" id="{EF22EA8E-DF1C-A53E-DF9D-E84494D7B058}"/>
              </a:ext>
            </a:extLst>
          </p:cNvPr>
          <p:cNvSpPr>
            <a:spLocks noGrp="1"/>
          </p:cNvSpPr>
          <p:nvPr>
            <p:ph idx="1"/>
          </p:nvPr>
        </p:nvSpPr>
        <p:spPr>
          <a:xfrm>
            <a:off x="5987844" y="3854885"/>
            <a:ext cx="5365955" cy="2384552"/>
          </a:xfrm>
        </p:spPr>
        <p:txBody>
          <a:bodyPr>
            <a:normAutofit/>
          </a:bodyPr>
          <a:lstStyle/>
          <a:p>
            <a:pPr marL="0" indent="0">
              <a:buNone/>
            </a:pPr>
            <a:r>
              <a:rPr lang="de-DE" sz="1400"/>
              <a:t>Allgemein: Aktivierungen der Neuronen für ein einzelnes Beispiel </a:t>
            </a:r>
            <a:r>
              <a:rPr lang="de-DE" sz="1400">
                <a:sym typeface="Wingdings" panose="05000000000000000000" pitchFamily="2" charset="2"/>
              </a:rPr>
              <a:t> Nachvollziehen wie stark jedes Neuron auf die Eingabedaten reagiert</a:t>
            </a:r>
            <a:endParaRPr lang="de-DE" sz="1400"/>
          </a:p>
          <a:p>
            <a:pPr marL="0" indent="0">
              <a:buNone/>
            </a:pPr>
            <a:r>
              <a:rPr lang="de-DE" sz="1400"/>
              <a:t>Das Netz besteht hier aus vier Schichten:</a:t>
            </a:r>
          </a:p>
          <a:p>
            <a:pPr marL="628650" lvl="1" indent="-171450"/>
            <a:r>
              <a:rPr lang="de-DE" sz="1400"/>
              <a:t>hidden_layer_1 (64 Neuronen)</a:t>
            </a:r>
          </a:p>
          <a:p>
            <a:pPr marL="628650" lvl="1" indent="-171450"/>
            <a:r>
              <a:rPr lang="de-DE" sz="1400"/>
              <a:t>hidden_layer_2 (32 Neuronen)</a:t>
            </a:r>
          </a:p>
          <a:p>
            <a:pPr marL="628650" lvl="1" indent="-171450"/>
            <a:r>
              <a:rPr lang="de-DE" sz="1400"/>
              <a:t>hidden_layer_3 (16 Neuronen)</a:t>
            </a:r>
          </a:p>
          <a:p>
            <a:pPr marL="628650" lvl="1" indent="-171450"/>
            <a:r>
              <a:rPr lang="de-DE" sz="1400"/>
              <a:t>output_layer (4 Neuronen → 4 Klassen: comp1–comp4)</a:t>
            </a:r>
          </a:p>
        </p:txBody>
      </p:sp>
    </p:spTree>
    <p:extLst>
      <p:ext uri="{BB962C8B-B14F-4D97-AF65-F5344CB8AC3E}">
        <p14:creationId xmlns:p14="http://schemas.microsoft.com/office/powerpoint/2010/main" val="247203513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descr="Ein Bild, das Text, Clipart, Cartoon, Screenshot enthält.&#10;&#10;KI-generierte Inhalte können fehlerhaft sein.">
            <a:extLst>
              <a:ext uri="{FF2B5EF4-FFF2-40B4-BE49-F238E27FC236}">
                <a16:creationId xmlns:a16="http://schemas.microsoft.com/office/drawing/2014/main" id="{2E8A8544-DC98-E2A9-959D-AA8E13B58E86}"/>
              </a:ext>
            </a:extLst>
          </p:cNvPr>
          <p:cNvPicPr>
            <a:picLocks noChangeAspect="1"/>
          </p:cNvPicPr>
          <p:nvPr/>
        </p:nvPicPr>
        <p:blipFill>
          <a:blip r:embed="rId2">
            <a:extLst>
              <a:ext uri="{28A0092B-C50C-407E-A947-70E740481C1C}">
                <a14:useLocalDpi xmlns:a14="http://schemas.microsoft.com/office/drawing/2010/main" val="0"/>
              </a:ext>
            </a:extLst>
          </a:blip>
          <a:srcRect t="7795" b="8028"/>
          <a:stretch>
            <a:fillRect/>
          </a:stretch>
        </p:blipFill>
        <p:spPr>
          <a:xfrm>
            <a:off x="-1" y="0"/>
            <a:ext cx="12220575" cy="6858000"/>
          </a:xfrm>
          <a:prstGeom prst="rect">
            <a:avLst/>
          </a:prstGeom>
        </p:spPr>
      </p:pic>
    </p:spTree>
    <p:extLst>
      <p:ext uri="{BB962C8B-B14F-4D97-AF65-F5344CB8AC3E}">
        <p14:creationId xmlns:p14="http://schemas.microsoft.com/office/powerpoint/2010/main" val="32604899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Freeform: Shape 13">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el 1">
            <a:extLst>
              <a:ext uri="{FF2B5EF4-FFF2-40B4-BE49-F238E27FC236}">
                <a16:creationId xmlns:a16="http://schemas.microsoft.com/office/drawing/2014/main" id="{71A1AAEE-1CF3-3982-0BE0-7EA2ACB6B211}"/>
              </a:ext>
            </a:extLst>
          </p:cNvPr>
          <p:cNvSpPr>
            <a:spLocks noGrp="1"/>
          </p:cNvSpPr>
          <p:nvPr>
            <p:ph type="ctrTitle"/>
          </p:nvPr>
        </p:nvSpPr>
        <p:spPr>
          <a:xfrm>
            <a:off x="1524003" y="1999615"/>
            <a:ext cx="9144000" cy="2764028"/>
          </a:xfrm>
        </p:spPr>
        <p:txBody>
          <a:bodyPr anchor="ctr">
            <a:normAutofit/>
          </a:bodyPr>
          <a:lstStyle/>
          <a:p>
            <a:r>
              <a:rPr lang="de-DE" sz="4500"/>
              <a:t>Welche Maßnahmen sind erforderlich, um weiterhin einen sicheren Betrieb der Anlage zu ermöglichen?</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2732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BA69ED8-FE4C-9FA0-33E5-A7B57B3E8F02}"/>
              </a:ext>
            </a:extLst>
          </p:cNvPr>
          <p:cNvSpPr>
            <a:spLocks noGrp="1"/>
          </p:cNvSpPr>
          <p:nvPr>
            <p:ph type="title"/>
          </p:nvPr>
        </p:nvSpPr>
        <p:spPr>
          <a:xfrm>
            <a:off x="7814935" y="277565"/>
            <a:ext cx="3634277" cy="1616203"/>
          </a:xfrm>
        </p:spPr>
        <p:txBody>
          <a:bodyPr anchor="b">
            <a:normAutofit/>
          </a:bodyPr>
          <a:lstStyle/>
          <a:p>
            <a:r>
              <a:rPr lang="de-DE" sz="4000"/>
              <a:t>Befürchtungen durch KI </a:t>
            </a:r>
          </a:p>
        </p:txBody>
      </p:sp>
      <p:pic>
        <p:nvPicPr>
          <p:cNvPr id="5" name="Picture 4" descr="Zwei Personen, die einander die Hände halten">
            <a:extLst>
              <a:ext uri="{FF2B5EF4-FFF2-40B4-BE49-F238E27FC236}">
                <a16:creationId xmlns:a16="http://schemas.microsoft.com/office/drawing/2014/main" id="{9CDB6DFD-3CF3-411F-9E91-4F365A597D11}"/>
              </a:ext>
            </a:extLst>
          </p:cNvPr>
          <p:cNvPicPr>
            <a:picLocks noChangeAspect="1"/>
          </p:cNvPicPr>
          <p:nvPr/>
        </p:nvPicPr>
        <p:blipFill>
          <a:blip r:embed="rId3"/>
          <a:srcRect l="10981" r="17088" b="-1"/>
          <a:stretch>
            <a:fillRect/>
          </a:stretch>
        </p:blipFill>
        <p:spPr>
          <a:xfrm>
            <a:off x="20" y="10"/>
            <a:ext cx="7390243" cy="6857990"/>
          </a:xfrm>
          <a:prstGeom prst="rect">
            <a:avLst/>
          </a:prstGeom>
        </p:spPr>
      </p:pic>
      <p:sp>
        <p:nvSpPr>
          <p:cNvPr id="3" name="Inhaltsplatzhalter 2">
            <a:extLst>
              <a:ext uri="{FF2B5EF4-FFF2-40B4-BE49-F238E27FC236}">
                <a16:creationId xmlns:a16="http://schemas.microsoft.com/office/drawing/2014/main" id="{40002687-57A4-AC8C-0234-A3E0E433E618}"/>
              </a:ext>
            </a:extLst>
          </p:cNvPr>
          <p:cNvSpPr>
            <a:spLocks noGrp="1"/>
          </p:cNvSpPr>
          <p:nvPr>
            <p:ph idx="1"/>
          </p:nvPr>
        </p:nvSpPr>
        <p:spPr>
          <a:xfrm>
            <a:off x="7947456" y="2157998"/>
            <a:ext cx="3369234" cy="3447832"/>
          </a:xfrm>
        </p:spPr>
        <p:txBody>
          <a:bodyPr anchor="t">
            <a:normAutofit/>
          </a:bodyPr>
          <a:lstStyle/>
          <a:p>
            <a:r>
              <a:rPr lang="de-DE" sz="2000"/>
              <a:t>Sicherheit</a:t>
            </a:r>
          </a:p>
          <a:p>
            <a:r>
              <a:rPr lang="de-DE" sz="2000"/>
              <a:t>Ethische &amp; rechtliche Ansprüche</a:t>
            </a:r>
          </a:p>
          <a:p>
            <a:r>
              <a:rPr lang="de-DE" sz="2000"/>
              <a:t>Gesellschaftliche  &amp; ökonomische Kriterien</a:t>
            </a:r>
          </a:p>
          <a:p>
            <a:pPr marL="0" indent="0">
              <a:buNone/>
            </a:pPr>
            <a:r>
              <a:rPr lang="de-DE" sz="2000">
                <a:sym typeface="Wingdings" panose="05000000000000000000" pitchFamily="2" charset="2"/>
              </a:rPr>
              <a:t> Rahmenbedingungen definieren, um Vertrauen zu schaffen</a:t>
            </a:r>
            <a:endParaRPr lang="de-DE" sz="2000"/>
          </a:p>
          <a:p>
            <a:endParaRPr lang="de-DE" sz="2000"/>
          </a:p>
        </p:txBody>
      </p:sp>
    </p:spTree>
    <p:extLst>
      <p:ext uri="{BB962C8B-B14F-4D97-AF65-F5344CB8AC3E}">
        <p14:creationId xmlns:p14="http://schemas.microsoft.com/office/powerpoint/2010/main" val="35994025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D7BF8C-2C28-6642-C8D8-CFF5891A9163}"/>
              </a:ext>
            </a:extLst>
          </p:cNvPr>
          <p:cNvSpPr>
            <a:spLocks noGrp="1"/>
          </p:cNvSpPr>
          <p:nvPr>
            <p:ph type="title"/>
          </p:nvPr>
        </p:nvSpPr>
        <p:spPr>
          <a:xfrm>
            <a:off x="631776" y="-1687709"/>
            <a:ext cx="7923599" cy="5340097"/>
          </a:xfrm>
        </p:spPr>
        <p:txBody>
          <a:bodyPr anchor="ctr">
            <a:normAutofit/>
          </a:bodyPr>
          <a:lstStyle/>
          <a:p>
            <a:r>
              <a:rPr lang="de-DE">
                <a:solidFill>
                  <a:srgbClr val="000000"/>
                </a:solidFill>
              </a:rPr>
              <a:t>Warum Zertifizierung?</a:t>
            </a:r>
          </a:p>
        </p:txBody>
      </p:sp>
      <p:sp>
        <p:nvSpPr>
          <p:cNvPr id="3" name="Inhaltsplatzhalter 2">
            <a:extLst>
              <a:ext uri="{FF2B5EF4-FFF2-40B4-BE49-F238E27FC236}">
                <a16:creationId xmlns:a16="http://schemas.microsoft.com/office/drawing/2014/main" id="{7AC91F35-49CF-6ECE-B55F-07F45C2C7ABB}"/>
              </a:ext>
            </a:extLst>
          </p:cNvPr>
          <p:cNvSpPr>
            <a:spLocks noGrp="1"/>
          </p:cNvSpPr>
          <p:nvPr>
            <p:ph idx="1"/>
          </p:nvPr>
        </p:nvSpPr>
        <p:spPr>
          <a:xfrm>
            <a:off x="810149" y="984812"/>
            <a:ext cx="4484536" cy="5340097"/>
          </a:xfrm>
        </p:spPr>
        <p:txBody>
          <a:bodyPr anchor="ctr">
            <a:normAutofit/>
          </a:bodyPr>
          <a:lstStyle/>
          <a:p>
            <a:pPr marL="0" indent="0">
              <a:buNone/>
            </a:pPr>
            <a:r>
              <a:rPr lang="de-DE" sz="2000">
                <a:solidFill>
                  <a:srgbClr val="000000"/>
                </a:solidFill>
              </a:rPr>
              <a:t>Pro:</a:t>
            </a:r>
          </a:p>
          <a:p>
            <a:pPr lvl="1"/>
            <a:r>
              <a:rPr lang="de-DE" sz="2000">
                <a:solidFill>
                  <a:srgbClr val="000000"/>
                </a:solidFill>
              </a:rPr>
              <a:t>Orientierungsgrundlage</a:t>
            </a:r>
          </a:p>
          <a:p>
            <a:pPr lvl="1"/>
            <a:r>
              <a:rPr lang="de-DE" sz="2000">
                <a:solidFill>
                  <a:srgbClr val="000000"/>
                </a:solidFill>
              </a:rPr>
              <a:t>Vertrauensbildend</a:t>
            </a:r>
          </a:p>
          <a:p>
            <a:pPr lvl="1"/>
            <a:r>
              <a:rPr lang="de-DE" sz="2000">
                <a:solidFill>
                  <a:srgbClr val="000000"/>
                </a:solidFill>
              </a:rPr>
              <a:t>Vermeidung unerwünschter Konsequenzen</a:t>
            </a:r>
          </a:p>
          <a:p>
            <a:pPr lvl="1"/>
            <a:r>
              <a:rPr lang="de-DE" sz="2000">
                <a:solidFill>
                  <a:srgbClr val="000000"/>
                </a:solidFill>
              </a:rPr>
              <a:t>Fördert fairen Wettbewerb</a:t>
            </a:r>
          </a:p>
          <a:p>
            <a:endParaRPr lang="de-DE" sz="2000">
              <a:solidFill>
                <a:srgbClr val="000000"/>
              </a:solidFill>
            </a:endParaRPr>
          </a:p>
          <a:p>
            <a:pPr marL="0" indent="0">
              <a:buNone/>
            </a:pPr>
            <a:r>
              <a:rPr lang="de-DE" sz="2000">
                <a:solidFill>
                  <a:srgbClr val="000000"/>
                </a:solidFill>
              </a:rPr>
              <a:t>Contra:</a:t>
            </a:r>
          </a:p>
          <a:p>
            <a:pPr lvl="1"/>
            <a:r>
              <a:rPr lang="de-DE" sz="2000">
                <a:solidFill>
                  <a:srgbClr val="000000"/>
                </a:solidFill>
              </a:rPr>
              <a:t>Kann Innovationen / Potenzial einschränken</a:t>
            </a:r>
          </a:p>
        </p:txBody>
      </p:sp>
    </p:spTree>
    <p:extLst>
      <p:ext uri="{BB962C8B-B14F-4D97-AF65-F5344CB8AC3E}">
        <p14:creationId xmlns:p14="http://schemas.microsoft.com/office/powerpoint/2010/main" val="27688446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82A9BE-FEF9-CED1-5566-5812EC386B6B}"/>
              </a:ext>
            </a:extLst>
          </p:cNvPr>
          <p:cNvSpPr>
            <a:spLocks noGrp="1"/>
          </p:cNvSpPr>
          <p:nvPr>
            <p:ph type="title"/>
          </p:nvPr>
        </p:nvSpPr>
        <p:spPr>
          <a:xfrm>
            <a:off x="1188069" y="635935"/>
            <a:ext cx="9356106" cy="1200329"/>
          </a:xfrm>
        </p:spPr>
        <p:txBody>
          <a:bodyPr anchor="t">
            <a:normAutofit/>
          </a:bodyPr>
          <a:lstStyle/>
          <a:p>
            <a:r>
              <a:rPr lang="de-DE" sz="4000"/>
              <a:t>Herausforderungen bei der Zertifizierung</a:t>
            </a:r>
          </a:p>
        </p:txBody>
      </p:sp>
      <p:graphicFrame>
        <p:nvGraphicFramePr>
          <p:cNvPr id="5" name="Inhaltsplatzhalter 2">
            <a:extLst>
              <a:ext uri="{FF2B5EF4-FFF2-40B4-BE49-F238E27FC236}">
                <a16:creationId xmlns:a16="http://schemas.microsoft.com/office/drawing/2014/main" id="{D193221C-13AF-E22A-D3D8-31AD6DD37915}"/>
              </a:ext>
            </a:extLst>
          </p:cNvPr>
          <p:cNvGraphicFramePr>
            <a:graphicFrameLocks noGrp="1"/>
          </p:cNvGraphicFramePr>
          <p:nvPr>
            <p:ph idx="1"/>
          </p:nvPr>
        </p:nvGraphicFramePr>
        <p:xfrm>
          <a:off x="1188062" y="1825625"/>
          <a:ext cx="9356107" cy="4394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80146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FEB4A58-DE5E-8EA0-E71F-E86AA780310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59" r="62589" b="2"/>
          <a:stretch>
            <a:fillRect/>
          </a:stretch>
        </p:blipFill>
        <p:spPr bwMode="auto">
          <a:xfrm>
            <a:off x="4277767" y="1415924"/>
            <a:ext cx="4166151" cy="5185923"/>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a:extLst>
              <a:ext uri="{FF2B5EF4-FFF2-40B4-BE49-F238E27FC236}">
                <a16:creationId xmlns:a16="http://schemas.microsoft.com/office/drawing/2014/main" id="{FAB151E6-E90F-BCBD-C5EA-354FB00084A2}"/>
              </a:ext>
            </a:extLst>
          </p:cNvPr>
          <p:cNvSpPr>
            <a:spLocks noGrp="1"/>
          </p:cNvSpPr>
          <p:nvPr>
            <p:ph type="title"/>
          </p:nvPr>
        </p:nvSpPr>
        <p:spPr>
          <a:xfrm>
            <a:off x="860375" y="-329507"/>
            <a:ext cx="5821537" cy="2353362"/>
          </a:xfrm>
        </p:spPr>
        <p:txBody>
          <a:bodyPr anchor="b">
            <a:normAutofit/>
          </a:bodyPr>
          <a:lstStyle/>
          <a:p>
            <a:r>
              <a:rPr lang="de-DE"/>
              <a:t>Handlungsfelder</a:t>
            </a:r>
            <a:r>
              <a:rPr lang="de-DE">
                <a:solidFill>
                  <a:schemeClr val="bg1"/>
                </a:solidFill>
              </a:rPr>
              <a:t> </a:t>
            </a:r>
            <a:r>
              <a:rPr lang="de-DE" sz="4800">
                <a:solidFill>
                  <a:schemeClr val="bg1"/>
                </a:solidFill>
              </a:rPr>
              <a:t>der Zertifizierung</a:t>
            </a:r>
          </a:p>
        </p:txBody>
      </p:sp>
    </p:spTree>
    <p:extLst>
      <p:ext uri="{BB962C8B-B14F-4D97-AF65-F5344CB8AC3E}">
        <p14:creationId xmlns:p14="http://schemas.microsoft.com/office/powerpoint/2010/main" val="13573176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65893E1-6756-B671-901A-6DA987EECFF9}"/>
              </a:ext>
            </a:extLst>
          </p:cNvPr>
          <p:cNvSpPr>
            <a:spLocks noGrp="1"/>
          </p:cNvSpPr>
          <p:nvPr>
            <p:ph type="title"/>
          </p:nvPr>
        </p:nvSpPr>
        <p:spPr>
          <a:xfrm>
            <a:off x="499253" y="421596"/>
            <a:ext cx="10253909" cy="952697"/>
          </a:xfrm>
        </p:spPr>
        <p:txBody>
          <a:bodyPr anchor="b">
            <a:normAutofit/>
          </a:bodyPr>
          <a:lstStyle/>
          <a:p>
            <a:r>
              <a:rPr lang="de-DE">
                <a:solidFill>
                  <a:srgbClr val="000000"/>
                </a:solidFill>
              </a:rPr>
              <a:t>Was gibt es heute für Möglichkeiten</a:t>
            </a:r>
          </a:p>
        </p:txBody>
      </p:sp>
      <p:sp>
        <p:nvSpPr>
          <p:cNvPr id="3" name="Inhaltsplatzhalter 2">
            <a:extLst>
              <a:ext uri="{FF2B5EF4-FFF2-40B4-BE49-F238E27FC236}">
                <a16:creationId xmlns:a16="http://schemas.microsoft.com/office/drawing/2014/main" id="{E6CDB4EB-AB49-0810-5880-D1B06C738B29}"/>
              </a:ext>
            </a:extLst>
          </p:cNvPr>
          <p:cNvSpPr>
            <a:spLocks noGrp="1"/>
          </p:cNvSpPr>
          <p:nvPr>
            <p:ph idx="1"/>
          </p:nvPr>
        </p:nvSpPr>
        <p:spPr>
          <a:xfrm>
            <a:off x="499252" y="1369158"/>
            <a:ext cx="5692953" cy="2651110"/>
          </a:xfrm>
        </p:spPr>
        <p:txBody>
          <a:bodyPr anchor="ctr">
            <a:normAutofit/>
          </a:bodyPr>
          <a:lstStyle/>
          <a:p>
            <a:r>
              <a:rPr lang="de-DE" sz="2000">
                <a:solidFill>
                  <a:srgbClr val="000000"/>
                </a:solidFill>
              </a:rPr>
              <a:t>ISO 42001-Zertifizierung</a:t>
            </a:r>
          </a:p>
          <a:p>
            <a:r>
              <a:rPr lang="de-DE" sz="2000">
                <a:solidFill>
                  <a:srgbClr val="000000"/>
                </a:solidFill>
              </a:rPr>
              <a:t>EU AI Act</a:t>
            </a:r>
          </a:p>
        </p:txBody>
      </p:sp>
      <p:grpSp>
        <p:nvGrpSpPr>
          <p:cNvPr id="8" name="Group 7">
            <a:extLst>
              <a:ext uri="{FF2B5EF4-FFF2-40B4-BE49-F238E27FC236}">
                <a16:creationId xmlns:a16="http://schemas.microsoft.com/office/drawing/2014/main" id="{82FA45AC-31F7-C5D0-6012-C82F8494A5B8}"/>
              </a:ext>
            </a:extLst>
          </p:cNvPr>
          <p:cNvGrpSpPr/>
          <p:nvPr/>
        </p:nvGrpSpPr>
        <p:grpSpPr>
          <a:xfrm>
            <a:off x="4078912" y="2691415"/>
            <a:ext cx="6914041" cy="2751506"/>
            <a:chOff x="4763608" y="3685328"/>
            <a:chExt cx="6914041" cy="2751506"/>
          </a:xfrm>
        </p:grpSpPr>
        <p:pic>
          <p:nvPicPr>
            <p:cNvPr id="1026" name="Picture 2" descr="There are four risk classes in the EU AI Act: Unacceptable, high, limited and minimal risk. Each level is obliged to different rules.">
              <a:extLst>
                <a:ext uri="{FF2B5EF4-FFF2-40B4-BE49-F238E27FC236}">
                  <a16:creationId xmlns:a16="http://schemas.microsoft.com/office/drawing/2014/main" id="{021D0EBD-DBC5-7AAD-6D7F-C46BDAFA8DE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349" t="8623" r="29261" b="16785"/>
            <a:stretch>
              <a:fillRect/>
            </a:stretch>
          </p:blipFill>
          <p:spPr bwMode="auto">
            <a:xfrm>
              <a:off x="6257549" y="3685328"/>
              <a:ext cx="2792164" cy="2751506"/>
            </a:xfrm>
            <a:prstGeom prst="rect">
              <a:avLst/>
            </a:prstGeom>
            <a:noFill/>
            <a:extLst>
              <a:ext uri="{909E8E84-426E-40DD-AFC4-6F175D3DCCD1}">
                <a14:hiddenFill xmlns:a14="http://schemas.microsoft.com/office/drawing/2010/main">
                  <a:solidFill>
                    <a:srgbClr val="FFFFFF"/>
                  </a:solidFill>
                </a14:hiddenFill>
              </a:ext>
            </a:extLst>
          </p:spPr>
        </p:pic>
        <p:sp>
          <p:nvSpPr>
            <p:cNvPr id="4" name="Textfeld 3">
              <a:extLst>
                <a:ext uri="{FF2B5EF4-FFF2-40B4-BE49-F238E27FC236}">
                  <a16:creationId xmlns:a16="http://schemas.microsoft.com/office/drawing/2014/main" id="{8CAB4243-C801-AE1A-E881-E9A20F9E1C95}"/>
                </a:ext>
              </a:extLst>
            </p:cNvPr>
            <p:cNvSpPr txBox="1"/>
            <p:nvPr/>
          </p:nvSpPr>
          <p:spPr>
            <a:xfrm>
              <a:off x="9210674" y="4096945"/>
              <a:ext cx="2466975" cy="369332"/>
            </a:xfrm>
            <a:prstGeom prst="rect">
              <a:avLst/>
            </a:prstGeom>
            <a:noFill/>
          </p:spPr>
          <p:txBody>
            <a:bodyPr wrap="square" rtlCol="0">
              <a:spAutoFit/>
            </a:bodyPr>
            <a:lstStyle/>
            <a:p>
              <a:r>
                <a:rPr lang="de-DE" err="1">
                  <a:solidFill>
                    <a:srgbClr val="000000"/>
                  </a:solidFill>
                </a:rPr>
                <a:t>Unacceptable</a:t>
              </a:r>
              <a:r>
                <a:rPr lang="de-DE">
                  <a:solidFill>
                    <a:srgbClr val="000000"/>
                  </a:solidFill>
                </a:rPr>
                <a:t> Risk</a:t>
              </a:r>
            </a:p>
          </p:txBody>
        </p:sp>
        <p:sp>
          <p:nvSpPr>
            <p:cNvPr id="5" name="Textfeld 4">
              <a:extLst>
                <a:ext uri="{FF2B5EF4-FFF2-40B4-BE49-F238E27FC236}">
                  <a16:creationId xmlns:a16="http://schemas.microsoft.com/office/drawing/2014/main" id="{2C5141F0-C2FC-0452-CF59-DD1BF58B8F33}"/>
                </a:ext>
              </a:extLst>
            </p:cNvPr>
            <p:cNvSpPr txBox="1"/>
            <p:nvPr/>
          </p:nvSpPr>
          <p:spPr>
            <a:xfrm>
              <a:off x="5106363" y="4575111"/>
              <a:ext cx="2466975" cy="369332"/>
            </a:xfrm>
            <a:prstGeom prst="rect">
              <a:avLst/>
            </a:prstGeom>
            <a:noFill/>
          </p:spPr>
          <p:txBody>
            <a:bodyPr wrap="square" rtlCol="0">
              <a:spAutoFit/>
            </a:bodyPr>
            <a:lstStyle/>
            <a:p>
              <a:r>
                <a:rPr lang="de-DE">
                  <a:solidFill>
                    <a:srgbClr val="000000"/>
                  </a:solidFill>
                </a:rPr>
                <a:t>High Risk</a:t>
              </a:r>
            </a:p>
          </p:txBody>
        </p:sp>
        <p:sp>
          <p:nvSpPr>
            <p:cNvPr id="6" name="Textfeld 5">
              <a:extLst>
                <a:ext uri="{FF2B5EF4-FFF2-40B4-BE49-F238E27FC236}">
                  <a16:creationId xmlns:a16="http://schemas.microsoft.com/office/drawing/2014/main" id="{4F2A81C0-5A3C-2ACA-E6F1-C06F29324E17}"/>
                </a:ext>
              </a:extLst>
            </p:cNvPr>
            <p:cNvSpPr txBox="1"/>
            <p:nvPr/>
          </p:nvSpPr>
          <p:spPr>
            <a:xfrm>
              <a:off x="4763608" y="5505972"/>
              <a:ext cx="2466975" cy="369332"/>
            </a:xfrm>
            <a:prstGeom prst="rect">
              <a:avLst/>
            </a:prstGeom>
            <a:noFill/>
          </p:spPr>
          <p:txBody>
            <a:bodyPr wrap="square" rtlCol="0">
              <a:spAutoFit/>
            </a:bodyPr>
            <a:lstStyle/>
            <a:p>
              <a:r>
                <a:rPr lang="de-DE">
                  <a:solidFill>
                    <a:srgbClr val="000000"/>
                  </a:solidFill>
                </a:rPr>
                <a:t>Minimal Risk</a:t>
              </a:r>
            </a:p>
          </p:txBody>
        </p:sp>
        <p:sp>
          <p:nvSpPr>
            <p:cNvPr id="7" name="Textfeld 6">
              <a:extLst>
                <a:ext uri="{FF2B5EF4-FFF2-40B4-BE49-F238E27FC236}">
                  <a16:creationId xmlns:a16="http://schemas.microsoft.com/office/drawing/2014/main" id="{83630149-1F35-AAC7-E2F1-76A84DBDF6D1}"/>
                </a:ext>
              </a:extLst>
            </p:cNvPr>
            <p:cNvSpPr txBox="1"/>
            <p:nvPr/>
          </p:nvSpPr>
          <p:spPr>
            <a:xfrm>
              <a:off x="9210674" y="4996276"/>
              <a:ext cx="2466975" cy="369332"/>
            </a:xfrm>
            <a:prstGeom prst="rect">
              <a:avLst/>
            </a:prstGeom>
            <a:noFill/>
          </p:spPr>
          <p:txBody>
            <a:bodyPr wrap="square" rtlCol="0">
              <a:spAutoFit/>
            </a:bodyPr>
            <a:lstStyle/>
            <a:p>
              <a:r>
                <a:rPr lang="de-DE">
                  <a:solidFill>
                    <a:srgbClr val="000000"/>
                  </a:solidFill>
                </a:rPr>
                <a:t>Limited Risk</a:t>
              </a:r>
            </a:p>
          </p:txBody>
        </p:sp>
      </p:grpSp>
    </p:spTree>
    <p:extLst>
      <p:ext uri="{BB962C8B-B14F-4D97-AF65-F5344CB8AC3E}">
        <p14:creationId xmlns:p14="http://schemas.microsoft.com/office/powerpoint/2010/main" val="31339639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DDC260-DE99-7C68-532F-9579B10114B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93F47BE-BD1A-B95E-A7A8-457E6E7ED5F9}"/>
              </a:ext>
            </a:extLst>
          </p:cNvPr>
          <p:cNvSpPr>
            <a:spLocks noGrp="1"/>
          </p:cNvSpPr>
          <p:nvPr>
            <p:ph type="ctrTitle"/>
          </p:nvPr>
        </p:nvSpPr>
        <p:spPr>
          <a:xfrm>
            <a:off x="786385" y="841248"/>
            <a:ext cx="5129600" cy="5340097"/>
          </a:xfrm>
        </p:spPr>
        <p:txBody>
          <a:bodyPr vert="horz" lIns="91440" tIns="45720" rIns="91440" bIns="45720" rtlCol="0" anchor="ctr">
            <a:normAutofit/>
          </a:bodyPr>
          <a:lstStyle/>
          <a:p>
            <a:pPr algn="l"/>
            <a:r>
              <a:rPr lang="en-US" sz="4000" kern="1200" err="1">
                <a:solidFill>
                  <a:srgbClr val="000000"/>
                </a:solidFill>
                <a:latin typeface="+mj-lt"/>
                <a:ea typeface="+mj-ea"/>
                <a:cs typeface="+mj-cs"/>
              </a:rPr>
              <a:t>Welche</a:t>
            </a:r>
            <a:r>
              <a:rPr lang="en-US" sz="4000" kern="1200">
                <a:solidFill>
                  <a:srgbClr val="000000"/>
                </a:solidFill>
                <a:latin typeface="+mj-lt"/>
                <a:ea typeface="+mj-ea"/>
                <a:cs typeface="+mj-cs"/>
              </a:rPr>
              <a:t> </a:t>
            </a:r>
            <a:r>
              <a:rPr lang="en-US" sz="4000" kern="1200" err="1">
                <a:solidFill>
                  <a:srgbClr val="000000"/>
                </a:solidFill>
                <a:latin typeface="+mj-lt"/>
                <a:ea typeface="+mj-ea"/>
                <a:cs typeface="+mj-cs"/>
              </a:rPr>
              <a:t>Maßnahmen</a:t>
            </a:r>
            <a:r>
              <a:rPr lang="en-US" sz="4000" kern="1200">
                <a:solidFill>
                  <a:srgbClr val="000000"/>
                </a:solidFill>
                <a:latin typeface="+mj-lt"/>
                <a:ea typeface="+mj-ea"/>
                <a:cs typeface="+mj-cs"/>
              </a:rPr>
              <a:t> </a:t>
            </a:r>
            <a:r>
              <a:rPr lang="en-US" sz="4000" kern="1200" err="1">
                <a:solidFill>
                  <a:srgbClr val="000000"/>
                </a:solidFill>
                <a:latin typeface="+mj-lt"/>
                <a:ea typeface="+mj-ea"/>
                <a:cs typeface="+mj-cs"/>
              </a:rPr>
              <a:t>sind</a:t>
            </a:r>
            <a:r>
              <a:rPr lang="en-US" sz="4000" kern="1200">
                <a:solidFill>
                  <a:srgbClr val="000000"/>
                </a:solidFill>
                <a:latin typeface="+mj-lt"/>
                <a:ea typeface="+mj-ea"/>
                <a:cs typeface="+mj-cs"/>
              </a:rPr>
              <a:t> </a:t>
            </a:r>
            <a:r>
              <a:rPr lang="en-US" sz="4000" kern="1200" err="1">
                <a:solidFill>
                  <a:srgbClr val="000000"/>
                </a:solidFill>
                <a:latin typeface="+mj-lt"/>
                <a:ea typeface="+mj-ea"/>
                <a:cs typeface="+mj-cs"/>
              </a:rPr>
              <a:t>erforderlich</a:t>
            </a:r>
            <a:r>
              <a:rPr lang="en-US" sz="4000" kern="1200">
                <a:solidFill>
                  <a:srgbClr val="000000"/>
                </a:solidFill>
                <a:latin typeface="+mj-lt"/>
                <a:ea typeface="+mj-ea"/>
                <a:cs typeface="+mj-cs"/>
              </a:rPr>
              <a:t>, um </a:t>
            </a:r>
            <a:r>
              <a:rPr lang="en-US" sz="4000" kern="1200" err="1">
                <a:solidFill>
                  <a:srgbClr val="000000"/>
                </a:solidFill>
                <a:latin typeface="+mj-lt"/>
                <a:ea typeface="+mj-ea"/>
                <a:cs typeface="+mj-cs"/>
              </a:rPr>
              <a:t>weiterhin</a:t>
            </a:r>
            <a:r>
              <a:rPr lang="en-US" sz="4000" kern="1200">
                <a:solidFill>
                  <a:srgbClr val="000000"/>
                </a:solidFill>
                <a:latin typeface="+mj-lt"/>
                <a:ea typeface="+mj-ea"/>
                <a:cs typeface="+mj-cs"/>
              </a:rPr>
              <a:t> </a:t>
            </a:r>
            <a:r>
              <a:rPr lang="en-US" sz="4000" kern="1200" err="1">
                <a:solidFill>
                  <a:srgbClr val="000000"/>
                </a:solidFill>
                <a:latin typeface="+mj-lt"/>
                <a:ea typeface="+mj-ea"/>
                <a:cs typeface="+mj-cs"/>
              </a:rPr>
              <a:t>einen</a:t>
            </a:r>
            <a:r>
              <a:rPr lang="en-US" sz="4000" kern="1200">
                <a:solidFill>
                  <a:srgbClr val="000000"/>
                </a:solidFill>
                <a:latin typeface="+mj-lt"/>
                <a:ea typeface="+mj-ea"/>
                <a:cs typeface="+mj-cs"/>
              </a:rPr>
              <a:t> </a:t>
            </a:r>
            <a:r>
              <a:rPr lang="en-US" sz="4000" kern="1200" err="1">
                <a:solidFill>
                  <a:srgbClr val="000000"/>
                </a:solidFill>
                <a:latin typeface="+mj-lt"/>
                <a:ea typeface="+mj-ea"/>
                <a:cs typeface="+mj-cs"/>
              </a:rPr>
              <a:t>sicheren</a:t>
            </a:r>
            <a:r>
              <a:rPr lang="en-US" sz="4000" kern="1200">
                <a:solidFill>
                  <a:srgbClr val="000000"/>
                </a:solidFill>
                <a:latin typeface="+mj-lt"/>
                <a:ea typeface="+mj-ea"/>
                <a:cs typeface="+mj-cs"/>
              </a:rPr>
              <a:t> </a:t>
            </a:r>
            <a:r>
              <a:rPr lang="en-US" sz="4000" kern="1200" err="1">
                <a:solidFill>
                  <a:srgbClr val="000000"/>
                </a:solidFill>
                <a:latin typeface="+mj-lt"/>
                <a:ea typeface="+mj-ea"/>
                <a:cs typeface="+mj-cs"/>
              </a:rPr>
              <a:t>Betrieb</a:t>
            </a:r>
            <a:r>
              <a:rPr lang="en-US" sz="4000" kern="1200">
                <a:solidFill>
                  <a:srgbClr val="000000"/>
                </a:solidFill>
                <a:latin typeface="+mj-lt"/>
                <a:ea typeface="+mj-ea"/>
                <a:cs typeface="+mj-cs"/>
              </a:rPr>
              <a:t> der Anlage </a:t>
            </a:r>
            <a:r>
              <a:rPr lang="en-US" sz="4000" kern="1200" err="1">
                <a:solidFill>
                  <a:srgbClr val="000000"/>
                </a:solidFill>
                <a:latin typeface="+mj-lt"/>
                <a:ea typeface="+mj-ea"/>
                <a:cs typeface="+mj-cs"/>
              </a:rPr>
              <a:t>zu</a:t>
            </a:r>
            <a:r>
              <a:rPr lang="en-US" sz="4000" kern="1200">
                <a:solidFill>
                  <a:srgbClr val="000000"/>
                </a:solidFill>
                <a:latin typeface="+mj-lt"/>
                <a:ea typeface="+mj-ea"/>
                <a:cs typeface="+mj-cs"/>
              </a:rPr>
              <a:t> </a:t>
            </a:r>
            <a:r>
              <a:rPr lang="en-US" sz="4000" kern="1200" err="1">
                <a:solidFill>
                  <a:srgbClr val="000000"/>
                </a:solidFill>
                <a:latin typeface="+mj-lt"/>
                <a:ea typeface="+mj-ea"/>
                <a:cs typeface="+mj-cs"/>
              </a:rPr>
              <a:t>ermöglichen</a:t>
            </a:r>
            <a:r>
              <a:rPr lang="en-US" sz="4000" kern="1200">
                <a:solidFill>
                  <a:srgbClr val="000000"/>
                </a:solidFill>
                <a:latin typeface="+mj-lt"/>
                <a:ea typeface="+mj-ea"/>
                <a:cs typeface="+mj-cs"/>
              </a:rPr>
              <a:t>?</a:t>
            </a:r>
          </a:p>
        </p:txBody>
      </p:sp>
      <p:graphicFrame>
        <p:nvGraphicFramePr>
          <p:cNvPr id="5" name="Textfeld 2">
            <a:extLst>
              <a:ext uri="{FF2B5EF4-FFF2-40B4-BE49-F238E27FC236}">
                <a16:creationId xmlns:a16="http://schemas.microsoft.com/office/drawing/2014/main" id="{9791D538-E834-7875-4E00-1E9DB71CBD56}"/>
              </a:ext>
            </a:extLst>
          </p:cNvPr>
          <p:cNvGraphicFramePr/>
          <p:nvPr/>
        </p:nvGraphicFramePr>
        <p:xfrm>
          <a:off x="6525628" y="529388"/>
          <a:ext cx="4828172" cy="56519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018862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D0905D-F3C1-12D8-DBDF-626EDBCDC278}"/>
              </a:ext>
            </a:extLst>
          </p:cNvPr>
          <p:cNvSpPr>
            <a:spLocks noGrp="1"/>
          </p:cNvSpPr>
          <p:nvPr>
            <p:ph type="title"/>
          </p:nvPr>
        </p:nvSpPr>
        <p:spPr/>
        <p:txBody>
          <a:bodyPr>
            <a:normAutofit/>
          </a:bodyPr>
          <a:lstStyle/>
          <a:p>
            <a:r>
              <a:rPr lang="de-DE" sz="4000"/>
              <a:t>Quellen</a:t>
            </a:r>
          </a:p>
        </p:txBody>
      </p:sp>
      <p:sp>
        <p:nvSpPr>
          <p:cNvPr id="3" name="Inhaltsplatzhalter 2">
            <a:extLst>
              <a:ext uri="{FF2B5EF4-FFF2-40B4-BE49-F238E27FC236}">
                <a16:creationId xmlns:a16="http://schemas.microsoft.com/office/drawing/2014/main" id="{FFD758CA-047F-DE97-B63F-86B873273CCF}"/>
              </a:ext>
            </a:extLst>
          </p:cNvPr>
          <p:cNvSpPr>
            <a:spLocks noGrp="1"/>
          </p:cNvSpPr>
          <p:nvPr>
            <p:ph idx="1"/>
          </p:nvPr>
        </p:nvSpPr>
        <p:spPr/>
        <p:txBody>
          <a:bodyPr/>
          <a:lstStyle/>
          <a:p>
            <a:r>
              <a:rPr lang="de-DE">
                <a:hlinkClick r:id="rId2"/>
              </a:rPr>
              <a:t>https://www.trail-ml.com/blog/eu-ai-act-how-risk-is-classified</a:t>
            </a:r>
            <a:endParaRPr lang="de-DE"/>
          </a:p>
          <a:p>
            <a:r>
              <a:rPr lang="de-DE">
                <a:hlinkClick r:id="rId3"/>
              </a:rPr>
              <a:t>https://www.tuvsud.com/de-de/dienstleistungen/auditierung-und-zertifizierung/cyber-security-zertifizierung/iso-42001</a:t>
            </a:r>
            <a:r>
              <a:rPr lang="de-DE"/>
              <a:t> </a:t>
            </a:r>
          </a:p>
          <a:p>
            <a:r>
              <a:rPr lang="de-DE">
                <a:hlinkClick r:id="rId4"/>
              </a:rPr>
              <a:t>https://www.iais.fraunhofer.de/de/forschung/kuenstliche-intelligenz/ki-zertifizierung.html</a:t>
            </a:r>
            <a:r>
              <a:rPr lang="de-DE"/>
              <a:t> (+Whitepaper)</a:t>
            </a:r>
          </a:p>
          <a:p>
            <a:r>
              <a:rPr lang="de-DE">
                <a:hlinkClick r:id="rId5"/>
              </a:rPr>
              <a:t>AG3_Impulspapier_290420.pdf</a:t>
            </a:r>
            <a:endParaRPr lang="de-DE"/>
          </a:p>
          <a:p>
            <a:r>
              <a:rPr lang="de-DE">
                <a:hlinkClick r:id="rId6"/>
              </a:rPr>
              <a:t>EU verabschiedet erstes KI-Gesetz weltweit | Bundesregierung</a:t>
            </a:r>
            <a:endParaRPr lang="de-DE"/>
          </a:p>
        </p:txBody>
      </p:sp>
    </p:spTree>
    <p:extLst>
      <p:ext uri="{BB962C8B-B14F-4D97-AF65-F5344CB8AC3E}">
        <p14:creationId xmlns:p14="http://schemas.microsoft.com/office/powerpoint/2010/main" val="471814933"/>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3171</Words>
  <Application>Microsoft Office PowerPoint</Application>
  <PresentationFormat>Breitbild</PresentationFormat>
  <Paragraphs>336</Paragraphs>
  <Slides>38</Slides>
  <Notes>21</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38</vt:i4>
      </vt:variant>
    </vt:vector>
  </HeadingPairs>
  <TitlesOfParts>
    <vt:vector size="44" baseType="lpstr">
      <vt:lpstr>Aptos</vt:lpstr>
      <vt:lpstr>Aptos Display</vt:lpstr>
      <vt:lpstr>Arial</vt:lpstr>
      <vt:lpstr>Calibri</vt:lpstr>
      <vt:lpstr>Wingdings</vt:lpstr>
      <vt:lpstr>Office</vt:lpstr>
      <vt:lpstr>PowerPoint-Präsentation</vt:lpstr>
      <vt:lpstr>Inhaltsverzeichnis</vt:lpstr>
      <vt:lpstr>PowerPoint-Präsentation</vt:lpstr>
      <vt:lpstr>Funktionsweise der linearen Regression</vt:lpstr>
      <vt:lpstr>Zusammenhang zwischen Alter und Ausfallhäufigkeit</vt:lpstr>
      <vt:lpstr>Interpretation der Regressionsentscheidung</vt:lpstr>
      <vt:lpstr>Erklärbarkeit und Grenzen der linearen Regression</vt:lpstr>
      <vt:lpstr>Funktionsweise des DBSCAN-Algorithmus</vt:lpstr>
      <vt:lpstr>Funktionsweise des DBSCAN-Algorithmus</vt:lpstr>
      <vt:lpstr>Umsetzung und Entscheidungslogik</vt:lpstr>
      <vt:lpstr>Einflussfaktoren und Entscheidungsgrundlagen</vt:lpstr>
      <vt:lpstr>Transparenz und Erklärbarkeit</vt:lpstr>
      <vt:lpstr>PowerPoint-Präsentation</vt:lpstr>
      <vt:lpstr>Random Forests</vt:lpstr>
      <vt:lpstr>Random Forests – Einfachste Variante</vt:lpstr>
      <vt:lpstr>Random Forests – Visualsierung von Bäumen</vt:lpstr>
      <vt:lpstr>Random Forests – Visualsierung von Bäumen</vt:lpstr>
      <vt:lpstr>Random Forests – Visualsierung von Bäumen</vt:lpstr>
      <vt:lpstr>Random Forests – Visualsierung von Bäumen</vt:lpstr>
      <vt:lpstr>Random Forests – SHAP-Value-Analyse</vt:lpstr>
      <vt:lpstr>Random Forests – SHAP-Value-Analyse</vt:lpstr>
      <vt:lpstr>Random Forests – Partial Dependence Plots</vt:lpstr>
      <vt:lpstr>Random Forests – Partial Dependence Plots</vt:lpstr>
      <vt:lpstr>Neuronale Netzwerke</vt:lpstr>
      <vt:lpstr>Neuronale Netzwerke – Einfachste Variante</vt:lpstr>
      <vt:lpstr>Neuronale Netzwerke – Saliency Maps</vt:lpstr>
      <vt:lpstr>Neuronale Netzwerke – Gewichtsanalyse</vt:lpstr>
      <vt:lpstr>Neuronale Netzwerke – Gewichtsanalyse</vt:lpstr>
      <vt:lpstr>Neuronale Netzwerke - Aktivierungsvisualsierung</vt:lpstr>
      <vt:lpstr>PowerPoint-Präsentation</vt:lpstr>
      <vt:lpstr>Welche Maßnahmen sind erforderlich, um weiterhin einen sicheren Betrieb der Anlage zu ermöglichen?</vt:lpstr>
      <vt:lpstr>Befürchtungen durch KI </vt:lpstr>
      <vt:lpstr>Warum Zertifizierung?</vt:lpstr>
      <vt:lpstr>Herausforderungen bei der Zertifizierung</vt:lpstr>
      <vt:lpstr>Handlungsfelder der Zertifizierung</vt:lpstr>
      <vt:lpstr>Was gibt es heute für Möglichkeiten</vt:lpstr>
      <vt:lpstr>Welche Maßnahmen sind erforderlich, um weiterhin einen sicheren Betrieb der Anlage zu ermöglichen?</vt:lpstr>
      <vt:lpstr>Quellen</vt:lpstr>
    </vt:vector>
  </TitlesOfParts>
  <Company>Beckhoff Automation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Enzo Zacharias</dc:creator>
  <cp:lastModifiedBy>Celina Timmer</cp:lastModifiedBy>
  <cp:revision>9</cp:revision>
  <dcterms:created xsi:type="dcterms:W3CDTF">2025-10-04T15:49:09Z</dcterms:created>
  <dcterms:modified xsi:type="dcterms:W3CDTF">2025-10-20T05:33:52Z</dcterms:modified>
</cp:coreProperties>
</file>